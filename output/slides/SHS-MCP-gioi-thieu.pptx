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27ca68db-2ec4-278e-723e-8c97ac2b69de}">
          <p14:sldIdLst>
            <p14:sldId id="256"/>
            <p14:sldId id="257"/>
          </p14:sldIdLst>
        </p14:section>
        <p14:section name="Bối cảnh" id="{95b282d1-81c9-c0a1-edb1-ce39cb2f47c0}">
          <p14:sldIdLst>
            <p14:sldId id="258"/>
            <p14:sldId id="259"/>
          </p14:sldIdLst>
        </p14:section>
        <p14:section name="MCP là gì" id="{2f05bb47-a3cf-2c6b-0bf2-34b020eefdce}">
          <p14:sldIdLst>
            <p14:sldId id="260"/>
            <p14:sldId id="261"/>
            <p14:sldId id="262"/>
            <p14:sldId id="263"/>
            <p14:sldId id="264"/>
          </p14:sldIdLst>
        </p14:section>
        <p14:section name="Bảo mật" id="{3cf4eb81-ce5a-ff52-099e-b5309b5fca4a}">
          <p14:sldIdLst>
            <p14:sldId id="265"/>
            <p14:sldId id="266"/>
            <p14:sldId id="267"/>
            <p14:sldId id="268"/>
          </p14:sldIdLst>
        </p14:section>
        <p14:section name="Chỉ dẫn cho AI" id="{44525f32-18c7-2fc7-9542-c294145fac43}">
          <p14:sldIdLst>
            <p14:sldId id="269"/>
            <p14:sldId id="270"/>
          </p14:sldIdLst>
        </p14:section>
        <p14:section name="SHOne MCP và SHA MCP" id="{2feb2647-29de-eaa4-72d2-fc6605cf1490}">
          <p14:sldIdLst>
            <p14:sldId id="271"/>
            <p14:sldId id="272"/>
          </p14:sldIdLst>
        </p14:section>
        <p14:section name="Use case" id="{d9ff73eb-65b5-99f7-fc11-899fc4801733}">
          <p14:sldIdLst>
            <p14:sldId id="273"/>
            <p14:sldId id="274"/>
          </p14:sldIdLst>
        </p14:section>
        <p14:section name="Lộ trình" id="{2c5f1014-bcf1-e245-03ac-645c57cf878a}">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hôm nay giới thiệu cách đưa AI vào công việc thật của SHS thông qua MCP, với hai sản phẩm đã chạy: SHOne MCP (dữ liệu thị trường) và SHA MCP (dữ liệu nghiệp vụ, khách hàng). Kết thúc bằng demo trực tiếp và đề xuất thí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ý cần nhớ: vấn đề là AI thiếu dữ liệu nội bộ; giải pháp là MCP, đã có hai MCP chạy thực tế; đề xuất là thí điểm chính thức kèm chính sách và gói AI doanh nghiệp.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Thực tế ở SHS: nhiều người đã dùng AI nhưng tự phát. Vấn đề không nằm ở năng lực AI mà ở chỗ AI không có dữ liệu của SHS. Muốn dùng thì phải copy-paste, vừa tốn thời gian vừa có rủi ro lộ dữ liệu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loại dữ liệu AI đang thiếu: dữ liệu thị trường (SHOne MCP lấp) và dữ liệu nghiệp vụ, khách hàng (SHA MCP lấp). Giá trị lớn nhất đến khi ghép hai nguồn trong cùng một câu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giống cổng USB-C: trước đây mỗi AI muốn đọc một hệ thống phải tích hợp riêng (M x N). Với MCP, mỗi hệ thống làm một MCP server và mọi AI hỗ trợ MCP dùng được (M + N). Các nền tảng AI lớn đều đã hỗ trợ.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thành phần: AI client là nơi người dùng hỏi; MCP server là cửa ngõ có kiểm soát; hệ thống nguồn giữ dữ liệu gốc. Nhấn mạnh: MCP không copy database ra ngoài và không phải công cụ huấn luyện AI; AI chỉ dùng được các tool đã khai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với các cách phổ biến: copy-paste thủ công, tự xây chatbot RAG, hoặc tích hợp API riêng cho từng AI. MCP nổi bật ở ba điểm: dữ liệu mới nhất khi hỏi, phân quyền theo chính người dùng và chỉ xây một lần cho mọi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 qua sáu bước: người dùng hỏi bằng ngôn ngữ tự nhiên, AI chọn tool, SHA MCP kiểm tra quyền, gọi SHA Gateway bằng phiên của chính người dùng, lọc và chuẩn hóa dữ liệu, rồi AI phân tích và trả lời. Một câu hỏi phức tạp có thể gọi nhiều tool liên tiếp.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minh họa: chuyên viên hỏi một câu, AI tự gọi bốn tool từ hai MCP, gồm ba tool SHA MCP và một tool SHOne MCP, rồi tổng hợp thành danh sách ưu tiên. Lưu ý đây là nội dung minh họa; trong demo sẽ hỏi trên dữ liệu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câu hỏi mọi doanh nghiệp đặt ra khi nói tới AI. Sáu rủi ro cụ thể: lộ thông tin đăng nhập, xem vượt quyền, AI tự thao tác giao dịch, lộ PII khách hàng, prompt injection, và không truy vết được. Slide sau trả lời từng rủi 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rủi ro có một lớp kiểm soát tương ứng: đăng nhập và OTP diễn ra trên trang web riêng, không qua AI; token MCP riêng cho từng người; kiểm tra quyền ở mọi lần gọi; chỉ đọc với danh mục API cố định; PII là tùy chọn khi cấp quyền; phiên được mã hóa và có nhật ký.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kết nối: người dùng thêm connector; AI client chuyển hướng sang trang đăng nhập của SHA MCP trên trình duyệt; người dùng nhập ID, mật khẩu, OTP ở đó; SHA MCP xác thực với SHA; người dùng đồng ý quyền đọc; AI nhận token MCP riêng. Vùng tô cam là nơi diễn ra đăng nhập, AI client không thấy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thẳng giới hạn: dữ liệu MCP trả về sẽ được gửi tới mô hình AI để xử lý. Vì vậy cần gói doanh nghiệp (Claude Team/Enterprise, ChatGPT Business/Enterprise) không huấn luyện trên dữ liệu, cùng quy chế nội bộ. Người dùng vẫn chịu trách nhiệm kiểm tra trước khi tư vấn.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dẫn có nhiều tầng. Nền tảng nằm trong MCP: mô tả tool, quy tắc dữ liệu như thiếu không phải bằng 0, tránh khoảng đổi core 22-24/05/2026, cùng từ điển mã trạng thái. Phía AI client, SHS có thể chuẩn hóa bằng chỉ dẫn dự án hoặc Skill: vai trò, quy trình tư vấn, mẫu báo cáo. Kết quả là câu trả lời đúng hơn và nhất quán giữa các chuyên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ví dụ thực tế đã được nhúng sẵn trong SHA MCP: tự tách khoảng thời gian qua giai đoạn đổi core; không suy dữ liệu thiếu thành 0; tra từ điển mã trạng thái thay vì đoán. Đây là những lỗi AI phổ thông rất hay mắc khi đọc dữ liệu tài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hai sản phẩm. SHOne MCP: dữ liệu thị trường, 18 tool, 58 operation, không cần đăng nhập. SHA MCP: dữ liệu nghiệp vụ, khách hàng, 18 tool nghiệp vụ, 39 operation chỉ đọc, đăng nhập bằng tài khoản SHA. AI dùng được cả hai trong cùng một cuộc hội thoại.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 MCP giải bài toán dữ liệu khách hàng phân tán: AI tra cứu thay, gộp lại, trong đúng quyền của chuyên viên. Con số: 39 operation đã gọi live, 18 tool nghiệp vụ, 0 thao tác ghi, đã kết nối Claude và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use case dùng được ngay với dữ liệu đã có. Nhãn dưới mỗi thẻ cho biết use case dùng MCP nào; giá trị cao nhất ở các use case kết hợp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dung một ngày làm việc: các việc lặp lại như tổng hợp thị trường, rà soát ký quỹ, chuẩn bị gặp khách, nhắc xác nhận lệnh, báo cáo cuối ngày đều có thể giao cho trợ lý AI chuẩn bị, chuyên viên tập trung vào tư vấn.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Hiện trạng thật: SHA MCP đã chạy production và đã gọi thử 39 operation trên dữ liệu thật; đã kết nối Claude và ChatGPT. Phần đang hoàn thiện được nêu rõ, đặc biệt là xác minh đơn vị và nghiệm thu thêm trên ChatGPT, SHOne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ba giai đoạn: thí điểm, chuẩn hóa, mở rộng. Bốn quyết định cần phê duyệt hôm nay: thí điểm chính thức, chọn gói AI doanh nghiệp, ban hành chính sách sử dụng AI và dữ liệu khách hàng, và cử đầu mối CNTT, bảo mật đồng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demo trực tiếp: kết nối SHA MCP trên Claude hoặc ChatGPT, hỏi các câu trong use case, sau đó thảo luận và xin phê duyệt.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286000"/>
            <a:ext cx="630936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977640"/>
            <a:ext cx="576072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15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SHS · Ứng dụng AI qua MCP</a:t>
            </a:r>
            <a:endParaRPr lang="en-US" sz="1000" dirty="0"/>
          </a:p>
        </p:txBody>
      </p:sp>
      <p:pic>
        <p:nvPicPr>
          <p:cNvPr id="5" name="Image 0" descr="SHS">    </p:cNvPr>
          <p:cNvPicPr>
            <a:picLocks noChangeAspect="1"/>
          </p:cNvPicPr>
          <p:nvPr/>
        </p:nvPicPr>
        <p:blipFill>
          <a:blip r:embed="rId1"/>
          <a:stretch>
            <a:fillRect/>
          </a:stretch>
        </p:blipFill>
        <p:spPr>
          <a:xfrm>
            <a:off x="11064240" y="6382512"/>
            <a:ext cx="548640" cy="306324"/>
          </a:xfrm>
          <a:prstGeom prst="rect">
            <a:avLst/>
          </a:prstGeom>
        </p:spPr>
      </p:pic>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SPLIT">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algn="l" indent="0" marL="0">
              <a:buNone/>
              <a:defRPr lang="en-US" sz="1200" b="1" spc="15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58368"/>
            <a:ext cx="5394960" cy="11430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4"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SHS · Ứng dụng AI qua MCP</a:t>
            </a:r>
            <a:endParaRPr lang="en-US" sz="10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3.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4.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slideLayout" Target="../slideLayouts/slideLayout3.xml"/><Relationship Id="rId1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õi AI kết nối các luồng dữ liệu thị trườ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admin\AppData\Local\Temp\claude\D--Dev-profileMCP\5a03ee1e-f0a1-44f1-924e-793f8dbaefc0\scratchpad\deck\img\overlay-left.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SHS">    </p:cNvPr>
          <p:cNvPicPr>
            <a:picLocks noChangeAspect="1"/>
          </p:cNvPicPr>
          <p:nvPr/>
        </p:nvPicPr>
        <p:blipFill>
          <a:blip r:embed="rId3"/>
          <a:stretch>
            <a:fillRect/>
          </a:stretch>
        </p:blipFill>
        <p:spPr>
          <a:xfrm>
            <a:off x="640080" y="548640"/>
            <a:ext cx="868680" cy="484632"/>
          </a:xfrm>
          <a:prstGeom prst="rect">
            <a:avLst/>
          </a:prstGeom>
        </p:spPr>
      </p:pic>
      <p:sp>
        <p:nvSpPr>
          <p:cNvPr id="5" name="Text 0"/>
          <p:cNvSpPr txBox="1"/>
          <p:nvPr/>
        </p:nvSpPr>
        <p:spPr>
          <a:xfrm>
            <a:off x="640080" y="1828800"/>
            <a:ext cx="6400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ĐỀ XUẤT ỨNG DỤNG AI · KHỐI TƯ VẤN ĐẦU TƯ</a:t>
            </a:r>
            <a:endParaRPr lang="en-US" sz="1300" dirty="0"/>
          </a:p>
        </p:txBody>
      </p:sp>
      <p:sp>
        <p:nvSpPr>
          <p:cNvPr id="6" name="Text 0"/>
          <p:cNvSpPr/>
          <p:nvPr>
            <p:ph idx="100" type="title" hasCustomPrompt="1"/>
          </p:nvPr>
        </p:nvSpPr>
        <p:spPr>
          <a:xfrm>
            <a:off x="640080" y="2286000"/>
            <a:ext cx="6309360" cy="1600200"/>
          </a:xfrm>
          <a:prstGeom prst="rect">
            <a:avLst/>
          </a:prstGeom>
          <a:noFill/>
          <a:ln/>
        </p:spPr>
        <p:txBody>
          <a:bodyPr wrap="square" lIns="0" tIns="0" rIns="0" bIns="0" rtlCol="0" anchor="t"/>
          <a:lstStyle/>
          <a:p>
            <a:pPr algn="l" indent="0" marL="0">
              <a:buNone/>
            </a:pPr>
            <a:r>
              <a:rPr lang="en-US" sz="4400" b="1" dirty="0">
                <a:solidFill>
                  <a:schemeClr val="bg1"/>
                </a:solidFill>
              </a:rPr>
              <a:t>Đưa AI vào nghiệp vụ với MCP</a:t>
            </a:r>
            <a:endParaRPr lang="en-US" sz="4400" dirty="0"/>
          </a:p>
        </p:txBody>
      </p:sp>
      <p:sp>
        <p:nvSpPr>
          <p:cNvPr id="7" name="Text 0"/>
          <p:cNvSpPr/>
          <p:nvPr>
            <p:ph idx="101" type="body" hasCustomPrompt="1"/>
          </p:nvPr>
        </p:nvSpPr>
        <p:spPr>
          <a:xfrm>
            <a:off x="640080" y="3977640"/>
            <a:ext cx="5760720" cy="914400"/>
          </a:xfrm>
          <a:prstGeom prst="rect">
            <a:avLst/>
          </a:prstGeom>
          <a:noFill/>
          <a:ln/>
        </p:spPr>
        <p:txBody>
          <a:bodyPr wrap="square" lIns="0" tIns="0" rIns="0" bIns="0" rtlCol="0" anchor="t"/>
          <a:lstStyle/>
          <a:p>
            <a:pPr algn="l" indent="0" marL="0">
              <a:buNone/>
            </a:pPr>
            <a:r>
              <a:rPr lang="en-US" sz="2000" dirty="0">
                <a:solidFill>
                  <a:schemeClr val="bg2"/>
                </a:solidFill>
              </a:rPr>
              <a:t>SHOne MCP &amp; SHA MCP: trợ lý AI có dữ liệu thật, đúng quyền, an toàn</a:t>
            </a:r>
            <a:endParaRPr lang="en-US" sz="2000" dirty="0"/>
          </a:p>
        </p:txBody>
      </p:sp>
      <p:sp>
        <p:nvSpPr>
          <p:cNvPr id="8" name="Text 3"/>
          <p:cNvSpPr txBox="1"/>
          <p:nvPr/>
        </p:nvSpPr>
        <p:spPr>
          <a:xfrm>
            <a:off x="640080" y="5989320"/>
            <a:ext cx="3657600" cy="320040"/>
          </a:xfrm>
          <a:prstGeom prst="rect">
            <a:avLst/>
          </a:prstGeom>
          <a:noFill/>
          <a:ln/>
        </p:spPr>
        <p:txBody>
          <a:bodyPr wrap="square" lIns="0" tIns="0" rIns="0" bIns="0" rtlCol="0" anchor="t"/>
          <a:lstStyle/>
          <a:p>
            <a:pPr indent="0" marL="0">
              <a:buNone/>
            </a:pPr>
            <a:r>
              <a:rPr lang="en-US" sz="1200" dirty="0">
                <a:solidFill>
                  <a:schemeClr val="bg2"/>
                </a:solidFill>
              </a:rPr>
              <a:t>Tháng 10/2026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TÓM TẮT</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Ba thông điệp chính</a:t>
            </a:r>
            <a:endParaRPr lang="en-US" sz="3000" dirty="0"/>
          </a:p>
        </p:txBody>
      </p:sp>
      <p:sp>
        <p:nvSpPr>
          <p:cNvPr id="4" name="msg0"/>
          <p:cNvSpPr/>
          <p:nvPr/>
        </p:nvSpPr>
        <p:spPr>
          <a:xfrm>
            <a:off x="548640" y="1691640"/>
            <a:ext cx="3520440" cy="4343400"/>
          </a:xfrm>
          <a:prstGeom prst="roundRect">
            <a:avLst>
              <a:gd name="adj" fmla="val 3117"/>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5" name="Shape 3"/>
          <p:cNvSpPr/>
          <p:nvPr/>
        </p:nvSpPr>
        <p:spPr>
          <a:xfrm>
            <a:off x="868680" y="2011680"/>
            <a:ext cx="640080" cy="64008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1028700" y="2171700"/>
            <a:ext cx="320040" cy="320040"/>
          </a:xfrm>
          <a:prstGeom prst="rect">
            <a:avLst/>
          </a:prstGeom>
        </p:spPr>
      </p:pic>
      <p:sp>
        <p:nvSpPr>
          <p:cNvPr id="7" name="Text 4"/>
          <p:cNvSpPr txBox="1"/>
          <p:nvPr/>
        </p:nvSpPr>
        <p:spPr>
          <a:xfrm>
            <a:off x="868680" y="2880360"/>
            <a:ext cx="288036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VẤN ĐỀ</a:t>
            </a:r>
            <a:endParaRPr lang="en-US" sz="1200" dirty="0"/>
          </a:p>
        </p:txBody>
      </p:sp>
      <p:sp>
        <p:nvSpPr>
          <p:cNvPr id="8" name="Text 5"/>
          <p:cNvSpPr txBox="1"/>
          <p:nvPr/>
        </p:nvSpPr>
        <p:spPr>
          <a:xfrm>
            <a:off x="868680" y="3200400"/>
            <a:ext cx="2880360" cy="914400"/>
          </a:xfrm>
          <a:prstGeom prst="rect">
            <a:avLst/>
          </a:prstGeom>
          <a:noFill/>
          <a:ln/>
        </p:spPr>
        <p:txBody>
          <a:bodyPr wrap="square" lIns="0" tIns="0" rIns="0" bIns="0" rtlCol="0" anchor="t"/>
          <a:lstStyle/>
          <a:p>
            <a:pPr indent="0" marL="0">
              <a:buNone/>
            </a:pPr>
            <a:r>
              <a:rPr lang="en-US" sz="1900" b="1" dirty="0">
                <a:solidFill>
                  <a:schemeClr val="tx2"/>
                </a:solidFill>
              </a:rPr>
              <a:t>AI được dùng nhiều nhưng “đói dữ liệu”</a:t>
            </a:r>
            <a:endParaRPr lang="en-US" sz="1900" dirty="0"/>
          </a:p>
        </p:txBody>
      </p:sp>
      <p:sp>
        <p:nvSpPr>
          <p:cNvPr id="9" name="Text 6"/>
          <p:cNvSpPr txBox="1"/>
          <p:nvPr/>
        </p:nvSpPr>
        <p:spPr>
          <a:xfrm>
            <a:off x="868680" y="4206240"/>
            <a:ext cx="2880360" cy="1645920"/>
          </a:xfrm>
          <a:prstGeom prst="rect">
            <a:avLst/>
          </a:prstGeom>
          <a:noFill/>
          <a:ln/>
        </p:spPr>
        <p:txBody>
          <a:bodyPr wrap="square" lIns="0" tIns="0" rIns="0" bIns="0" rtlCol="0" anchor="t"/>
          <a:lstStyle/>
          <a:p>
            <a:pPr indent="0" marL="0">
              <a:buNone/>
            </a:pPr>
            <a:r>
              <a:rPr lang="en-US" sz="1400" dirty="0">
                <a:solidFill>
                  <a:schemeClr val="tx1"/>
                </a:solidFill>
              </a:rPr>
              <a:t>AI chưa thấy dữ liệu thị trường chuẩn của SHS, càng không thấy khách hàng, danh mục, khoản vay, nên khó dùng vào việc thật.</a:t>
            </a:r>
            <a:endParaRPr lang="en-US" sz="1400" dirty="0"/>
          </a:p>
        </p:txBody>
      </p:sp>
      <p:sp>
        <p:nvSpPr>
          <p:cNvPr id="10" name="msg1"/>
          <p:cNvSpPr/>
          <p:nvPr/>
        </p:nvSpPr>
        <p:spPr>
          <a:xfrm>
            <a:off x="4343400" y="1691640"/>
            <a:ext cx="3520440" cy="4343400"/>
          </a:xfrm>
          <a:prstGeom prst="roundRect">
            <a:avLst>
              <a:gd name="adj" fmla="val 3117"/>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1" name="Shape 8"/>
          <p:cNvSpPr/>
          <p:nvPr/>
        </p:nvSpPr>
        <p:spPr>
          <a:xfrm>
            <a:off x="4663440" y="2011680"/>
            <a:ext cx="640080" cy="64008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823460" y="2171700"/>
            <a:ext cx="320040" cy="320040"/>
          </a:xfrm>
          <a:prstGeom prst="rect">
            <a:avLst/>
          </a:prstGeom>
        </p:spPr>
      </p:pic>
      <p:sp>
        <p:nvSpPr>
          <p:cNvPr id="13" name="Text 9"/>
          <p:cNvSpPr txBox="1"/>
          <p:nvPr/>
        </p:nvSpPr>
        <p:spPr>
          <a:xfrm>
            <a:off x="4663440" y="2880360"/>
            <a:ext cx="288036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GIẢI PHÁP</a:t>
            </a:r>
            <a:endParaRPr lang="en-US" sz="1200" dirty="0"/>
          </a:p>
        </p:txBody>
      </p:sp>
      <p:sp>
        <p:nvSpPr>
          <p:cNvPr id="14" name="Text 10"/>
          <p:cNvSpPr txBox="1"/>
          <p:nvPr/>
        </p:nvSpPr>
        <p:spPr>
          <a:xfrm>
            <a:off x="4663440" y="3200400"/>
            <a:ext cx="2880360" cy="914400"/>
          </a:xfrm>
          <a:prstGeom prst="rect">
            <a:avLst/>
          </a:prstGeom>
          <a:noFill/>
          <a:ln/>
        </p:spPr>
        <p:txBody>
          <a:bodyPr wrap="square" lIns="0" tIns="0" rIns="0" bIns="0" rtlCol="0" anchor="t"/>
          <a:lstStyle/>
          <a:p>
            <a:pPr indent="0" marL="0">
              <a:buNone/>
            </a:pPr>
            <a:r>
              <a:rPr lang="en-US" sz="1900" b="1" dirty="0">
                <a:solidFill>
                  <a:schemeClr val="tx2"/>
                </a:solidFill>
              </a:rPr>
              <a:t>MCP: cổng kết nối chuẩn giữa AI và hệ thống SHS</a:t>
            </a:r>
            <a:endParaRPr lang="en-US" sz="1900" dirty="0"/>
          </a:p>
        </p:txBody>
      </p:sp>
      <p:sp>
        <p:nvSpPr>
          <p:cNvPr id="15" name="Text 11"/>
          <p:cNvSpPr txBox="1"/>
          <p:nvPr/>
        </p:nvSpPr>
        <p:spPr>
          <a:xfrm>
            <a:off x="4663440" y="4206240"/>
            <a:ext cx="2880360" cy="1645920"/>
          </a:xfrm>
          <a:prstGeom prst="rect">
            <a:avLst/>
          </a:prstGeom>
          <a:noFill/>
          <a:ln/>
        </p:spPr>
        <p:txBody>
          <a:bodyPr wrap="square" lIns="0" tIns="0" rIns="0" bIns="0" rtlCol="0" anchor="t"/>
          <a:lstStyle/>
          <a:p>
            <a:pPr indent="0" marL="0">
              <a:buNone/>
            </a:pPr>
            <a:r>
              <a:rPr lang="en-US" sz="1400" dirty="0">
                <a:solidFill>
                  <a:schemeClr val="tx1"/>
                </a:solidFill>
              </a:rPr>
              <a:t>SHOne MCP cấp dữ liệu thị trường. SHA MCP cấp dữ liệu nghiệp vụ, khách hàng theo đúng quyền từng người, chỉ đọc.</a:t>
            </a:r>
            <a:endParaRPr lang="en-US" sz="1400" dirty="0"/>
          </a:p>
        </p:txBody>
      </p:sp>
      <p:sp>
        <p:nvSpPr>
          <p:cNvPr id="16" name="msg2"/>
          <p:cNvSpPr/>
          <p:nvPr/>
        </p:nvSpPr>
        <p:spPr>
          <a:xfrm>
            <a:off x="8138160" y="1691640"/>
            <a:ext cx="3520440" cy="4343400"/>
          </a:xfrm>
          <a:prstGeom prst="roundRect">
            <a:avLst>
              <a:gd name="adj" fmla="val 3117"/>
            </a:avLst>
          </a:prstGeom>
          <a:solidFill>
            <a:schemeClr val="tx2"/>
          </a:solidFill>
          <a:ln/>
          <a:effectLst>
            <a:outerShdw sx="100000" sy="100000" kx="0" ky="0" algn="bl" rotWithShape="0" blurRad="127000" dist="38100" dir="5400000">
              <a:srgbClr val="0A2762">
                <a:alpha val="13000"/>
              </a:srgbClr>
            </a:outerShdw>
          </a:effectLst>
        </p:spPr>
      </p:sp>
      <p:sp>
        <p:nvSpPr>
          <p:cNvPr id="17" name="Shape 13"/>
          <p:cNvSpPr/>
          <p:nvPr/>
        </p:nvSpPr>
        <p:spPr>
          <a:xfrm>
            <a:off x="8458200" y="2011680"/>
            <a:ext cx="640080" cy="64008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8618220" y="2171700"/>
            <a:ext cx="320040" cy="320040"/>
          </a:xfrm>
          <a:prstGeom prst="rect">
            <a:avLst/>
          </a:prstGeom>
        </p:spPr>
      </p:pic>
      <p:sp>
        <p:nvSpPr>
          <p:cNvPr id="19" name="Text 14"/>
          <p:cNvSpPr txBox="1"/>
          <p:nvPr/>
        </p:nvSpPr>
        <p:spPr>
          <a:xfrm>
            <a:off x="8458200" y="2880360"/>
            <a:ext cx="288036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ĐỀ XUẤT</a:t>
            </a:r>
            <a:endParaRPr lang="en-US" sz="1200" dirty="0"/>
          </a:p>
        </p:txBody>
      </p:sp>
      <p:sp>
        <p:nvSpPr>
          <p:cNvPr id="20" name="Text 15"/>
          <p:cNvSpPr txBox="1"/>
          <p:nvPr/>
        </p:nvSpPr>
        <p:spPr>
          <a:xfrm>
            <a:off x="8458200" y="3200400"/>
            <a:ext cx="2880360" cy="914400"/>
          </a:xfrm>
          <a:prstGeom prst="rect">
            <a:avLst/>
          </a:prstGeom>
          <a:noFill/>
          <a:ln/>
        </p:spPr>
        <p:txBody>
          <a:bodyPr wrap="square" lIns="0" tIns="0" rIns="0" bIns="0" rtlCol="0" anchor="t"/>
          <a:lstStyle/>
          <a:p>
            <a:pPr indent="0" marL="0">
              <a:buNone/>
            </a:pPr>
            <a:r>
              <a:rPr lang="en-US" sz="1900" b="1" dirty="0">
                <a:solidFill>
                  <a:schemeClr val="bg1"/>
                </a:solidFill>
              </a:rPr>
              <a:t>Thí điểm chính thức tại khối Tư vấn đầu tư</a:t>
            </a:r>
            <a:endParaRPr lang="en-US" sz="1900" dirty="0"/>
          </a:p>
        </p:txBody>
      </p:sp>
      <p:sp>
        <p:nvSpPr>
          <p:cNvPr id="21" name="Text 16"/>
          <p:cNvSpPr txBox="1"/>
          <p:nvPr/>
        </p:nvSpPr>
        <p:spPr>
          <a:xfrm>
            <a:off x="8458200" y="4206240"/>
            <a:ext cx="2880360" cy="1645920"/>
          </a:xfrm>
          <a:prstGeom prst="rect">
            <a:avLst/>
          </a:prstGeom>
          <a:noFill/>
          <a:ln/>
        </p:spPr>
        <p:txBody>
          <a:bodyPr wrap="square" lIns="0" tIns="0" rIns="0" bIns="0" rtlCol="0" anchor="t"/>
          <a:lstStyle/>
          <a:p>
            <a:pPr indent="0" marL="0">
              <a:buNone/>
            </a:pPr>
            <a:r>
              <a:rPr lang="en-US" sz="1400" dirty="0">
                <a:solidFill>
                  <a:schemeClr val="bg2"/>
                </a:solidFill>
              </a:rPr>
              <a:t>Kèm chính sách sử dụng AI và dữ liệu, gói AI doanh nghiệp và bộ chỉ dẫn chuẩn để nhân rộng an toàn.</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01 · BỐI CẢNH</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AI đã phổ biến, nhưng chưa đi vào luồng nghiệp vụ</a:t>
            </a:r>
            <a:endParaRPr lang="en-US" sz="3000" dirty="0"/>
          </a:p>
        </p:txBody>
      </p:sp>
      <p:pic>
        <p:nvPicPr>
          <p:cNvPr id="4" name="Image 0" descr="Chuyên viên làm việc với nhiều màn hình dữ liệu rời rạc">    </p:cNvPr>
          <p:cNvPicPr>
            <a:picLocks noChangeAspect="1"/>
          </p:cNvPicPr>
          <p:nvPr/>
        </p:nvPicPr>
        <p:blipFill>
          <a:blip r:embed="rId1"/>
          <a:stretch>
            <a:fillRect/>
          </a:stretch>
        </p:blipFill>
        <p:spPr>
          <a:xfrm>
            <a:off x="548640" y="1600200"/>
            <a:ext cx="5120640" cy="4526280"/>
          </a:xfrm>
          <a:prstGeom prst="rect">
            <a:avLst/>
          </a:prstGeom>
        </p:spPr>
      </p:pic>
      <p:sp>
        <p:nvSpPr>
          <p:cNvPr id="5" name="Shape 2"/>
          <p:cNvSpPr/>
          <p:nvPr/>
        </p:nvSpPr>
        <p:spPr>
          <a:xfrm>
            <a:off x="6080760" y="1691640"/>
            <a:ext cx="566928" cy="566928"/>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6222492" y="1833372"/>
            <a:ext cx="283464" cy="283464"/>
          </a:xfrm>
          <a:prstGeom prst="rect">
            <a:avLst/>
          </a:prstGeom>
        </p:spPr>
      </p:pic>
      <p:sp>
        <p:nvSpPr>
          <p:cNvPr id="7" name="Text 3"/>
          <p:cNvSpPr txBox="1"/>
          <p:nvPr/>
        </p:nvSpPr>
        <p:spPr>
          <a:xfrm>
            <a:off x="6858000" y="1709928"/>
            <a:ext cx="4800600" cy="365760"/>
          </a:xfrm>
          <a:prstGeom prst="rect">
            <a:avLst/>
          </a:prstGeom>
          <a:noFill/>
          <a:ln/>
        </p:spPr>
        <p:txBody>
          <a:bodyPr wrap="square" lIns="0" tIns="0" rIns="0" bIns="0" rtlCol="0" anchor="t"/>
          <a:lstStyle/>
          <a:p>
            <a:pPr indent="0" marL="0">
              <a:buNone/>
            </a:pPr>
            <a:r>
              <a:rPr lang="en-US" sz="1800" b="1" dirty="0">
                <a:solidFill>
                  <a:schemeClr val="tx2"/>
                </a:solidFill>
              </a:rPr>
              <a:t>Dùng tự phát, rời rạc</a:t>
            </a:r>
            <a:endParaRPr lang="en-US" sz="1800" dirty="0"/>
          </a:p>
        </p:txBody>
      </p:sp>
      <p:sp>
        <p:nvSpPr>
          <p:cNvPr id="8" name="Text 4"/>
          <p:cNvSpPr txBox="1"/>
          <p:nvPr/>
        </p:nvSpPr>
        <p:spPr>
          <a:xfrm>
            <a:off x="6858000" y="2130552"/>
            <a:ext cx="4800600" cy="868680"/>
          </a:xfrm>
          <a:prstGeom prst="rect">
            <a:avLst/>
          </a:prstGeom>
          <a:noFill/>
          <a:ln/>
        </p:spPr>
        <p:txBody>
          <a:bodyPr wrap="square" lIns="0" tIns="0" rIns="0" bIns="0" rtlCol="0" anchor="t"/>
          <a:lstStyle/>
          <a:p>
            <a:pPr indent="0" marL="0">
              <a:buNone/>
            </a:pPr>
            <a:r>
              <a:rPr lang="en-US" sz="1400" dirty="0">
                <a:solidFill>
                  <a:schemeClr val="tx1"/>
                </a:solidFill>
              </a:rPr>
              <a:t>Mỗi người một công cụ (ChatGPT, Claude, Gemini…), một cách hỏi; chưa có quy trình hay chuẩn chung.</a:t>
            </a:r>
            <a:endParaRPr lang="en-US" sz="1400" dirty="0"/>
          </a:p>
        </p:txBody>
      </p:sp>
      <p:sp>
        <p:nvSpPr>
          <p:cNvPr id="9" name="Shape 5"/>
          <p:cNvSpPr/>
          <p:nvPr/>
        </p:nvSpPr>
        <p:spPr>
          <a:xfrm>
            <a:off x="6080760" y="3172968"/>
            <a:ext cx="566928" cy="566928"/>
          </a:xfrm>
          <a:prstGeom prst="ellipse">
            <a:avLst/>
          </a:prstGeom>
          <a:solidFill>
            <a:schemeClr val="accent1"/>
          </a:solidFill>
          <a:ln/>
        </p:spPr>
      </p:sp>
      <p:pic>
        <p:nvPicPr>
          <p:cNvPr id="10" name="Image 2" descr="preencoded.png">    </p:cNvPr>
          <p:cNvPicPr>
            <a:picLocks noChangeAspect="1"/>
          </p:cNvPicPr>
          <p:nvPr/>
        </p:nvPicPr>
        <p:blipFill>
          <a:blip r:embed="rId3"/>
          <a:stretch>
            <a:fillRect/>
          </a:stretch>
        </p:blipFill>
        <p:spPr>
          <a:xfrm>
            <a:off x="6222492" y="3314700"/>
            <a:ext cx="283464" cy="283464"/>
          </a:xfrm>
          <a:prstGeom prst="rect">
            <a:avLst/>
          </a:prstGeom>
        </p:spPr>
      </p:pic>
      <p:sp>
        <p:nvSpPr>
          <p:cNvPr id="11" name="Text 6"/>
          <p:cNvSpPr txBox="1"/>
          <p:nvPr/>
        </p:nvSpPr>
        <p:spPr>
          <a:xfrm>
            <a:off x="6858000" y="3191256"/>
            <a:ext cx="4800600" cy="365760"/>
          </a:xfrm>
          <a:prstGeom prst="rect">
            <a:avLst/>
          </a:prstGeom>
          <a:noFill/>
          <a:ln/>
        </p:spPr>
        <p:txBody>
          <a:bodyPr wrap="square" lIns="0" tIns="0" rIns="0" bIns="0" rtlCol="0" anchor="t"/>
          <a:lstStyle/>
          <a:p>
            <a:pPr indent="0" marL="0">
              <a:buNone/>
            </a:pPr>
            <a:r>
              <a:rPr lang="en-US" sz="1800" b="1" dirty="0">
                <a:solidFill>
                  <a:schemeClr val="tx2"/>
                </a:solidFill>
              </a:rPr>
              <a:t>AI không thấy dữ liệu của SHS</a:t>
            </a:r>
            <a:endParaRPr lang="en-US" sz="1800" dirty="0"/>
          </a:p>
        </p:txBody>
      </p:sp>
      <p:sp>
        <p:nvSpPr>
          <p:cNvPr id="12" name="Text 7"/>
          <p:cNvSpPr txBox="1"/>
          <p:nvPr/>
        </p:nvSpPr>
        <p:spPr>
          <a:xfrm>
            <a:off x="6858000" y="3611880"/>
            <a:ext cx="4800600" cy="868680"/>
          </a:xfrm>
          <a:prstGeom prst="rect">
            <a:avLst/>
          </a:prstGeom>
          <a:noFill/>
          <a:ln/>
        </p:spPr>
        <p:txBody>
          <a:bodyPr wrap="square" lIns="0" tIns="0" rIns="0" bIns="0" rtlCol="0" anchor="t"/>
          <a:lstStyle/>
          <a:p>
            <a:pPr indent="0" marL="0">
              <a:buNone/>
            </a:pPr>
            <a:r>
              <a:rPr lang="en-US" sz="1400" dirty="0">
                <a:solidFill>
                  <a:schemeClr val="tx1"/>
                </a:solidFill>
              </a:rPr>
              <a:t>Không có giá, BCTC chuẩn; không có khách hàng, danh mục, ký quỹ. Câu trả lời chung chung, dễ “bịa”.</a:t>
            </a:r>
            <a:endParaRPr lang="en-US" sz="1400" dirty="0"/>
          </a:p>
        </p:txBody>
      </p:sp>
      <p:sp>
        <p:nvSpPr>
          <p:cNvPr id="13" name="Shape 8"/>
          <p:cNvSpPr/>
          <p:nvPr/>
        </p:nvSpPr>
        <p:spPr>
          <a:xfrm>
            <a:off x="6080760" y="4654296"/>
            <a:ext cx="566928" cy="566928"/>
          </a:xfrm>
          <a:prstGeom prst="ellipse">
            <a:avLst/>
          </a:prstGeom>
          <a:solidFill>
            <a:schemeClr val="accent1"/>
          </a:solidFill>
          <a:ln/>
        </p:spPr>
      </p:sp>
      <p:pic>
        <p:nvPicPr>
          <p:cNvPr id="14" name="Image 3" descr="preencoded.png">    </p:cNvPr>
          <p:cNvPicPr>
            <a:picLocks noChangeAspect="1"/>
          </p:cNvPicPr>
          <p:nvPr/>
        </p:nvPicPr>
        <p:blipFill>
          <a:blip r:embed="rId4"/>
          <a:stretch>
            <a:fillRect/>
          </a:stretch>
        </p:blipFill>
        <p:spPr>
          <a:xfrm>
            <a:off x="6222492" y="4796028"/>
            <a:ext cx="283464" cy="283464"/>
          </a:xfrm>
          <a:prstGeom prst="rect">
            <a:avLst/>
          </a:prstGeom>
        </p:spPr>
      </p:pic>
      <p:sp>
        <p:nvSpPr>
          <p:cNvPr id="15" name="Text 9"/>
          <p:cNvSpPr txBox="1"/>
          <p:nvPr/>
        </p:nvSpPr>
        <p:spPr>
          <a:xfrm>
            <a:off x="6858000" y="4672584"/>
            <a:ext cx="4800600" cy="365760"/>
          </a:xfrm>
          <a:prstGeom prst="rect">
            <a:avLst/>
          </a:prstGeom>
          <a:noFill/>
          <a:ln/>
        </p:spPr>
        <p:txBody>
          <a:bodyPr wrap="square" lIns="0" tIns="0" rIns="0" bIns="0" rtlCol="0" anchor="t"/>
          <a:lstStyle/>
          <a:p>
            <a:pPr indent="0" marL="0">
              <a:buNone/>
            </a:pPr>
            <a:r>
              <a:rPr lang="en-US" sz="1800" b="1" dirty="0">
                <a:solidFill>
                  <a:schemeClr val="tx2"/>
                </a:solidFill>
              </a:rPr>
              <a:t>Thủ công và rủi ro</a:t>
            </a:r>
            <a:endParaRPr lang="en-US" sz="1800" dirty="0"/>
          </a:p>
        </p:txBody>
      </p:sp>
      <p:sp>
        <p:nvSpPr>
          <p:cNvPr id="16" name="Text 10"/>
          <p:cNvSpPr txBox="1"/>
          <p:nvPr/>
        </p:nvSpPr>
        <p:spPr>
          <a:xfrm>
            <a:off x="6858000" y="5093208"/>
            <a:ext cx="4800600" cy="868680"/>
          </a:xfrm>
          <a:prstGeom prst="rect">
            <a:avLst/>
          </a:prstGeom>
          <a:noFill/>
          <a:ln/>
        </p:spPr>
        <p:txBody>
          <a:bodyPr wrap="square" lIns="0" tIns="0" rIns="0" bIns="0" rtlCol="0" anchor="t"/>
          <a:lstStyle/>
          <a:p>
            <a:pPr indent="0" marL="0">
              <a:buNone/>
            </a:pPr>
            <a:r>
              <a:rPr lang="en-US" sz="1400" dirty="0">
                <a:solidFill>
                  <a:schemeClr val="tx1"/>
                </a:solidFill>
              </a:rPr>
              <a:t>Copy‑paste số liệu, tải file Excel lên AI: tốn thời gian và khó kiểm soát dữ liệu khách hàng.</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01 · BỐI CẢNH</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AI giỏi suy luận, nhưng chỉ tốt bằng dữ liệu nó thấy</a:t>
            </a:r>
            <a:endParaRPr lang="en-US" sz="3000" dirty="0"/>
          </a:p>
        </p:txBody>
      </p:sp>
      <p:sp>
        <p:nvSpPr>
          <p:cNvPr id="4" name="Shape 2"/>
          <p:cNvSpPr/>
          <p:nvPr/>
        </p:nvSpPr>
        <p:spPr>
          <a:xfrm>
            <a:off x="548640" y="1645920"/>
            <a:ext cx="4206240" cy="3246120"/>
          </a:xfrm>
          <a:prstGeom prst="roundRect">
            <a:avLst>
              <a:gd name="adj" fmla="val 3380"/>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5" name="Shape 3"/>
          <p:cNvSpPr/>
          <p:nvPr/>
        </p:nvSpPr>
        <p:spPr>
          <a:xfrm>
            <a:off x="822960" y="1920240"/>
            <a:ext cx="548640" cy="548640"/>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60120" y="2057400"/>
            <a:ext cx="274320" cy="274320"/>
          </a:xfrm>
          <a:prstGeom prst="rect">
            <a:avLst/>
          </a:prstGeom>
        </p:spPr>
      </p:pic>
      <p:sp>
        <p:nvSpPr>
          <p:cNvPr id="7" name="Text 4"/>
          <p:cNvSpPr txBox="1"/>
          <p:nvPr/>
        </p:nvSpPr>
        <p:spPr>
          <a:xfrm>
            <a:off x="1508760" y="1920240"/>
            <a:ext cx="3063240" cy="594360"/>
          </a:xfrm>
          <a:prstGeom prst="rect">
            <a:avLst/>
          </a:prstGeom>
          <a:noFill/>
          <a:ln/>
        </p:spPr>
        <p:txBody>
          <a:bodyPr wrap="square" lIns="0" tIns="0" rIns="0" bIns="0" rtlCol="0" anchor="ctr"/>
          <a:lstStyle/>
          <a:p>
            <a:pPr indent="0" marL="0">
              <a:buNone/>
            </a:pPr>
            <a:r>
              <a:rPr lang="en-US" sz="1700" b="1" dirty="0">
                <a:solidFill>
                  <a:schemeClr val="tx2"/>
                </a:solidFill>
              </a:rPr>
              <a:t>Dữ liệu thị trường</a:t>
            </a:r>
            <a:endParaRPr lang="en-US" sz="1700" dirty="0"/>
          </a:p>
        </p:txBody>
      </p:sp>
      <p:sp>
        <p:nvSpPr>
          <p:cNvPr id="8" name="Text 5"/>
          <p:cNvSpPr txBox="1"/>
          <p:nvPr/>
        </p:nvSpPr>
        <p:spPr>
          <a:xfrm>
            <a:off x="822960" y="2697480"/>
            <a:ext cx="36576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Giá, thanh khoản, dòng tiền</a:t>
            </a:r>
            <a:endParaRPr lang="en-US" sz="1400" dirty="0"/>
          </a:p>
          <a:p>
            <a:pPr marL="342900" indent="-342900">
              <a:spcAft>
                <a:spcPts val="600"/>
              </a:spcAft>
              <a:buSzPct val="100000"/>
              <a:buChar char="•"/>
            </a:pPr>
            <a:r>
              <a:rPr lang="en-US" sz="1400" dirty="0">
                <a:solidFill>
                  <a:schemeClr val="tx1"/>
                </a:solidFill>
              </a:rPr>
              <a:t>BCTC, chỉ số kỹ thuật</a:t>
            </a:r>
            <a:endParaRPr lang="en-US" sz="1400" dirty="0"/>
          </a:p>
          <a:p>
            <a:pPr marL="342900" indent="-342900">
              <a:spcAft>
                <a:spcPts val="600"/>
              </a:spcAft>
              <a:buSzPct val="100000"/>
              <a:buChar char="•"/>
            </a:pPr>
            <a:r>
              <a:rPr lang="en-US" sz="1400" dirty="0">
                <a:solidFill>
                  <a:schemeClr val="tx1"/>
                </a:solidFill>
              </a:rPr>
              <a:t>Tin tức, sự kiện, vĩ mô</a:t>
            </a:r>
            <a:endParaRPr lang="en-US" sz="1400" dirty="0"/>
          </a:p>
        </p:txBody>
      </p:sp>
      <p:sp>
        <p:nvSpPr>
          <p:cNvPr id="9" name="Text 6"/>
          <p:cNvSpPr txBox="1"/>
          <p:nvPr/>
        </p:nvSpPr>
        <p:spPr>
          <a:xfrm>
            <a:off x="822960" y="4343400"/>
            <a:ext cx="2103120" cy="274320"/>
          </a:xfrm>
          <a:prstGeom prst="roundRect">
            <a:avLst>
              <a:gd name="adj" fmla="val 26667"/>
            </a:avLst>
          </a:prstGeom>
          <a:solidFill>
            <a:schemeClr val="accent2"/>
          </a:solidFill>
          <a:ln/>
        </p:spPr>
        <p:txBody>
          <a:bodyPr wrap="square" lIns="0" tIns="0" rIns="0" bIns="0" rtlCol="0" anchor="ctr"/>
          <a:lstStyle/>
          <a:p>
            <a:pPr algn="ctr" indent="0" marL="0">
              <a:buNone/>
            </a:pPr>
            <a:r>
              <a:rPr lang="en-US" sz="1100" b="1" dirty="0">
                <a:solidFill>
                  <a:schemeClr val="bg1"/>
                </a:solidFill>
              </a:rPr>
              <a:t>Cung cấp bởi SHOne MCP</a:t>
            </a:r>
            <a:endParaRPr lang="en-US" sz="1100" dirty="0"/>
          </a:p>
        </p:txBody>
      </p:sp>
      <p:sp>
        <p:nvSpPr>
          <p:cNvPr id="10" name="Shape 7"/>
          <p:cNvSpPr/>
          <p:nvPr/>
        </p:nvSpPr>
        <p:spPr>
          <a:xfrm>
            <a:off x="7452360" y="1645920"/>
            <a:ext cx="4206240" cy="3246120"/>
          </a:xfrm>
          <a:prstGeom prst="roundRect">
            <a:avLst>
              <a:gd name="adj" fmla="val 3380"/>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1" name="Shape 8"/>
          <p:cNvSpPr/>
          <p:nvPr/>
        </p:nvSpPr>
        <p:spPr>
          <a:xfrm>
            <a:off x="7726680" y="1920240"/>
            <a:ext cx="548640" cy="54864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7863840" y="2057400"/>
            <a:ext cx="274320" cy="274320"/>
          </a:xfrm>
          <a:prstGeom prst="rect">
            <a:avLst/>
          </a:prstGeom>
        </p:spPr>
      </p:pic>
      <p:sp>
        <p:nvSpPr>
          <p:cNvPr id="13" name="Text 9"/>
          <p:cNvSpPr txBox="1"/>
          <p:nvPr/>
        </p:nvSpPr>
        <p:spPr>
          <a:xfrm>
            <a:off x="8412480" y="1920240"/>
            <a:ext cx="3063240" cy="594360"/>
          </a:xfrm>
          <a:prstGeom prst="rect">
            <a:avLst/>
          </a:prstGeom>
          <a:noFill/>
          <a:ln/>
        </p:spPr>
        <p:txBody>
          <a:bodyPr wrap="square" lIns="0" tIns="0" rIns="0" bIns="0" rtlCol="0" anchor="ctr"/>
          <a:lstStyle/>
          <a:p>
            <a:pPr indent="0" marL="0">
              <a:buNone/>
            </a:pPr>
            <a:r>
              <a:rPr lang="en-US" sz="1700" b="1" dirty="0">
                <a:solidFill>
                  <a:schemeClr val="tx2"/>
                </a:solidFill>
              </a:rPr>
              <a:t>Dữ liệu nghiệp vụ &amp; khách hàng</a:t>
            </a:r>
            <a:endParaRPr lang="en-US" sz="1700" dirty="0"/>
          </a:p>
        </p:txBody>
      </p:sp>
      <p:sp>
        <p:nvSpPr>
          <p:cNvPr id="14" name="Text 10"/>
          <p:cNvSpPr txBox="1"/>
          <p:nvPr/>
        </p:nvSpPr>
        <p:spPr>
          <a:xfrm>
            <a:off x="7726680" y="2697480"/>
            <a:ext cx="365760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Khách hàng, hồ sơ, danh mục</a:t>
            </a:r>
            <a:endParaRPr lang="en-US" sz="1400" dirty="0"/>
          </a:p>
          <a:p>
            <a:pPr marL="342900" indent="-342900">
              <a:spcAft>
                <a:spcPts val="600"/>
              </a:spcAft>
              <a:buSzPct val="100000"/>
              <a:buChar char="•"/>
            </a:pPr>
            <a:r>
              <a:rPr lang="en-US" sz="1400" dirty="0">
                <a:solidFill>
                  <a:schemeClr val="tx1"/>
                </a:solidFill>
              </a:rPr>
              <a:t>Ký quỹ, khoản vay, lệnh, dòng tiền</a:t>
            </a:r>
            <a:endParaRPr lang="en-US" sz="1400" dirty="0"/>
          </a:p>
          <a:p>
            <a:pPr marL="342900" indent="-342900">
              <a:spcAft>
                <a:spcPts val="600"/>
              </a:spcAft>
              <a:buSzPct val="100000"/>
              <a:buChar char="•"/>
            </a:pPr>
            <a:r>
              <a:rPr lang="en-US" sz="1400" dirty="0">
                <a:solidFill>
                  <a:schemeClr val="tx1"/>
                </a:solidFill>
              </a:rPr>
              <a:t>Tri thức nội bộ KMS, khuyến nghị</a:t>
            </a:r>
            <a:endParaRPr lang="en-US" sz="1400" dirty="0"/>
          </a:p>
        </p:txBody>
      </p:sp>
      <p:sp>
        <p:nvSpPr>
          <p:cNvPr id="15" name="Text 11"/>
          <p:cNvSpPr txBox="1"/>
          <p:nvPr/>
        </p:nvSpPr>
        <p:spPr>
          <a:xfrm>
            <a:off x="7726680" y="4343400"/>
            <a:ext cx="210312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Cung cấp bởi SHA MCP</a:t>
            </a:r>
            <a:endParaRPr lang="en-US" sz="1100" dirty="0"/>
          </a:p>
        </p:txBody>
      </p:sp>
      <p:sp>
        <p:nvSpPr>
          <p:cNvPr id="16" name="aiCore"/>
          <p:cNvSpPr/>
          <p:nvPr/>
        </p:nvSpPr>
        <p:spPr>
          <a:xfrm>
            <a:off x="5321808" y="2450592"/>
            <a:ext cx="1554480" cy="1554480"/>
          </a:xfrm>
          <a:prstGeom prst="ellipse">
            <a:avLst/>
          </a:prstGeom>
          <a:solidFill>
            <a:schemeClr val="tx2"/>
          </a:solidFill>
          <a:ln w="38100">
            <a:solidFill>
              <a:schemeClr val="accent1"/>
            </a:solidFill>
            <a:prstDash val="solid"/>
          </a:ln>
        </p:spPr>
      </p:sp>
      <p:sp>
        <p:nvSpPr>
          <p:cNvPr id="17" name="Text 13"/>
          <p:cNvSpPr txBox="1"/>
          <p:nvPr/>
        </p:nvSpPr>
        <p:spPr>
          <a:xfrm>
            <a:off x="5321808" y="2450592"/>
            <a:ext cx="1554480" cy="1554480"/>
          </a:xfrm>
          <a:prstGeom prst="rect">
            <a:avLst/>
          </a:prstGeom>
          <a:noFill/>
          <a:ln/>
        </p:spPr>
        <p:txBody>
          <a:bodyPr wrap="square" lIns="0" tIns="0" rIns="0" bIns="0" rtlCol="0" anchor="ctr"/>
          <a:lstStyle/>
          <a:p>
            <a:pPr algn="ctr" indent="0" marL="0">
              <a:buNone/>
            </a:pPr>
            <a:r>
              <a:rPr lang="en-US" sz="3600" b="1" dirty="0">
                <a:solidFill>
                  <a:schemeClr val="bg1"/>
                </a:solidFill>
              </a:rPr>
              <a:t>AI</a:t>
            </a:r>
            <a:endParaRPr lang="en-US" sz="3600" dirty="0"/>
          </a:p>
        </p:txBody>
      </p:sp>
      <p:sp>
        <p:nvSpPr>
          <p:cNvPr id="18" name="Shape 14"/>
          <p:cNvSpPr/>
          <p:nvPr/>
        </p:nvSpPr>
        <p:spPr>
          <a:xfrm>
            <a:off x="4800600" y="3227832"/>
            <a:ext cx="484632" cy="0"/>
          </a:xfrm>
          <a:prstGeom prst="line">
            <a:avLst/>
          </a:prstGeom>
          <a:noFill/>
          <a:ln w="31750">
            <a:solidFill>
              <a:schemeClr val="accent2"/>
            </a:solidFill>
            <a:prstDash val="solid"/>
            <a:tailEnd type="triangle"/>
          </a:ln>
        </p:spPr>
      </p:sp>
      <p:sp>
        <p:nvSpPr>
          <p:cNvPr id="19" name="Shape 15"/>
          <p:cNvSpPr/>
          <p:nvPr/>
        </p:nvSpPr>
        <p:spPr>
          <a:xfrm flipH="1">
            <a:off x="6912864" y="3227832"/>
            <a:ext cx="493776" cy="0"/>
          </a:xfrm>
          <a:prstGeom prst="line">
            <a:avLst/>
          </a:prstGeom>
          <a:noFill/>
          <a:ln w="31750">
            <a:solidFill>
              <a:schemeClr val="accent1"/>
            </a:solidFill>
            <a:prstDash val="solid"/>
            <a:tailEnd type="triangle"/>
          </a:ln>
        </p:spPr>
      </p:sp>
      <p:sp>
        <p:nvSpPr>
          <p:cNvPr id="20" name="Shape 16"/>
          <p:cNvSpPr/>
          <p:nvPr/>
        </p:nvSpPr>
        <p:spPr>
          <a:xfrm>
            <a:off x="548640" y="5166360"/>
            <a:ext cx="11109960" cy="914400"/>
          </a:xfrm>
          <a:prstGeom prst="roundRect">
            <a:avLst>
              <a:gd name="adj" fmla="val 12000"/>
            </a:avLst>
          </a:prstGeom>
          <a:solidFill>
            <a:schemeClr val="bg2"/>
          </a:solidFill>
          <a:ln/>
        </p:spPr>
      </p:sp>
      <p:sp>
        <p:nvSpPr>
          <p:cNvPr id="21" name="Shape 17"/>
          <p:cNvSpPr/>
          <p:nvPr/>
        </p:nvSpPr>
        <p:spPr>
          <a:xfrm>
            <a:off x="777240" y="5340096"/>
            <a:ext cx="566928" cy="566928"/>
          </a:xfrm>
          <a:prstGeom prst="ellipse">
            <a:avLst/>
          </a:prstGeom>
          <a:solidFill>
            <a:schemeClr val="tx2"/>
          </a:solidFill>
          <a:ln/>
        </p:spPr>
      </p:sp>
      <p:pic>
        <p:nvPicPr>
          <p:cNvPr id="22" name="Image 2" descr="preencoded.png">    </p:cNvPr>
          <p:cNvPicPr>
            <a:picLocks noChangeAspect="1"/>
          </p:cNvPicPr>
          <p:nvPr/>
        </p:nvPicPr>
        <p:blipFill>
          <a:blip r:embed="rId3"/>
          <a:stretch>
            <a:fillRect/>
          </a:stretch>
        </p:blipFill>
        <p:spPr>
          <a:xfrm>
            <a:off x="918972" y="5481828"/>
            <a:ext cx="283464" cy="283464"/>
          </a:xfrm>
          <a:prstGeom prst="rect">
            <a:avLst/>
          </a:prstGeom>
        </p:spPr>
      </p:pic>
      <p:sp>
        <p:nvSpPr>
          <p:cNvPr id="23" name="Text 18"/>
          <p:cNvSpPr txBox="1"/>
          <p:nvPr/>
        </p:nvSpPr>
        <p:spPr>
          <a:xfrm>
            <a:off x="1554480" y="5257800"/>
            <a:ext cx="9921240" cy="731520"/>
          </a:xfrm>
          <a:prstGeom prst="rect">
            <a:avLst/>
          </a:prstGeom>
          <a:noFill/>
          <a:ln/>
        </p:spPr>
        <p:txBody>
          <a:bodyPr wrap="square" lIns="0" tIns="0" rIns="0" bIns="0" rtlCol="0" anchor="ctr"/>
          <a:lstStyle/>
          <a:p>
            <a:pPr indent="0" marL="0">
              <a:buNone/>
            </a:pPr>
            <a:r>
              <a:rPr lang="en-US" sz="1600" dirty="0">
                <a:solidFill>
                  <a:schemeClr val="tx2"/>
                </a:solidFill>
              </a:rPr>
              <a:t>Kết hợp hai nguồn, AI trả lời được câu hỏi chuyên viên thực sự cần: về đúng khách hàng của mình, với dữ liệu thị trường hôm nay.</a:t>
            </a:r>
            <a:endParaRPr lang="en-US" sz="16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02 · MCP LÀ GÌ</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MCP: “cổng USB‑C” cho AI</a:t>
            </a:r>
            <a:endParaRPr lang="en-US" sz="3000" dirty="0"/>
          </a:p>
        </p:txBody>
      </p:sp>
      <p:sp>
        <p:nvSpPr>
          <p:cNvPr id="4" name="Text 2"/>
          <p:cNvSpPr txBox="1"/>
          <p:nvPr/>
        </p:nvSpPr>
        <p:spPr>
          <a:xfrm>
            <a:off x="548640" y="1645920"/>
            <a:ext cx="4846320" cy="1417320"/>
          </a:xfrm>
          <a:prstGeom prst="rect">
            <a:avLst/>
          </a:prstGeom>
          <a:noFill/>
          <a:ln/>
        </p:spPr>
        <p:txBody>
          <a:bodyPr wrap="square" lIns="0" tIns="0" rIns="0" bIns="0" rtlCol="0" anchor="t"/>
          <a:lstStyle/>
          <a:p>
            <a:pPr indent="0" marL="0">
              <a:buNone/>
            </a:pPr>
            <a:r>
              <a:rPr lang="en-US" sz="1700" dirty="0">
                <a:solidFill>
                  <a:schemeClr val="tx2"/>
                </a:solidFill>
              </a:rPr>
              <a:t>Model Context Protocol (MCP) là chuẩn mở do Anthropic công bố tháng 11/2024, giúp ứng dụng AI kết nối với dữ liệu và công cụ bên ngoài theo một cách thống nhất.</a:t>
            </a:r>
            <a:endParaRPr lang="en-US" sz="1700" dirty="0"/>
          </a:p>
        </p:txBody>
      </p:sp>
      <p:sp>
        <p:nvSpPr>
          <p:cNvPr id="5" name="Shape 3"/>
          <p:cNvSpPr/>
          <p:nvPr/>
        </p:nvSpPr>
        <p:spPr>
          <a:xfrm>
            <a:off x="548640" y="3291840"/>
            <a:ext cx="457200" cy="4572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662940" y="3406140"/>
            <a:ext cx="228600" cy="228600"/>
          </a:xfrm>
          <a:prstGeom prst="rect">
            <a:avLst/>
          </a:prstGeom>
        </p:spPr>
      </p:pic>
      <p:sp>
        <p:nvSpPr>
          <p:cNvPr id="7" name="Text 4"/>
          <p:cNvSpPr txBox="1"/>
          <p:nvPr/>
        </p:nvSpPr>
        <p:spPr>
          <a:xfrm>
            <a:off x="1188720" y="3310128"/>
            <a:ext cx="4206240" cy="685800"/>
          </a:xfrm>
          <a:prstGeom prst="rect">
            <a:avLst/>
          </a:prstGeom>
          <a:noFill/>
          <a:ln/>
        </p:spPr>
        <p:txBody>
          <a:bodyPr wrap="square" lIns="0" tIns="0" rIns="0" bIns="0" rtlCol="0" anchor="t"/>
          <a:lstStyle/>
          <a:p>
            <a:pPr indent="0" marL="0">
              <a:buNone/>
            </a:pPr>
            <a:r>
              <a:rPr lang="en-US" sz="1500" dirty="0">
                <a:solidFill>
                  <a:schemeClr val="tx1"/>
                </a:solidFill>
              </a:rPr>
              <a:t>Được Claude, ChatGPT, Gemini, Microsoft Copilot… hỗ trợ</a:t>
            </a:r>
            <a:endParaRPr lang="en-US" sz="1500" dirty="0"/>
          </a:p>
        </p:txBody>
      </p:sp>
      <p:sp>
        <p:nvSpPr>
          <p:cNvPr id="8" name="Shape 5"/>
          <p:cNvSpPr/>
          <p:nvPr/>
        </p:nvSpPr>
        <p:spPr>
          <a:xfrm>
            <a:off x="548640" y="4206240"/>
            <a:ext cx="457200" cy="457200"/>
          </a:xfrm>
          <a:prstGeom prst="ellipse">
            <a:avLst/>
          </a:prstGeom>
          <a:solidFill>
            <a:schemeClr val="accent1"/>
          </a:solidFill>
          <a:ln/>
        </p:spPr>
      </p:sp>
      <p:pic>
        <p:nvPicPr>
          <p:cNvPr id="9" name="Image 1" descr="preencoded.png">    </p:cNvPr>
          <p:cNvPicPr>
            <a:picLocks noChangeAspect="1"/>
          </p:cNvPicPr>
          <p:nvPr/>
        </p:nvPicPr>
        <p:blipFill>
          <a:blip r:embed="rId2"/>
          <a:stretch>
            <a:fillRect/>
          </a:stretch>
        </p:blipFill>
        <p:spPr>
          <a:xfrm>
            <a:off x="662940" y="4320540"/>
            <a:ext cx="228600" cy="228600"/>
          </a:xfrm>
          <a:prstGeom prst="rect">
            <a:avLst/>
          </a:prstGeom>
        </p:spPr>
      </p:pic>
      <p:sp>
        <p:nvSpPr>
          <p:cNvPr id="10" name="Text 6"/>
          <p:cNvSpPr txBox="1"/>
          <p:nvPr/>
        </p:nvSpPr>
        <p:spPr>
          <a:xfrm>
            <a:off x="1188720" y="4224528"/>
            <a:ext cx="4206240" cy="685800"/>
          </a:xfrm>
          <a:prstGeom prst="rect">
            <a:avLst/>
          </a:prstGeom>
          <a:noFill/>
          <a:ln/>
        </p:spPr>
        <p:txBody>
          <a:bodyPr wrap="square" lIns="0" tIns="0" rIns="0" bIns="0" rtlCol="0" anchor="t"/>
          <a:lstStyle/>
          <a:p>
            <a:pPr indent="0" marL="0">
              <a:buNone/>
            </a:pPr>
            <a:r>
              <a:rPr lang="en-US" sz="1500" dirty="0">
                <a:solidFill>
                  <a:schemeClr val="tx1"/>
                </a:solidFill>
              </a:rPr>
              <a:t>Mỗi hệ thống chỉ cần xây một MCP server, mọi AI tương thích đều dùng được</a:t>
            </a:r>
            <a:endParaRPr lang="en-US" sz="1500" dirty="0"/>
          </a:p>
        </p:txBody>
      </p:sp>
      <p:sp>
        <p:nvSpPr>
          <p:cNvPr id="11" name="Shape 7"/>
          <p:cNvSpPr/>
          <p:nvPr/>
        </p:nvSpPr>
        <p:spPr>
          <a:xfrm>
            <a:off x="548640" y="5120640"/>
            <a:ext cx="457200" cy="457200"/>
          </a:xfrm>
          <a:prstGeom prst="ellipse">
            <a:avLst/>
          </a:prstGeom>
          <a:solidFill>
            <a:schemeClr val="accent1"/>
          </a:solidFill>
          <a:ln/>
        </p:spPr>
      </p:sp>
      <p:pic>
        <p:nvPicPr>
          <p:cNvPr id="12" name="Image 2" descr="preencoded.png">    </p:cNvPr>
          <p:cNvPicPr>
            <a:picLocks noChangeAspect="1"/>
          </p:cNvPicPr>
          <p:nvPr/>
        </p:nvPicPr>
        <p:blipFill>
          <a:blip r:embed="rId3"/>
          <a:stretch>
            <a:fillRect/>
          </a:stretch>
        </p:blipFill>
        <p:spPr>
          <a:xfrm>
            <a:off x="662940" y="5234940"/>
            <a:ext cx="228600" cy="228600"/>
          </a:xfrm>
          <a:prstGeom prst="rect">
            <a:avLst/>
          </a:prstGeom>
        </p:spPr>
      </p:pic>
      <p:sp>
        <p:nvSpPr>
          <p:cNvPr id="13" name="Text 8"/>
          <p:cNvSpPr txBox="1"/>
          <p:nvPr/>
        </p:nvSpPr>
        <p:spPr>
          <a:xfrm>
            <a:off x="1188720" y="5138928"/>
            <a:ext cx="4206240" cy="685800"/>
          </a:xfrm>
          <a:prstGeom prst="rect">
            <a:avLst/>
          </a:prstGeom>
          <a:noFill/>
          <a:ln/>
        </p:spPr>
        <p:txBody>
          <a:bodyPr wrap="square" lIns="0" tIns="0" rIns="0" bIns="0" rtlCol="0" anchor="t"/>
          <a:lstStyle/>
          <a:p>
            <a:pPr indent="0" marL="0">
              <a:buNone/>
            </a:pPr>
            <a:r>
              <a:rPr lang="en-US" sz="1500" dirty="0">
                <a:solidFill>
                  <a:schemeClr val="tx1"/>
                </a:solidFill>
              </a:rPr>
              <a:t>Hệ thống chủ quyết định AI được xem gì, làm gì</a:t>
            </a:r>
            <a:endParaRPr lang="en-US" sz="1500" dirty="0"/>
          </a:p>
        </p:txBody>
      </p:sp>
      <p:sp>
        <p:nvSpPr>
          <p:cNvPr id="14" name="Shape 9"/>
          <p:cNvSpPr/>
          <p:nvPr/>
        </p:nvSpPr>
        <p:spPr>
          <a:xfrm>
            <a:off x="5806440" y="1645920"/>
            <a:ext cx="5852160" cy="2148840"/>
          </a:xfrm>
          <a:prstGeom prst="roundRect">
            <a:avLst>
              <a:gd name="adj" fmla="val 5106"/>
            </a:avLst>
          </a:prstGeom>
          <a:solidFill>
            <a:schemeClr val="bg2"/>
          </a:solidFill>
          <a:ln/>
        </p:spPr>
      </p:sp>
      <p:sp>
        <p:nvSpPr>
          <p:cNvPr id="15" name="Text 10"/>
          <p:cNvSpPr txBox="1"/>
          <p:nvPr/>
        </p:nvSpPr>
        <p:spPr>
          <a:xfrm>
            <a:off x="6035040" y="1783080"/>
            <a:ext cx="5486400" cy="320040"/>
          </a:xfrm>
          <a:prstGeom prst="rect">
            <a:avLst/>
          </a:prstGeom>
          <a:noFill/>
          <a:ln/>
        </p:spPr>
        <p:txBody>
          <a:bodyPr wrap="square" lIns="0" tIns="0" rIns="0" bIns="0" rtlCol="0" anchor="t"/>
          <a:lstStyle/>
          <a:p>
            <a:pPr indent="0" marL="0">
              <a:buNone/>
            </a:pPr>
            <a:r>
              <a:rPr lang="en-US" sz="1400" b="1" dirty="0">
                <a:solidFill>
                  <a:schemeClr val="accent4"/>
                </a:solidFill>
              </a:rPr>
              <a:t>Không có MCP: mỗi AI × mỗi hệ thống</a:t>
            </a:r>
            <a:endParaRPr lang="en-US" sz="1400" dirty="0"/>
          </a:p>
        </p:txBody>
      </p:sp>
      <p:sp>
        <p:nvSpPr>
          <p:cNvPr id="16" name="Text 11"/>
          <p:cNvSpPr txBox="1"/>
          <p:nvPr/>
        </p:nvSpPr>
        <p:spPr>
          <a:xfrm>
            <a:off x="6035040" y="2240280"/>
            <a:ext cx="1325880" cy="384048"/>
          </a:xfrm>
          <a:prstGeom prst="roundRect">
            <a:avLst>
              <a:gd name="adj" fmla="val 14286"/>
            </a:avLst>
          </a:prstGeom>
          <a:solidFill>
            <a:schemeClr val="accent2"/>
          </a:solidFill>
          <a:ln/>
        </p:spPr>
        <p:txBody>
          <a:bodyPr wrap="square" lIns="0" tIns="0" rIns="0" bIns="0" rtlCol="0" anchor="ctr"/>
          <a:lstStyle/>
          <a:p>
            <a:pPr algn="ctr" indent="0" marL="0">
              <a:buNone/>
            </a:pPr>
            <a:r>
              <a:rPr lang="en-US" sz="1200" b="1" dirty="0">
                <a:solidFill>
                  <a:schemeClr val="bg1"/>
                </a:solidFill>
              </a:rPr>
              <a:t>Claude</a:t>
            </a:r>
            <a:endParaRPr lang="en-US" sz="1200" dirty="0"/>
          </a:p>
        </p:txBody>
      </p:sp>
      <p:sp>
        <p:nvSpPr>
          <p:cNvPr id="17" name="Text 12"/>
          <p:cNvSpPr txBox="1"/>
          <p:nvPr/>
        </p:nvSpPr>
        <p:spPr>
          <a:xfrm>
            <a:off x="10104120" y="2240280"/>
            <a:ext cx="132588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bg1"/>
                </a:solidFill>
              </a:rPr>
              <a:t>SHA</a:t>
            </a:r>
            <a:endParaRPr lang="en-US" sz="1200" dirty="0"/>
          </a:p>
        </p:txBody>
      </p:sp>
      <p:sp>
        <p:nvSpPr>
          <p:cNvPr id="18" name="Text 13"/>
          <p:cNvSpPr txBox="1"/>
          <p:nvPr/>
        </p:nvSpPr>
        <p:spPr>
          <a:xfrm>
            <a:off x="6035040" y="2743200"/>
            <a:ext cx="1325880" cy="384048"/>
          </a:xfrm>
          <a:prstGeom prst="roundRect">
            <a:avLst>
              <a:gd name="adj" fmla="val 14286"/>
            </a:avLst>
          </a:prstGeom>
          <a:solidFill>
            <a:schemeClr val="accent2"/>
          </a:solidFill>
          <a:ln/>
        </p:spPr>
        <p:txBody>
          <a:bodyPr wrap="square" lIns="0" tIns="0" rIns="0" bIns="0" rtlCol="0" anchor="ctr"/>
          <a:lstStyle/>
          <a:p>
            <a:pPr algn="ctr" indent="0" marL="0">
              <a:buNone/>
            </a:pPr>
            <a:r>
              <a:rPr lang="en-US" sz="1200" b="1" dirty="0">
                <a:solidFill>
                  <a:schemeClr val="bg1"/>
                </a:solidFill>
              </a:rPr>
              <a:t>ChatGPT</a:t>
            </a:r>
            <a:endParaRPr lang="en-US" sz="1200" dirty="0"/>
          </a:p>
        </p:txBody>
      </p:sp>
      <p:sp>
        <p:nvSpPr>
          <p:cNvPr id="19" name="Text 14"/>
          <p:cNvSpPr txBox="1"/>
          <p:nvPr/>
        </p:nvSpPr>
        <p:spPr>
          <a:xfrm>
            <a:off x="10104120" y="2743200"/>
            <a:ext cx="132588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bg1"/>
                </a:solidFill>
              </a:rPr>
              <a:t>Thị trường</a:t>
            </a:r>
            <a:endParaRPr lang="en-US" sz="1200" dirty="0"/>
          </a:p>
        </p:txBody>
      </p:sp>
      <p:sp>
        <p:nvSpPr>
          <p:cNvPr id="20" name="Text 15"/>
          <p:cNvSpPr txBox="1"/>
          <p:nvPr/>
        </p:nvSpPr>
        <p:spPr>
          <a:xfrm>
            <a:off x="6035040" y="3246120"/>
            <a:ext cx="1325880" cy="384048"/>
          </a:xfrm>
          <a:prstGeom prst="roundRect">
            <a:avLst>
              <a:gd name="adj" fmla="val 14286"/>
            </a:avLst>
          </a:prstGeom>
          <a:solidFill>
            <a:schemeClr val="accent2"/>
          </a:solidFill>
          <a:ln/>
        </p:spPr>
        <p:txBody>
          <a:bodyPr wrap="square" lIns="0" tIns="0" rIns="0" bIns="0" rtlCol="0" anchor="ctr"/>
          <a:lstStyle/>
          <a:p>
            <a:pPr algn="ctr" indent="0" marL="0">
              <a:buNone/>
            </a:pPr>
            <a:r>
              <a:rPr lang="en-US" sz="1200" b="1" dirty="0">
                <a:solidFill>
                  <a:schemeClr val="bg1"/>
                </a:solidFill>
              </a:rPr>
              <a:t>Gemini</a:t>
            </a:r>
            <a:endParaRPr lang="en-US" sz="1200" dirty="0"/>
          </a:p>
        </p:txBody>
      </p:sp>
      <p:sp>
        <p:nvSpPr>
          <p:cNvPr id="21" name="Text 16"/>
          <p:cNvSpPr txBox="1"/>
          <p:nvPr/>
        </p:nvSpPr>
        <p:spPr>
          <a:xfrm>
            <a:off x="10104120" y="3246120"/>
            <a:ext cx="132588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bg1"/>
                </a:solidFill>
              </a:rPr>
              <a:t>KMS</a:t>
            </a:r>
            <a:endParaRPr lang="en-US" sz="1200" dirty="0"/>
          </a:p>
        </p:txBody>
      </p:sp>
      <p:sp>
        <p:nvSpPr>
          <p:cNvPr id="22" name="Shape 17"/>
          <p:cNvSpPr/>
          <p:nvPr/>
        </p:nvSpPr>
        <p:spPr>
          <a:xfrm>
            <a:off x="7360920" y="2432304"/>
            <a:ext cx="2743200" cy="0"/>
          </a:xfrm>
          <a:prstGeom prst="line">
            <a:avLst/>
          </a:prstGeom>
          <a:noFill/>
          <a:ln w="12700">
            <a:solidFill>
              <a:schemeClr val="accent4"/>
            </a:solidFill>
            <a:prstDash val="solid"/>
          </a:ln>
        </p:spPr>
      </p:sp>
      <p:sp>
        <p:nvSpPr>
          <p:cNvPr id="23" name="Shape 18"/>
          <p:cNvSpPr/>
          <p:nvPr/>
        </p:nvSpPr>
        <p:spPr>
          <a:xfrm>
            <a:off x="7360920" y="2432304"/>
            <a:ext cx="2743200" cy="502920"/>
          </a:xfrm>
          <a:prstGeom prst="line">
            <a:avLst/>
          </a:prstGeom>
          <a:noFill/>
          <a:ln w="12700">
            <a:solidFill>
              <a:schemeClr val="accent4"/>
            </a:solidFill>
            <a:prstDash val="solid"/>
          </a:ln>
        </p:spPr>
      </p:sp>
      <p:sp>
        <p:nvSpPr>
          <p:cNvPr id="24" name="Shape 19"/>
          <p:cNvSpPr/>
          <p:nvPr/>
        </p:nvSpPr>
        <p:spPr>
          <a:xfrm>
            <a:off x="7360920" y="2432304"/>
            <a:ext cx="2743200" cy="1005840"/>
          </a:xfrm>
          <a:prstGeom prst="line">
            <a:avLst/>
          </a:prstGeom>
          <a:noFill/>
          <a:ln w="12700">
            <a:solidFill>
              <a:schemeClr val="accent4"/>
            </a:solidFill>
            <a:prstDash val="solid"/>
          </a:ln>
        </p:spPr>
      </p:sp>
      <p:sp>
        <p:nvSpPr>
          <p:cNvPr id="25" name="Shape 20"/>
          <p:cNvSpPr/>
          <p:nvPr/>
        </p:nvSpPr>
        <p:spPr>
          <a:xfrm flipV="1">
            <a:off x="7360920" y="2432304"/>
            <a:ext cx="2743200" cy="502920"/>
          </a:xfrm>
          <a:prstGeom prst="line">
            <a:avLst/>
          </a:prstGeom>
          <a:noFill/>
          <a:ln w="12700">
            <a:solidFill>
              <a:schemeClr val="accent4"/>
            </a:solidFill>
            <a:prstDash val="solid"/>
          </a:ln>
        </p:spPr>
      </p:sp>
      <p:sp>
        <p:nvSpPr>
          <p:cNvPr id="26" name="Shape 21"/>
          <p:cNvSpPr/>
          <p:nvPr/>
        </p:nvSpPr>
        <p:spPr>
          <a:xfrm>
            <a:off x="7360920" y="2935224"/>
            <a:ext cx="2743200" cy="0"/>
          </a:xfrm>
          <a:prstGeom prst="line">
            <a:avLst/>
          </a:prstGeom>
          <a:noFill/>
          <a:ln w="12700">
            <a:solidFill>
              <a:schemeClr val="accent4"/>
            </a:solidFill>
            <a:prstDash val="solid"/>
          </a:ln>
        </p:spPr>
      </p:sp>
      <p:sp>
        <p:nvSpPr>
          <p:cNvPr id="27" name="Shape 22"/>
          <p:cNvSpPr/>
          <p:nvPr/>
        </p:nvSpPr>
        <p:spPr>
          <a:xfrm>
            <a:off x="7360920" y="2935224"/>
            <a:ext cx="2743200" cy="502920"/>
          </a:xfrm>
          <a:prstGeom prst="line">
            <a:avLst/>
          </a:prstGeom>
          <a:noFill/>
          <a:ln w="12700">
            <a:solidFill>
              <a:schemeClr val="accent4"/>
            </a:solidFill>
            <a:prstDash val="solid"/>
          </a:ln>
        </p:spPr>
      </p:sp>
      <p:sp>
        <p:nvSpPr>
          <p:cNvPr id="28" name="Shape 23"/>
          <p:cNvSpPr/>
          <p:nvPr/>
        </p:nvSpPr>
        <p:spPr>
          <a:xfrm flipV="1">
            <a:off x="7360920" y="2432304"/>
            <a:ext cx="2743200" cy="1005840"/>
          </a:xfrm>
          <a:prstGeom prst="line">
            <a:avLst/>
          </a:prstGeom>
          <a:noFill/>
          <a:ln w="12700">
            <a:solidFill>
              <a:schemeClr val="accent4"/>
            </a:solidFill>
            <a:prstDash val="solid"/>
          </a:ln>
        </p:spPr>
      </p:sp>
      <p:sp>
        <p:nvSpPr>
          <p:cNvPr id="29" name="Shape 24"/>
          <p:cNvSpPr/>
          <p:nvPr/>
        </p:nvSpPr>
        <p:spPr>
          <a:xfrm flipV="1">
            <a:off x="7360920" y="2935224"/>
            <a:ext cx="2743200" cy="502920"/>
          </a:xfrm>
          <a:prstGeom prst="line">
            <a:avLst/>
          </a:prstGeom>
          <a:noFill/>
          <a:ln w="12700">
            <a:solidFill>
              <a:schemeClr val="accent4"/>
            </a:solidFill>
            <a:prstDash val="solid"/>
          </a:ln>
        </p:spPr>
      </p:sp>
      <p:sp>
        <p:nvSpPr>
          <p:cNvPr id="30" name="Shape 25"/>
          <p:cNvSpPr/>
          <p:nvPr/>
        </p:nvSpPr>
        <p:spPr>
          <a:xfrm>
            <a:off x="7360920" y="3438144"/>
            <a:ext cx="2743200" cy="0"/>
          </a:xfrm>
          <a:prstGeom prst="line">
            <a:avLst/>
          </a:prstGeom>
          <a:noFill/>
          <a:ln w="12700">
            <a:solidFill>
              <a:schemeClr val="accent4"/>
            </a:solidFill>
            <a:prstDash val="solid"/>
          </a:ln>
        </p:spPr>
      </p:sp>
      <p:sp>
        <p:nvSpPr>
          <p:cNvPr id="31" name="Text 26"/>
          <p:cNvSpPr txBox="1"/>
          <p:nvPr/>
        </p:nvSpPr>
        <p:spPr>
          <a:xfrm>
            <a:off x="9418320" y="1783080"/>
            <a:ext cx="2011680" cy="320040"/>
          </a:xfrm>
          <a:prstGeom prst="rect">
            <a:avLst/>
          </a:prstGeom>
          <a:noFill/>
          <a:ln/>
        </p:spPr>
        <p:txBody>
          <a:bodyPr wrap="square" lIns="0" tIns="0" rIns="0" bIns="0" rtlCol="0" anchor="t"/>
          <a:lstStyle/>
          <a:p>
            <a:pPr algn="r" indent="0" marL="0">
              <a:buNone/>
            </a:pPr>
            <a:r>
              <a:rPr lang="en-US" sz="1200" b="1" dirty="0">
                <a:solidFill>
                  <a:schemeClr val="accent6"/>
                </a:solidFill>
              </a:rPr>
              <a:t>9 tích hợp riêng</a:t>
            </a:r>
            <a:endParaRPr lang="en-US" sz="1200" dirty="0"/>
          </a:p>
        </p:txBody>
      </p:sp>
      <p:sp>
        <p:nvSpPr>
          <p:cNvPr id="32" name="Shape 27"/>
          <p:cNvSpPr/>
          <p:nvPr/>
        </p:nvSpPr>
        <p:spPr>
          <a:xfrm>
            <a:off x="5806440" y="3977640"/>
            <a:ext cx="5852160" cy="2148840"/>
          </a:xfrm>
          <a:prstGeom prst="roundRect">
            <a:avLst>
              <a:gd name="adj" fmla="val 5106"/>
            </a:avLst>
          </a:prstGeom>
          <a:solidFill>
            <a:schemeClr val="bg2"/>
          </a:solidFill>
          <a:ln/>
        </p:spPr>
      </p:sp>
      <p:sp>
        <p:nvSpPr>
          <p:cNvPr id="33" name="Text 28"/>
          <p:cNvSpPr txBox="1"/>
          <p:nvPr/>
        </p:nvSpPr>
        <p:spPr>
          <a:xfrm>
            <a:off x="6035040" y="4114800"/>
            <a:ext cx="5486400" cy="320040"/>
          </a:xfrm>
          <a:prstGeom prst="rect">
            <a:avLst/>
          </a:prstGeom>
          <a:noFill/>
          <a:ln/>
        </p:spPr>
        <p:txBody>
          <a:bodyPr wrap="square" lIns="0" tIns="0" rIns="0" bIns="0" rtlCol="0" anchor="t"/>
          <a:lstStyle/>
          <a:p>
            <a:pPr indent="0" marL="0">
              <a:buNone/>
            </a:pPr>
            <a:r>
              <a:rPr lang="en-US" sz="1400" b="1" dirty="0">
                <a:solidFill>
                  <a:schemeClr val="accent1"/>
                </a:solidFill>
              </a:rPr>
              <a:t>Có MCP: một chuẩn chung</a:t>
            </a:r>
            <a:endParaRPr lang="en-US" sz="1400" dirty="0"/>
          </a:p>
        </p:txBody>
      </p:sp>
      <p:sp>
        <p:nvSpPr>
          <p:cNvPr id="34" name="Text 29"/>
          <p:cNvSpPr txBox="1"/>
          <p:nvPr/>
        </p:nvSpPr>
        <p:spPr>
          <a:xfrm>
            <a:off x="6035040" y="4572000"/>
            <a:ext cx="1325880" cy="384048"/>
          </a:xfrm>
          <a:prstGeom prst="roundRect">
            <a:avLst>
              <a:gd name="adj" fmla="val 14286"/>
            </a:avLst>
          </a:prstGeom>
          <a:solidFill>
            <a:schemeClr val="accent2"/>
          </a:solidFill>
          <a:ln/>
        </p:spPr>
        <p:txBody>
          <a:bodyPr wrap="square" lIns="0" tIns="0" rIns="0" bIns="0" rtlCol="0" anchor="ctr"/>
          <a:lstStyle/>
          <a:p>
            <a:pPr algn="ctr" indent="0" marL="0">
              <a:buNone/>
            </a:pPr>
            <a:r>
              <a:rPr lang="en-US" sz="1200" b="1" dirty="0">
                <a:solidFill>
                  <a:schemeClr val="bg1"/>
                </a:solidFill>
              </a:rPr>
              <a:t>Claude</a:t>
            </a:r>
            <a:endParaRPr lang="en-US" sz="1200" dirty="0"/>
          </a:p>
        </p:txBody>
      </p:sp>
      <p:sp>
        <p:nvSpPr>
          <p:cNvPr id="35" name="Text 30"/>
          <p:cNvSpPr txBox="1"/>
          <p:nvPr/>
        </p:nvSpPr>
        <p:spPr>
          <a:xfrm>
            <a:off x="10104120" y="4572000"/>
            <a:ext cx="132588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bg1"/>
                </a:solidFill>
              </a:rPr>
              <a:t>SHA</a:t>
            </a:r>
            <a:endParaRPr lang="en-US" sz="1200" dirty="0"/>
          </a:p>
        </p:txBody>
      </p:sp>
      <p:sp>
        <p:nvSpPr>
          <p:cNvPr id="36" name="Text 31"/>
          <p:cNvSpPr txBox="1"/>
          <p:nvPr/>
        </p:nvSpPr>
        <p:spPr>
          <a:xfrm>
            <a:off x="6035040" y="5074920"/>
            <a:ext cx="1325880" cy="384048"/>
          </a:xfrm>
          <a:prstGeom prst="roundRect">
            <a:avLst>
              <a:gd name="adj" fmla="val 14286"/>
            </a:avLst>
          </a:prstGeom>
          <a:solidFill>
            <a:schemeClr val="accent2"/>
          </a:solidFill>
          <a:ln/>
        </p:spPr>
        <p:txBody>
          <a:bodyPr wrap="square" lIns="0" tIns="0" rIns="0" bIns="0" rtlCol="0" anchor="ctr"/>
          <a:lstStyle/>
          <a:p>
            <a:pPr algn="ctr" indent="0" marL="0">
              <a:buNone/>
            </a:pPr>
            <a:r>
              <a:rPr lang="en-US" sz="1200" b="1" dirty="0">
                <a:solidFill>
                  <a:schemeClr val="bg1"/>
                </a:solidFill>
              </a:rPr>
              <a:t>ChatGPT</a:t>
            </a:r>
            <a:endParaRPr lang="en-US" sz="1200" dirty="0"/>
          </a:p>
        </p:txBody>
      </p:sp>
      <p:sp>
        <p:nvSpPr>
          <p:cNvPr id="37" name="Text 32"/>
          <p:cNvSpPr txBox="1"/>
          <p:nvPr/>
        </p:nvSpPr>
        <p:spPr>
          <a:xfrm>
            <a:off x="10104120" y="5074920"/>
            <a:ext cx="132588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bg1"/>
                </a:solidFill>
              </a:rPr>
              <a:t>Thị trường</a:t>
            </a:r>
            <a:endParaRPr lang="en-US" sz="1200" dirty="0"/>
          </a:p>
        </p:txBody>
      </p:sp>
      <p:sp>
        <p:nvSpPr>
          <p:cNvPr id="38" name="Text 33"/>
          <p:cNvSpPr txBox="1"/>
          <p:nvPr/>
        </p:nvSpPr>
        <p:spPr>
          <a:xfrm>
            <a:off x="6035040" y="5577840"/>
            <a:ext cx="1325880" cy="384048"/>
          </a:xfrm>
          <a:prstGeom prst="roundRect">
            <a:avLst>
              <a:gd name="adj" fmla="val 14286"/>
            </a:avLst>
          </a:prstGeom>
          <a:solidFill>
            <a:schemeClr val="accent2"/>
          </a:solidFill>
          <a:ln/>
        </p:spPr>
        <p:txBody>
          <a:bodyPr wrap="square" lIns="0" tIns="0" rIns="0" bIns="0" rtlCol="0" anchor="ctr"/>
          <a:lstStyle/>
          <a:p>
            <a:pPr algn="ctr" indent="0" marL="0">
              <a:buNone/>
            </a:pPr>
            <a:r>
              <a:rPr lang="en-US" sz="1200" b="1" dirty="0">
                <a:solidFill>
                  <a:schemeClr val="bg1"/>
                </a:solidFill>
              </a:rPr>
              <a:t>Gemini</a:t>
            </a:r>
            <a:endParaRPr lang="en-US" sz="1200" dirty="0"/>
          </a:p>
        </p:txBody>
      </p:sp>
      <p:sp>
        <p:nvSpPr>
          <p:cNvPr id="39" name="Text 34"/>
          <p:cNvSpPr txBox="1"/>
          <p:nvPr/>
        </p:nvSpPr>
        <p:spPr>
          <a:xfrm>
            <a:off x="10104120" y="5577840"/>
            <a:ext cx="1325880" cy="384048"/>
          </a:xfrm>
          <a:prstGeom prst="roundRect">
            <a:avLst>
              <a:gd name="adj" fmla="val 14286"/>
            </a:avLst>
          </a:prstGeom>
          <a:solidFill>
            <a:schemeClr val="tx2"/>
          </a:solidFill>
          <a:ln/>
        </p:spPr>
        <p:txBody>
          <a:bodyPr wrap="square" lIns="0" tIns="0" rIns="0" bIns="0" rtlCol="0" anchor="ctr"/>
          <a:lstStyle/>
          <a:p>
            <a:pPr algn="ctr" indent="0" marL="0">
              <a:buNone/>
            </a:pPr>
            <a:r>
              <a:rPr lang="en-US" sz="1200" b="1" dirty="0">
                <a:solidFill>
                  <a:schemeClr val="bg1"/>
                </a:solidFill>
              </a:rPr>
              <a:t>KMS</a:t>
            </a:r>
            <a:endParaRPr lang="en-US" sz="1200" dirty="0"/>
          </a:p>
        </p:txBody>
      </p:sp>
      <p:sp>
        <p:nvSpPr>
          <p:cNvPr id="40" name="Text 35"/>
          <p:cNvSpPr txBox="1"/>
          <p:nvPr/>
        </p:nvSpPr>
        <p:spPr>
          <a:xfrm>
            <a:off x="8229600" y="4572000"/>
            <a:ext cx="1005840" cy="1389888"/>
          </a:xfrm>
          <a:prstGeom prst="roundRect">
            <a:avLst>
              <a:gd name="adj" fmla="val 7273"/>
            </a:avLst>
          </a:prstGeom>
          <a:solidFill>
            <a:schemeClr val="accent1"/>
          </a:solidFill>
          <a:ln/>
        </p:spPr>
        <p:txBody>
          <a:bodyPr wrap="square" lIns="0" tIns="0" rIns="0" bIns="0" rtlCol="0" anchor="ctr"/>
          <a:lstStyle/>
          <a:p>
            <a:pPr algn="ctr" indent="0" marL="0">
              <a:buNone/>
            </a:pPr>
            <a:r>
              <a:rPr lang="en-US" sz="1600" b="1" dirty="0">
                <a:solidFill>
                  <a:schemeClr val="bg1"/>
                </a:solidFill>
              </a:rPr>
              <a:t>MCP</a:t>
            </a:r>
            <a:endParaRPr lang="en-US" sz="1600" dirty="0"/>
          </a:p>
        </p:txBody>
      </p:sp>
      <p:sp>
        <p:nvSpPr>
          <p:cNvPr id="41" name="Shape 36"/>
          <p:cNvSpPr/>
          <p:nvPr/>
        </p:nvSpPr>
        <p:spPr>
          <a:xfrm>
            <a:off x="7360920" y="4764024"/>
            <a:ext cx="868680" cy="0"/>
          </a:xfrm>
          <a:prstGeom prst="line">
            <a:avLst/>
          </a:prstGeom>
          <a:noFill/>
          <a:ln w="15875">
            <a:solidFill>
              <a:schemeClr val="accent1"/>
            </a:solidFill>
            <a:prstDash val="solid"/>
          </a:ln>
        </p:spPr>
      </p:sp>
      <p:sp>
        <p:nvSpPr>
          <p:cNvPr id="42" name="Shape 37"/>
          <p:cNvSpPr/>
          <p:nvPr/>
        </p:nvSpPr>
        <p:spPr>
          <a:xfrm>
            <a:off x="9235440" y="4764024"/>
            <a:ext cx="868680" cy="0"/>
          </a:xfrm>
          <a:prstGeom prst="line">
            <a:avLst/>
          </a:prstGeom>
          <a:noFill/>
          <a:ln w="15875">
            <a:solidFill>
              <a:schemeClr val="accent1"/>
            </a:solidFill>
            <a:prstDash val="solid"/>
          </a:ln>
        </p:spPr>
      </p:sp>
      <p:sp>
        <p:nvSpPr>
          <p:cNvPr id="43" name="Shape 38"/>
          <p:cNvSpPr/>
          <p:nvPr/>
        </p:nvSpPr>
        <p:spPr>
          <a:xfrm>
            <a:off x="7360920" y="5266944"/>
            <a:ext cx="868680" cy="0"/>
          </a:xfrm>
          <a:prstGeom prst="line">
            <a:avLst/>
          </a:prstGeom>
          <a:noFill/>
          <a:ln w="15875">
            <a:solidFill>
              <a:schemeClr val="accent1"/>
            </a:solidFill>
            <a:prstDash val="solid"/>
          </a:ln>
        </p:spPr>
      </p:sp>
      <p:sp>
        <p:nvSpPr>
          <p:cNvPr id="44" name="Shape 39"/>
          <p:cNvSpPr/>
          <p:nvPr/>
        </p:nvSpPr>
        <p:spPr>
          <a:xfrm>
            <a:off x="9235440" y="5266944"/>
            <a:ext cx="868680" cy="0"/>
          </a:xfrm>
          <a:prstGeom prst="line">
            <a:avLst/>
          </a:prstGeom>
          <a:noFill/>
          <a:ln w="15875">
            <a:solidFill>
              <a:schemeClr val="accent1"/>
            </a:solidFill>
            <a:prstDash val="solid"/>
          </a:ln>
        </p:spPr>
      </p:sp>
      <p:sp>
        <p:nvSpPr>
          <p:cNvPr id="45" name="Shape 40"/>
          <p:cNvSpPr/>
          <p:nvPr/>
        </p:nvSpPr>
        <p:spPr>
          <a:xfrm>
            <a:off x="7360920" y="5769864"/>
            <a:ext cx="868680" cy="0"/>
          </a:xfrm>
          <a:prstGeom prst="line">
            <a:avLst/>
          </a:prstGeom>
          <a:noFill/>
          <a:ln w="15875">
            <a:solidFill>
              <a:schemeClr val="accent1"/>
            </a:solidFill>
            <a:prstDash val="solid"/>
          </a:ln>
        </p:spPr>
      </p:sp>
      <p:sp>
        <p:nvSpPr>
          <p:cNvPr id="46" name="Shape 41"/>
          <p:cNvSpPr/>
          <p:nvPr/>
        </p:nvSpPr>
        <p:spPr>
          <a:xfrm>
            <a:off x="9235440" y="5769864"/>
            <a:ext cx="868680" cy="0"/>
          </a:xfrm>
          <a:prstGeom prst="line">
            <a:avLst/>
          </a:prstGeom>
          <a:noFill/>
          <a:ln w="15875">
            <a:solidFill>
              <a:schemeClr val="accent1"/>
            </a:solidFill>
            <a:prstDash val="solid"/>
          </a:ln>
        </p:spPr>
      </p:sp>
      <p:sp>
        <p:nvSpPr>
          <p:cNvPr id="47" name="Text 42"/>
          <p:cNvSpPr txBox="1"/>
          <p:nvPr/>
        </p:nvSpPr>
        <p:spPr>
          <a:xfrm>
            <a:off x="9418320" y="4114800"/>
            <a:ext cx="2011680" cy="320040"/>
          </a:xfrm>
          <a:prstGeom prst="rect">
            <a:avLst/>
          </a:prstGeom>
          <a:noFill/>
          <a:ln/>
        </p:spPr>
        <p:txBody>
          <a:bodyPr wrap="square" lIns="0" tIns="0" rIns="0" bIns="0" rtlCol="0" anchor="t"/>
          <a:lstStyle/>
          <a:p>
            <a:pPr algn="r" indent="0" marL="0">
              <a:buNone/>
            </a:pPr>
            <a:r>
              <a:rPr lang="en-US" sz="1200" b="1" dirty="0">
                <a:solidFill>
                  <a:schemeClr val="accent5"/>
                </a:solidFill>
              </a:rPr>
              <a:t>3 + 3 kết nối chuẩn</a:t>
            </a:r>
            <a:endParaRPr lang="en-US" sz="12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02 · MCP LÀ GÌ</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Hiểu đúng về MCP</a:t>
            </a:r>
            <a:endParaRPr lang="en-US" sz="3000" dirty="0"/>
          </a:p>
        </p:txBody>
      </p:sp>
      <p:sp>
        <p:nvSpPr>
          <p:cNvPr id="4" name="Shape 2"/>
          <p:cNvSpPr/>
          <p:nvPr/>
        </p:nvSpPr>
        <p:spPr>
          <a:xfrm>
            <a:off x="548640" y="1600200"/>
            <a:ext cx="3520440" cy="1188720"/>
          </a:xfrm>
          <a:prstGeom prst="roundRect">
            <a:avLst>
              <a:gd name="adj" fmla="val 9231"/>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5" name="Shape 3"/>
          <p:cNvSpPr/>
          <p:nvPr/>
        </p:nvSpPr>
        <p:spPr>
          <a:xfrm>
            <a:off x="777240" y="1892808"/>
            <a:ext cx="566928" cy="566928"/>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18972" y="2034540"/>
            <a:ext cx="283464" cy="283464"/>
          </a:xfrm>
          <a:prstGeom prst="rect">
            <a:avLst/>
          </a:prstGeom>
        </p:spPr>
      </p:pic>
      <p:sp>
        <p:nvSpPr>
          <p:cNvPr id="7" name="Text 4"/>
          <p:cNvSpPr txBox="1"/>
          <p:nvPr/>
        </p:nvSpPr>
        <p:spPr>
          <a:xfrm>
            <a:off x="1508760" y="1755648"/>
            <a:ext cx="2423160" cy="320040"/>
          </a:xfrm>
          <a:prstGeom prst="rect">
            <a:avLst/>
          </a:prstGeom>
          <a:noFill/>
          <a:ln/>
        </p:spPr>
        <p:txBody>
          <a:bodyPr wrap="square" lIns="0" tIns="0" rIns="0" bIns="0" rtlCol="0" anchor="t"/>
          <a:lstStyle/>
          <a:p>
            <a:pPr indent="0" marL="0">
              <a:buNone/>
            </a:pPr>
            <a:r>
              <a:rPr lang="en-US" sz="1600" b="1" dirty="0">
                <a:solidFill>
                  <a:schemeClr val="tx2"/>
                </a:solidFill>
              </a:rPr>
              <a:t>AI client (Host)</a:t>
            </a:r>
            <a:endParaRPr lang="en-US" sz="1600" dirty="0"/>
          </a:p>
        </p:txBody>
      </p:sp>
      <p:sp>
        <p:nvSpPr>
          <p:cNvPr id="8" name="Text 5"/>
          <p:cNvSpPr txBox="1"/>
          <p:nvPr/>
        </p:nvSpPr>
        <p:spPr>
          <a:xfrm>
            <a:off x="1508760" y="2103120"/>
            <a:ext cx="2423160" cy="594360"/>
          </a:xfrm>
          <a:prstGeom prst="rect">
            <a:avLst/>
          </a:prstGeom>
          <a:noFill/>
          <a:ln/>
        </p:spPr>
        <p:txBody>
          <a:bodyPr wrap="square" lIns="0" tIns="0" rIns="0" bIns="0" rtlCol="0" anchor="t"/>
          <a:lstStyle/>
          <a:p>
            <a:pPr indent="0" marL="0">
              <a:buNone/>
            </a:pPr>
            <a:r>
              <a:rPr lang="en-US" sz="1300" dirty="0">
                <a:solidFill>
                  <a:schemeClr val="accent4"/>
                </a:solidFill>
              </a:rPr>
              <a:t>Claude, ChatGPT: nơi người dùng hỏi</a:t>
            </a:r>
            <a:endParaRPr lang="en-US" sz="1300" dirty="0"/>
          </a:p>
        </p:txBody>
      </p:sp>
      <p:sp>
        <p:nvSpPr>
          <p:cNvPr id="9" name="Shape 6"/>
          <p:cNvSpPr/>
          <p:nvPr/>
        </p:nvSpPr>
        <p:spPr>
          <a:xfrm>
            <a:off x="4096512" y="2194560"/>
            <a:ext cx="219456" cy="0"/>
          </a:xfrm>
          <a:prstGeom prst="line">
            <a:avLst/>
          </a:prstGeom>
          <a:noFill/>
          <a:ln w="25400">
            <a:solidFill>
              <a:schemeClr val="accent1"/>
            </a:solidFill>
            <a:prstDash val="solid"/>
            <a:headEnd type="triangle"/>
            <a:tailEnd type="triangle"/>
          </a:ln>
        </p:spPr>
      </p:sp>
      <p:sp>
        <p:nvSpPr>
          <p:cNvPr id="10" name="Shape 7"/>
          <p:cNvSpPr/>
          <p:nvPr/>
        </p:nvSpPr>
        <p:spPr>
          <a:xfrm>
            <a:off x="4343400" y="1600200"/>
            <a:ext cx="3520440" cy="1188720"/>
          </a:xfrm>
          <a:prstGeom prst="roundRect">
            <a:avLst>
              <a:gd name="adj" fmla="val 9231"/>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1" name="Shape 8"/>
          <p:cNvSpPr/>
          <p:nvPr/>
        </p:nvSpPr>
        <p:spPr>
          <a:xfrm>
            <a:off x="4572000" y="1892808"/>
            <a:ext cx="566928" cy="566928"/>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713732" y="2034540"/>
            <a:ext cx="283464" cy="283464"/>
          </a:xfrm>
          <a:prstGeom prst="rect">
            <a:avLst/>
          </a:prstGeom>
        </p:spPr>
      </p:pic>
      <p:sp>
        <p:nvSpPr>
          <p:cNvPr id="13" name="Text 9"/>
          <p:cNvSpPr txBox="1"/>
          <p:nvPr/>
        </p:nvSpPr>
        <p:spPr>
          <a:xfrm>
            <a:off x="5303520" y="1755648"/>
            <a:ext cx="2423160" cy="320040"/>
          </a:xfrm>
          <a:prstGeom prst="rect">
            <a:avLst/>
          </a:prstGeom>
          <a:noFill/>
          <a:ln/>
        </p:spPr>
        <p:txBody>
          <a:bodyPr wrap="square" lIns="0" tIns="0" rIns="0" bIns="0" rtlCol="0" anchor="t"/>
          <a:lstStyle/>
          <a:p>
            <a:pPr indent="0" marL="0">
              <a:buNone/>
            </a:pPr>
            <a:r>
              <a:rPr lang="en-US" sz="1600" b="1" dirty="0">
                <a:solidFill>
                  <a:schemeClr val="tx2"/>
                </a:solidFill>
              </a:rPr>
              <a:t>MCP server</a:t>
            </a:r>
            <a:endParaRPr lang="en-US" sz="1600" dirty="0"/>
          </a:p>
        </p:txBody>
      </p:sp>
      <p:sp>
        <p:nvSpPr>
          <p:cNvPr id="14" name="Text 10"/>
          <p:cNvSpPr txBox="1"/>
          <p:nvPr/>
        </p:nvSpPr>
        <p:spPr>
          <a:xfrm>
            <a:off x="5303520" y="2103120"/>
            <a:ext cx="2423160" cy="594360"/>
          </a:xfrm>
          <a:prstGeom prst="rect">
            <a:avLst/>
          </a:prstGeom>
          <a:noFill/>
          <a:ln/>
        </p:spPr>
        <p:txBody>
          <a:bodyPr wrap="square" lIns="0" tIns="0" rIns="0" bIns="0" rtlCol="0" anchor="t"/>
          <a:lstStyle/>
          <a:p>
            <a:pPr indent="0" marL="0">
              <a:buNone/>
            </a:pPr>
            <a:r>
              <a:rPr lang="en-US" sz="1300" dirty="0">
                <a:solidFill>
                  <a:schemeClr val="accent4"/>
                </a:solidFill>
              </a:rPr>
              <a:t>SHA MCP, SHOne MCP: cửa ngõ có kiểm soát</a:t>
            </a:r>
            <a:endParaRPr lang="en-US" sz="1300" dirty="0"/>
          </a:p>
        </p:txBody>
      </p:sp>
      <p:sp>
        <p:nvSpPr>
          <p:cNvPr id="15" name="Shape 11"/>
          <p:cNvSpPr/>
          <p:nvPr/>
        </p:nvSpPr>
        <p:spPr>
          <a:xfrm>
            <a:off x="7891272" y="2194560"/>
            <a:ext cx="219456" cy="0"/>
          </a:xfrm>
          <a:prstGeom prst="line">
            <a:avLst/>
          </a:prstGeom>
          <a:noFill/>
          <a:ln w="25400">
            <a:solidFill>
              <a:schemeClr val="accent1"/>
            </a:solidFill>
            <a:prstDash val="solid"/>
            <a:headEnd type="triangle"/>
            <a:tailEnd type="triangle"/>
          </a:ln>
        </p:spPr>
      </p:sp>
      <p:sp>
        <p:nvSpPr>
          <p:cNvPr id="16" name="Shape 12"/>
          <p:cNvSpPr/>
          <p:nvPr/>
        </p:nvSpPr>
        <p:spPr>
          <a:xfrm>
            <a:off x="8138160" y="1600200"/>
            <a:ext cx="3520440" cy="1188720"/>
          </a:xfrm>
          <a:prstGeom prst="roundRect">
            <a:avLst>
              <a:gd name="adj" fmla="val 9231"/>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7" name="Shape 13"/>
          <p:cNvSpPr/>
          <p:nvPr/>
        </p:nvSpPr>
        <p:spPr>
          <a:xfrm>
            <a:off x="8366760" y="1892808"/>
            <a:ext cx="566928" cy="566928"/>
          </a:xfrm>
          <a:prstGeom prst="ellipse">
            <a:avLst/>
          </a:prstGeom>
          <a:solidFill>
            <a:schemeClr val="tx2"/>
          </a:solidFill>
          <a:ln/>
        </p:spPr>
      </p:sp>
      <p:pic>
        <p:nvPicPr>
          <p:cNvPr id="18" name="Image 2" descr="preencoded.png">    </p:cNvPr>
          <p:cNvPicPr>
            <a:picLocks noChangeAspect="1"/>
          </p:cNvPicPr>
          <p:nvPr/>
        </p:nvPicPr>
        <p:blipFill>
          <a:blip r:embed="rId3"/>
          <a:stretch>
            <a:fillRect/>
          </a:stretch>
        </p:blipFill>
        <p:spPr>
          <a:xfrm>
            <a:off x="8508492" y="2034540"/>
            <a:ext cx="283464" cy="283464"/>
          </a:xfrm>
          <a:prstGeom prst="rect">
            <a:avLst/>
          </a:prstGeom>
        </p:spPr>
      </p:pic>
      <p:sp>
        <p:nvSpPr>
          <p:cNvPr id="19" name="Text 14"/>
          <p:cNvSpPr txBox="1"/>
          <p:nvPr/>
        </p:nvSpPr>
        <p:spPr>
          <a:xfrm>
            <a:off x="9098280" y="1755648"/>
            <a:ext cx="2423160" cy="320040"/>
          </a:xfrm>
          <a:prstGeom prst="rect">
            <a:avLst/>
          </a:prstGeom>
          <a:noFill/>
          <a:ln/>
        </p:spPr>
        <p:txBody>
          <a:bodyPr wrap="square" lIns="0" tIns="0" rIns="0" bIns="0" rtlCol="0" anchor="t"/>
          <a:lstStyle/>
          <a:p>
            <a:pPr indent="0" marL="0">
              <a:buNone/>
            </a:pPr>
            <a:r>
              <a:rPr lang="en-US" sz="1600" b="1" dirty="0">
                <a:solidFill>
                  <a:schemeClr val="tx2"/>
                </a:solidFill>
              </a:rPr>
              <a:t>Hệ thống nguồn</a:t>
            </a:r>
            <a:endParaRPr lang="en-US" sz="1600" dirty="0"/>
          </a:p>
        </p:txBody>
      </p:sp>
      <p:sp>
        <p:nvSpPr>
          <p:cNvPr id="20" name="Text 15"/>
          <p:cNvSpPr txBox="1"/>
          <p:nvPr/>
        </p:nvSpPr>
        <p:spPr>
          <a:xfrm>
            <a:off x="9098280" y="2103120"/>
            <a:ext cx="2423160" cy="594360"/>
          </a:xfrm>
          <a:prstGeom prst="rect">
            <a:avLst/>
          </a:prstGeom>
          <a:noFill/>
          <a:ln/>
        </p:spPr>
        <p:txBody>
          <a:bodyPr wrap="square" lIns="0" tIns="0" rIns="0" bIns="0" rtlCol="0" anchor="t"/>
          <a:lstStyle/>
          <a:p>
            <a:pPr indent="0" marL="0">
              <a:buNone/>
            </a:pPr>
            <a:r>
              <a:rPr lang="en-US" sz="1300" dirty="0">
                <a:solidFill>
                  <a:schemeClr val="accent4"/>
                </a:solidFill>
              </a:rPr>
              <a:t>SHA Gateway, dữ liệu thị trường: dữ liệu gốc ở lại đây</a:t>
            </a:r>
            <a:endParaRPr lang="en-US" sz="1300" dirty="0"/>
          </a:p>
        </p:txBody>
      </p:sp>
      <p:sp>
        <p:nvSpPr>
          <p:cNvPr id="21" name="Shape 16"/>
          <p:cNvSpPr/>
          <p:nvPr/>
        </p:nvSpPr>
        <p:spPr>
          <a:xfrm>
            <a:off x="548640" y="3063240"/>
            <a:ext cx="5440680" cy="3017520"/>
          </a:xfrm>
          <a:prstGeom prst="roundRect">
            <a:avLst>
              <a:gd name="adj" fmla="val 3636"/>
            </a:avLst>
          </a:prstGeom>
          <a:solidFill>
            <a:schemeClr val="bg2"/>
          </a:solidFill>
          <a:ln/>
        </p:spPr>
      </p:sp>
      <p:sp>
        <p:nvSpPr>
          <p:cNvPr id="22" name="Text 17"/>
          <p:cNvSpPr txBox="1"/>
          <p:nvPr/>
        </p:nvSpPr>
        <p:spPr>
          <a:xfrm>
            <a:off x="822960" y="3246120"/>
            <a:ext cx="4846320" cy="320040"/>
          </a:xfrm>
          <a:prstGeom prst="rect">
            <a:avLst/>
          </a:prstGeom>
          <a:noFill/>
          <a:ln/>
        </p:spPr>
        <p:txBody>
          <a:bodyPr wrap="square" lIns="0" tIns="0" rIns="0" bIns="0" rtlCol="0" anchor="t"/>
          <a:lstStyle/>
          <a:p>
            <a:pPr indent="0" marL="0">
              <a:buNone/>
            </a:pPr>
            <a:r>
              <a:rPr lang="en-US" sz="1500" b="1" spc="100" kern="0" dirty="0">
                <a:solidFill>
                  <a:schemeClr val="accent5"/>
                </a:solidFill>
              </a:rPr>
              <a:t>MCP LÀ</a:t>
            </a:r>
            <a:endParaRPr lang="en-US" sz="1500" dirty="0"/>
          </a:p>
        </p:txBody>
      </p:sp>
      <p:pic>
        <p:nvPicPr>
          <p:cNvPr id="23" name="Image 3" descr="preencoded.png">    </p:cNvPr>
          <p:cNvPicPr>
            <a:picLocks noChangeAspect="1"/>
          </p:cNvPicPr>
          <p:nvPr/>
        </p:nvPicPr>
        <p:blipFill>
          <a:blip r:embed="rId4"/>
          <a:stretch>
            <a:fillRect/>
          </a:stretch>
        </p:blipFill>
        <p:spPr>
          <a:xfrm>
            <a:off x="822960" y="3749040"/>
            <a:ext cx="237744" cy="237744"/>
          </a:xfrm>
          <a:prstGeom prst="rect">
            <a:avLst/>
          </a:prstGeom>
        </p:spPr>
      </p:pic>
      <p:sp>
        <p:nvSpPr>
          <p:cNvPr id="24" name="Text 18"/>
          <p:cNvSpPr txBox="1"/>
          <p:nvPr/>
        </p:nvSpPr>
        <p:spPr>
          <a:xfrm>
            <a:off x="1207008" y="3721608"/>
            <a:ext cx="4572000" cy="457200"/>
          </a:xfrm>
          <a:prstGeom prst="rect">
            <a:avLst/>
          </a:prstGeom>
          <a:noFill/>
          <a:ln/>
        </p:spPr>
        <p:txBody>
          <a:bodyPr wrap="square" lIns="0" tIns="0" rIns="0" bIns="0" rtlCol="0" anchor="t"/>
          <a:lstStyle/>
          <a:p>
            <a:pPr indent="0" marL="0">
              <a:buNone/>
            </a:pPr>
            <a:r>
              <a:rPr lang="en-US" sz="1400" dirty="0">
                <a:solidFill>
                  <a:schemeClr val="tx1"/>
                </a:solidFill>
              </a:rPr>
              <a:t>Giao thức chuẩn để AI gọi các “tool” được khai báo sẵn</a:t>
            </a:r>
            <a:endParaRPr lang="en-US" sz="1400" dirty="0"/>
          </a:p>
        </p:txBody>
      </p:sp>
      <p:pic>
        <p:nvPicPr>
          <p:cNvPr id="25" name="Image 4" descr="preencoded.png">    </p:cNvPr>
          <p:cNvPicPr>
            <a:picLocks noChangeAspect="1"/>
          </p:cNvPicPr>
          <p:nvPr/>
        </p:nvPicPr>
        <p:blipFill>
          <a:blip r:embed="rId5"/>
          <a:stretch>
            <a:fillRect/>
          </a:stretch>
        </p:blipFill>
        <p:spPr>
          <a:xfrm>
            <a:off x="822960" y="4315968"/>
            <a:ext cx="237744" cy="237744"/>
          </a:xfrm>
          <a:prstGeom prst="rect">
            <a:avLst/>
          </a:prstGeom>
        </p:spPr>
      </p:pic>
      <p:sp>
        <p:nvSpPr>
          <p:cNvPr id="26" name="Text 19"/>
          <p:cNvSpPr txBox="1"/>
          <p:nvPr/>
        </p:nvSpPr>
        <p:spPr>
          <a:xfrm>
            <a:off x="1207008" y="4288536"/>
            <a:ext cx="4572000" cy="457200"/>
          </a:xfrm>
          <a:prstGeom prst="rect">
            <a:avLst/>
          </a:prstGeom>
          <a:noFill/>
          <a:ln/>
        </p:spPr>
        <p:txBody>
          <a:bodyPr wrap="square" lIns="0" tIns="0" rIns="0" bIns="0" rtlCol="0" anchor="t"/>
          <a:lstStyle/>
          <a:p>
            <a:pPr indent="0" marL="0">
              <a:buNone/>
            </a:pPr>
            <a:r>
              <a:rPr lang="en-US" sz="1400" dirty="0">
                <a:solidFill>
                  <a:schemeClr val="tx1"/>
                </a:solidFill>
              </a:rPr>
              <a:t>Truy vấn theo yêu cầu: dữ liệu luôn mới nhất từ nguồn</a:t>
            </a:r>
            <a:endParaRPr lang="en-US" sz="1400" dirty="0"/>
          </a:p>
        </p:txBody>
      </p:sp>
      <p:pic>
        <p:nvPicPr>
          <p:cNvPr id="27" name="Image 5" descr="preencoded.png">    </p:cNvPr>
          <p:cNvPicPr>
            <a:picLocks noChangeAspect="1"/>
          </p:cNvPicPr>
          <p:nvPr/>
        </p:nvPicPr>
        <p:blipFill>
          <a:blip r:embed="rId6"/>
          <a:stretch>
            <a:fillRect/>
          </a:stretch>
        </p:blipFill>
        <p:spPr>
          <a:xfrm>
            <a:off x="822960" y="4882896"/>
            <a:ext cx="237744" cy="237744"/>
          </a:xfrm>
          <a:prstGeom prst="rect">
            <a:avLst/>
          </a:prstGeom>
        </p:spPr>
      </p:pic>
      <p:sp>
        <p:nvSpPr>
          <p:cNvPr id="28" name="Text 20"/>
          <p:cNvSpPr txBox="1"/>
          <p:nvPr/>
        </p:nvSpPr>
        <p:spPr>
          <a:xfrm>
            <a:off x="1207008" y="4855464"/>
            <a:ext cx="4572000" cy="457200"/>
          </a:xfrm>
          <a:prstGeom prst="rect">
            <a:avLst/>
          </a:prstGeom>
          <a:noFill/>
          <a:ln/>
        </p:spPr>
        <p:txBody>
          <a:bodyPr wrap="square" lIns="0" tIns="0" rIns="0" bIns="0" rtlCol="0" anchor="t"/>
          <a:lstStyle/>
          <a:p>
            <a:pPr indent="0" marL="0">
              <a:buNone/>
            </a:pPr>
            <a:r>
              <a:rPr lang="en-US" sz="1400" dirty="0">
                <a:solidFill>
                  <a:schemeClr val="tx1"/>
                </a:solidFill>
              </a:rPr>
              <a:t>Lớp kiểm soát: xác thực, phân quyền, giới hạn, ghi nhật ký</a:t>
            </a:r>
            <a:endParaRPr lang="en-US" sz="1400" dirty="0"/>
          </a:p>
        </p:txBody>
      </p:sp>
      <p:pic>
        <p:nvPicPr>
          <p:cNvPr id="29" name="Image 6" descr="preencoded.png">    </p:cNvPr>
          <p:cNvPicPr>
            <a:picLocks noChangeAspect="1"/>
          </p:cNvPicPr>
          <p:nvPr/>
        </p:nvPicPr>
        <p:blipFill>
          <a:blip r:embed="rId7"/>
          <a:stretch>
            <a:fillRect/>
          </a:stretch>
        </p:blipFill>
        <p:spPr>
          <a:xfrm>
            <a:off x="822960" y="5449824"/>
            <a:ext cx="237744" cy="237744"/>
          </a:xfrm>
          <a:prstGeom prst="rect">
            <a:avLst/>
          </a:prstGeom>
        </p:spPr>
      </p:pic>
      <p:sp>
        <p:nvSpPr>
          <p:cNvPr id="30" name="Text 21"/>
          <p:cNvSpPr txBox="1"/>
          <p:nvPr/>
        </p:nvSpPr>
        <p:spPr>
          <a:xfrm>
            <a:off x="1207008" y="5422392"/>
            <a:ext cx="4572000" cy="457200"/>
          </a:xfrm>
          <a:prstGeom prst="rect">
            <a:avLst/>
          </a:prstGeom>
          <a:noFill/>
          <a:ln/>
        </p:spPr>
        <p:txBody>
          <a:bodyPr wrap="square" lIns="0" tIns="0" rIns="0" bIns="0" rtlCol="0" anchor="t"/>
          <a:lstStyle/>
          <a:p>
            <a:pPr indent="0" marL="0">
              <a:buNone/>
            </a:pPr>
            <a:r>
              <a:rPr lang="en-US" sz="1400" dirty="0">
                <a:solidFill>
                  <a:schemeClr val="tx1"/>
                </a:solidFill>
              </a:rPr>
              <a:t>Dùng chung cho nhiều AI client, xây một lần</a:t>
            </a:r>
            <a:endParaRPr lang="en-US" sz="1400" dirty="0"/>
          </a:p>
        </p:txBody>
      </p:sp>
      <p:sp>
        <p:nvSpPr>
          <p:cNvPr id="31" name="Shape 22"/>
          <p:cNvSpPr/>
          <p:nvPr/>
        </p:nvSpPr>
        <p:spPr>
          <a:xfrm>
            <a:off x="6217920" y="3063240"/>
            <a:ext cx="5440680" cy="3017520"/>
          </a:xfrm>
          <a:prstGeom prst="roundRect">
            <a:avLst>
              <a:gd name="adj" fmla="val 3636"/>
            </a:avLst>
          </a:prstGeom>
          <a:solidFill>
            <a:schemeClr val="bg2"/>
          </a:solidFill>
          <a:ln/>
        </p:spPr>
      </p:sp>
      <p:sp>
        <p:nvSpPr>
          <p:cNvPr id="32" name="Text 23"/>
          <p:cNvSpPr txBox="1"/>
          <p:nvPr/>
        </p:nvSpPr>
        <p:spPr>
          <a:xfrm>
            <a:off x="6492240" y="3246120"/>
            <a:ext cx="4846320" cy="320040"/>
          </a:xfrm>
          <a:prstGeom prst="rect">
            <a:avLst/>
          </a:prstGeom>
          <a:noFill/>
          <a:ln/>
        </p:spPr>
        <p:txBody>
          <a:bodyPr wrap="square" lIns="0" tIns="0" rIns="0" bIns="0" rtlCol="0" anchor="t"/>
          <a:lstStyle/>
          <a:p>
            <a:pPr indent="0" marL="0">
              <a:buNone/>
            </a:pPr>
            <a:r>
              <a:rPr lang="en-US" sz="1500" b="1" spc="100" kern="0" dirty="0">
                <a:solidFill>
                  <a:schemeClr val="accent6"/>
                </a:solidFill>
              </a:rPr>
              <a:t>MCP KHÔNG PHẢI</a:t>
            </a:r>
            <a:endParaRPr lang="en-US" sz="1500" dirty="0"/>
          </a:p>
        </p:txBody>
      </p:sp>
      <p:pic>
        <p:nvPicPr>
          <p:cNvPr id="33" name="Image 7" descr="preencoded.png">    </p:cNvPr>
          <p:cNvPicPr>
            <a:picLocks noChangeAspect="1"/>
          </p:cNvPicPr>
          <p:nvPr/>
        </p:nvPicPr>
        <p:blipFill>
          <a:blip r:embed="rId8"/>
          <a:stretch>
            <a:fillRect/>
          </a:stretch>
        </p:blipFill>
        <p:spPr>
          <a:xfrm>
            <a:off x="6492240" y="3749040"/>
            <a:ext cx="237744" cy="237744"/>
          </a:xfrm>
          <a:prstGeom prst="rect">
            <a:avLst/>
          </a:prstGeom>
        </p:spPr>
      </p:pic>
      <p:sp>
        <p:nvSpPr>
          <p:cNvPr id="34" name="Text 24"/>
          <p:cNvSpPr txBox="1"/>
          <p:nvPr/>
        </p:nvSpPr>
        <p:spPr>
          <a:xfrm>
            <a:off x="6876288" y="3721608"/>
            <a:ext cx="4572000" cy="457200"/>
          </a:xfrm>
          <a:prstGeom prst="rect">
            <a:avLst/>
          </a:prstGeom>
          <a:noFill/>
          <a:ln/>
        </p:spPr>
        <p:txBody>
          <a:bodyPr wrap="square" lIns="0" tIns="0" rIns="0" bIns="0" rtlCol="0" anchor="t"/>
          <a:lstStyle/>
          <a:p>
            <a:pPr indent="0" marL="0">
              <a:buNone/>
            </a:pPr>
            <a:r>
              <a:rPr lang="en-US" sz="1400" dirty="0">
                <a:solidFill>
                  <a:schemeClr val="tx1"/>
                </a:solidFill>
              </a:rPr>
              <a:t>Không phải một mô hình AI hay chatbot mới</a:t>
            </a:r>
            <a:endParaRPr lang="en-US" sz="1400" dirty="0"/>
          </a:p>
        </p:txBody>
      </p:sp>
      <p:pic>
        <p:nvPicPr>
          <p:cNvPr id="35" name="Image 8" descr="preencoded.png">    </p:cNvPr>
          <p:cNvPicPr>
            <a:picLocks noChangeAspect="1"/>
          </p:cNvPicPr>
          <p:nvPr/>
        </p:nvPicPr>
        <p:blipFill>
          <a:blip r:embed="rId9"/>
          <a:stretch>
            <a:fillRect/>
          </a:stretch>
        </p:blipFill>
        <p:spPr>
          <a:xfrm>
            <a:off x="6492240" y="4315968"/>
            <a:ext cx="237744" cy="237744"/>
          </a:xfrm>
          <a:prstGeom prst="rect">
            <a:avLst/>
          </a:prstGeom>
        </p:spPr>
      </p:pic>
      <p:sp>
        <p:nvSpPr>
          <p:cNvPr id="36" name="Text 25"/>
          <p:cNvSpPr txBox="1"/>
          <p:nvPr/>
        </p:nvSpPr>
        <p:spPr>
          <a:xfrm>
            <a:off x="6876288" y="4288536"/>
            <a:ext cx="4572000" cy="457200"/>
          </a:xfrm>
          <a:prstGeom prst="rect">
            <a:avLst/>
          </a:prstGeom>
          <a:noFill/>
          <a:ln/>
        </p:spPr>
        <p:txBody>
          <a:bodyPr wrap="square" lIns="0" tIns="0" rIns="0" bIns="0" rtlCol="0" anchor="t"/>
          <a:lstStyle/>
          <a:p>
            <a:pPr indent="0" marL="0">
              <a:buNone/>
            </a:pPr>
            <a:r>
              <a:rPr lang="en-US" sz="1400" dirty="0">
                <a:solidFill>
                  <a:schemeClr val="tx1"/>
                </a:solidFill>
              </a:rPr>
              <a:t>Không sao chép database của SHS ra bên ngoài</a:t>
            </a:r>
            <a:endParaRPr lang="en-US" sz="1400" dirty="0"/>
          </a:p>
        </p:txBody>
      </p:sp>
      <p:pic>
        <p:nvPicPr>
          <p:cNvPr id="37" name="Image 9" descr="preencoded.png">    </p:cNvPr>
          <p:cNvPicPr>
            <a:picLocks noChangeAspect="1"/>
          </p:cNvPicPr>
          <p:nvPr/>
        </p:nvPicPr>
        <p:blipFill>
          <a:blip r:embed="rId10"/>
          <a:stretch>
            <a:fillRect/>
          </a:stretch>
        </p:blipFill>
        <p:spPr>
          <a:xfrm>
            <a:off x="6492240" y="4882896"/>
            <a:ext cx="237744" cy="237744"/>
          </a:xfrm>
          <a:prstGeom prst="rect">
            <a:avLst/>
          </a:prstGeom>
        </p:spPr>
      </p:pic>
      <p:sp>
        <p:nvSpPr>
          <p:cNvPr id="38" name="Text 26"/>
          <p:cNvSpPr txBox="1"/>
          <p:nvPr/>
        </p:nvSpPr>
        <p:spPr>
          <a:xfrm>
            <a:off x="6876288" y="4855464"/>
            <a:ext cx="4572000" cy="457200"/>
          </a:xfrm>
          <a:prstGeom prst="rect">
            <a:avLst/>
          </a:prstGeom>
          <a:noFill/>
          <a:ln/>
        </p:spPr>
        <p:txBody>
          <a:bodyPr wrap="square" lIns="0" tIns="0" rIns="0" bIns="0" rtlCol="0" anchor="t"/>
          <a:lstStyle/>
          <a:p>
            <a:pPr indent="0" marL="0">
              <a:buNone/>
            </a:pPr>
            <a:r>
              <a:rPr lang="en-US" sz="1400" dirty="0">
                <a:solidFill>
                  <a:schemeClr val="tx1"/>
                </a:solidFill>
              </a:rPr>
              <a:t>Không phải kho dữ liệu để huấn luyện AI</a:t>
            </a:r>
            <a:endParaRPr lang="en-US" sz="1400" dirty="0"/>
          </a:p>
        </p:txBody>
      </p:sp>
      <p:pic>
        <p:nvPicPr>
          <p:cNvPr id="39" name="Image 10" descr="preencoded.png">    </p:cNvPr>
          <p:cNvPicPr>
            <a:picLocks noChangeAspect="1"/>
          </p:cNvPicPr>
          <p:nvPr/>
        </p:nvPicPr>
        <p:blipFill>
          <a:blip r:embed="rId11"/>
          <a:stretch>
            <a:fillRect/>
          </a:stretch>
        </p:blipFill>
        <p:spPr>
          <a:xfrm>
            <a:off x="6492240" y="5449824"/>
            <a:ext cx="237744" cy="237744"/>
          </a:xfrm>
          <a:prstGeom prst="rect">
            <a:avLst/>
          </a:prstGeom>
        </p:spPr>
      </p:pic>
      <p:sp>
        <p:nvSpPr>
          <p:cNvPr id="40" name="Text 27"/>
          <p:cNvSpPr txBox="1"/>
          <p:nvPr/>
        </p:nvSpPr>
        <p:spPr>
          <a:xfrm>
            <a:off x="6876288" y="5422392"/>
            <a:ext cx="4572000" cy="457200"/>
          </a:xfrm>
          <a:prstGeom prst="rect">
            <a:avLst/>
          </a:prstGeom>
          <a:noFill/>
          <a:ln/>
        </p:spPr>
        <p:txBody>
          <a:bodyPr wrap="square" lIns="0" tIns="0" rIns="0" bIns="0" rtlCol="0" anchor="t"/>
          <a:lstStyle/>
          <a:p>
            <a:pPr indent="0" marL="0">
              <a:buNone/>
            </a:pPr>
            <a:r>
              <a:rPr lang="en-US" sz="1400" dirty="0">
                <a:solidFill>
                  <a:schemeClr val="tx1"/>
                </a:solidFill>
              </a:rPr>
              <a:t>Không cho AI truy cập tùy ý ngoài các tool đã khai báo</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02 · MCP LÀ GÌ</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So với cách cho AI tiếp cận dữ liệu truyền thống</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2148840"/>
                <a:gridCol w="2148840"/>
                <a:gridCol w="2148840"/>
                <a:gridCol w="2148840"/>
                <a:gridCol w="2514600"/>
              </a:tblGrid>
              <a:tr h="676656">
                <a:tc>
                  <a:txBody>
                    <a:bodyPr/>
                    <a:lstStyle/>
                    <a:p>
                      <a:pPr algn="ctr" indent="0" marL="0">
                        <a:buNone/>
                      </a:pPr>
                      <a:r>
                        <a:rPr lang="en-US" sz="1400" b="1" dirty="0">
                          <a:solidFill>
                            <a:schemeClr val="bg1"/>
                          </a:solidFill>
                        </a:rPr>
                        <a:t>Tiêu chí</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Copy‑paste / tải file</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Chatbot RAG tự xây</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API riêng cho từng AI</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MCP</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accent1"/>
                    </a:solidFill>
                  </a:tcPr>
                </a:tc>
              </a:tr>
              <a:tr h="676656">
                <a:tc>
                  <a:txBody>
                    <a:bodyPr/>
                    <a:lstStyle/>
                    <a:p>
                      <a:pPr indent="0" marL="0">
                        <a:buNone/>
                      </a:pPr>
                      <a:r>
                        <a:rPr lang="en-US" sz="1400" b="1" dirty="0">
                          <a:solidFill>
                            <a:schemeClr val="tx2"/>
                          </a:solidFill>
                        </a:rPr>
                        <a:t>Độ mới dữ liệu</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Theo lần copy, dễ cũ</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Theo lịch đồng bộ</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Thời gian thực</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b="1" dirty="0">
                          <a:solidFill>
                            <a:schemeClr val="tx2"/>
                          </a:solidFill>
                        </a:rPr>
                        <a:t>Thời gian thực, khi được hỏi</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1E8"/>
                    </a:solidFill>
                  </a:tcPr>
                </a:tc>
              </a:tr>
              <a:tr h="676656">
                <a:tc>
                  <a:txBody>
                    <a:bodyPr/>
                    <a:lstStyle/>
                    <a:p>
                      <a:pPr indent="0" marL="0">
                        <a:buNone/>
                      </a:pPr>
                      <a:r>
                        <a:rPr lang="en-US" sz="1400" b="1" dirty="0">
                          <a:solidFill>
                            <a:schemeClr val="tx2"/>
                          </a:solidFill>
                        </a:rPr>
                        <a:t>Phân quyền theo người</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Không có</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Phải tự xây</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Tùy từng tích hợp</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b="1" dirty="0">
                          <a:solidFill>
                            <a:schemeClr val="tx2"/>
                          </a:solidFill>
                        </a:rPr>
                        <a:t>Đúng quyền của chính người dùng</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1E8"/>
                    </a:solidFill>
                  </a:tcPr>
                </a:tc>
              </a:tr>
              <a:tr h="676656">
                <a:tc>
                  <a:txBody>
                    <a:bodyPr/>
                    <a:lstStyle/>
                    <a:p>
                      <a:pPr indent="0" marL="0">
                        <a:buNone/>
                      </a:pPr>
                      <a:r>
                        <a:rPr lang="en-US" sz="1400" b="1" dirty="0">
                          <a:solidFill>
                            <a:schemeClr val="tx2"/>
                          </a:solidFill>
                        </a:rPr>
                        <a:t>Công sức tích hợp</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Tốn công từng người</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Cao, cần đội ngũ</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Lặp lại cho mỗi AI</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b="1" dirty="0">
                          <a:solidFill>
                            <a:schemeClr val="tx2"/>
                          </a:solidFill>
                        </a:rPr>
                        <a:t>Một lần cho mỗi hệ thống</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1E8"/>
                    </a:solidFill>
                  </a:tcPr>
                </a:tc>
              </a:tr>
              <a:tr h="676656">
                <a:tc>
                  <a:txBody>
                    <a:bodyPr/>
                    <a:lstStyle/>
                    <a:p>
                      <a:pPr indent="0" marL="0">
                        <a:buNone/>
                      </a:pPr>
                      <a:r>
                        <a:rPr lang="en-US" sz="1400" b="1" dirty="0">
                          <a:solidFill>
                            <a:schemeClr val="tx2"/>
                          </a:solidFill>
                        </a:rPr>
                        <a:t>Dùng với nhiều AI</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Có, nhưng thủ công</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Gắn với một ứng dụng</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Không</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b="1" dirty="0">
                          <a:solidFill>
                            <a:schemeClr val="tx2"/>
                          </a:solidFill>
                        </a:rPr>
                        <a:t>Claude, ChatGPT, …</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1E8"/>
                    </a:solidFill>
                  </a:tcPr>
                </a:tc>
              </a:tr>
              <a:tr h="676656">
                <a:tc>
                  <a:txBody>
                    <a:bodyPr/>
                    <a:lstStyle/>
                    <a:p>
                      <a:pPr indent="0" marL="0">
                        <a:buNone/>
                      </a:pPr>
                      <a:r>
                        <a:rPr lang="en-US" sz="1400" b="1" dirty="0">
                          <a:solidFill>
                            <a:schemeClr val="tx2"/>
                          </a:solidFill>
                        </a:rPr>
                        <a:t>Kiểm soát, truy vết</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Không</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Tự xây</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Rải rác</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chemeClr val="bg1"/>
                    </a:solidFill>
                  </a:tcPr>
                </a:tc>
                <a:tc>
                  <a:txBody>
                    <a:bodyPr/>
                    <a:lstStyle/>
                    <a:p>
                      <a:pPr indent="0" marL="0">
                        <a:buNone/>
                      </a:pPr>
                      <a:r>
                        <a:rPr lang="en-US" sz="1400" b="1" dirty="0">
                          <a:solidFill>
                            <a:schemeClr val="tx2"/>
                          </a:solidFill>
                        </a:rPr>
                        <a:t>Tập trung tại MCP server</a:t>
                      </a:r>
                      <a:endParaRPr lang="en-US" sz="1400" dirty="0"/>
                    </a:p>
                  </a:txBody>
                  <a:tcPr marL="109728" marR="109728" marT="45720" marB="45720" anchor="ctr">
                    <a:lnL w="9525" cap="flat" cmpd="sng" algn="ctr">
                      <a:solidFill>
                        <a:srgbClr val="DCE3EF"/>
                      </a:solidFill>
                      <a:prstDash val="solid"/>
                      <a:round/>
                      <a:headEnd type="none" w="med" len="med"/>
                      <a:tailEnd type="none" w="med" len="med"/>
                    </a:lnL>
                    <a:lnR w="9525" cap="flat" cmpd="sng" algn="ctr">
                      <a:solidFill>
                        <a:srgbClr val="DCE3EF"/>
                      </a:solidFill>
                      <a:prstDash val="solid"/>
                      <a:round/>
                      <a:headEnd type="none" w="med" len="med"/>
                      <a:tailEnd type="none" w="med" len="med"/>
                    </a:lnR>
                    <a:lnT w="9525" cap="flat" cmpd="sng" algn="ctr">
                      <a:solidFill>
                        <a:srgbClr val="DCE3EF"/>
                      </a:solidFill>
                      <a:prstDash val="solid"/>
                      <a:round/>
                      <a:headEnd type="none" w="med" len="med"/>
                      <a:tailEnd type="none" w="med" len="med"/>
                    </a:lnT>
                    <a:lnB w="9525" cap="flat" cmpd="sng" algn="ctr">
                      <a:solidFill>
                        <a:srgbClr val="DCE3EF"/>
                      </a:solidFill>
                      <a:prstDash val="solid"/>
                      <a:round/>
                      <a:headEnd type="none" w="med" len="med"/>
                      <a:tailEnd type="none" w="med" len="med"/>
                    </a:lnB>
                    <a:solidFill>
                      <a:srgbClr val="FFF1E8"/>
                    </a:solidFill>
                  </a:tcPr>
                </a:tc>
              </a:tr>
            </a:tbl>
          </a:graphicData>
        </a:graphic>
      </p:graphicFrame>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02 · MCP LÀ GÌ</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Workflow: một câu hỏi đi qua MCP như thế nào</a:t>
            </a:r>
            <a:endParaRPr lang="en-US" sz="3000" dirty="0"/>
          </a:p>
        </p:txBody>
      </p:sp>
      <p:sp>
        <p:nvSpPr>
          <p:cNvPr id="4" name="Shape 2"/>
          <p:cNvSpPr/>
          <p:nvPr/>
        </p:nvSpPr>
        <p:spPr>
          <a:xfrm>
            <a:off x="548640" y="1737360"/>
            <a:ext cx="1691640" cy="3200400"/>
          </a:xfrm>
          <a:prstGeom prst="roundRect">
            <a:avLst>
              <a:gd name="adj" fmla="val 6486"/>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5" name="Text 3"/>
          <p:cNvSpPr txBox="1"/>
          <p:nvPr/>
        </p:nvSpPr>
        <p:spPr>
          <a:xfrm>
            <a:off x="685800" y="1901952"/>
            <a:ext cx="1417320" cy="274320"/>
          </a:xfrm>
          <a:prstGeom prst="roundRect">
            <a:avLst>
              <a:gd name="adj" fmla="val 26667"/>
            </a:avLst>
          </a:prstGeom>
          <a:solidFill>
            <a:schemeClr val="accent4"/>
          </a:solidFill>
          <a:ln/>
        </p:spPr>
        <p:txBody>
          <a:bodyPr wrap="square" lIns="0" tIns="0" rIns="0" bIns="0" rtlCol="0" anchor="ctr"/>
          <a:lstStyle/>
          <a:p>
            <a:pPr algn="ctr" indent="0" marL="0">
              <a:buNone/>
            </a:pPr>
            <a:r>
              <a:rPr lang="en-US" sz="1100" b="1" dirty="0">
                <a:solidFill>
                  <a:schemeClr val="bg1"/>
                </a:solidFill>
              </a:rPr>
              <a:t>Người dùng</a:t>
            </a:r>
            <a:endParaRPr lang="en-US" sz="1100" dirty="0"/>
          </a:p>
        </p:txBody>
      </p:sp>
      <p:sp>
        <p:nvSpPr>
          <p:cNvPr id="6" name="Text 4"/>
          <p:cNvSpPr txBox="1"/>
          <p:nvPr/>
        </p:nvSpPr>
        <p:spPr>
          <a:xfrm>
            <a:off x="713232" y="2331720"/>
            <a:ext cx="1371600" cy="50292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7" name="Text 5"/>
          <p:cNvSpPr txBox="1"/>
          <p:nvPr/>
        </p:nvSpPr>
        <p:spPr>
          <a:xfrm>
            <a:off x="713232" y="2926080"/>
            <a:ext cx="1417320" cy="640080"/>
          </a:xfrm>
          <a:prstGeom prst="rect">
            <a:avLst/>
          </a:prstGeom>
          <a:noFill/>
          <a:ln/>
        </p:spPr>
        <p:txBody>
          <a:bodyPr wrap="square" lIns="0" tIns="0" rIns="0" bIns="0" rtlCol="0" anchor="t"/>
          <a:lstStyle/>
          <a:p>
            <a:pPr indent="0" marL="0">
              <a:buNone/>
            </a:pPr>
            <a:r>
              <a:rPr lang="en-US" sz="1500" b="1" dirty="0">
                <a:solidFill>
                  <a:schemeClr val="tx2"/>
                </a:solidFill>
              </a:rPr>
              <a:t>Đặt câu hỏi</a:t>
            </a:r>
            <a:endParaRPr lang="en-US" sz="1500" dirty="0"/>
          </a:p>
        </p:txBody>
      </p:sp>
      <p:sp>
        <p:nvSpPr>
          <p:cNvPr id="8" name="Text 6"/>
          <p:cNvSpPr txBox="1"/>
          <p:nvPr/>
        </p:nvSpPr>
        <p:spPr>
          <a:xfrm>
            <a:off x="713232" y="3611880"/>
            <a:ext cx="1417320" cy="1234440"/>
          </a:xfrm>
          <a:prstGeom prst="rect">
            <a:avLst/>
          </a:prstGeom>
          <a:noFill/>
          <a:ln/>
        </p:spPr>
        <p:txBody>
          <a:bodyPr wrap="square" lIns="0" tIns="0" rIns="0" bIns="0" rtlCol="0" anchor="t"/>
          <a:lstStyle/>
          <a:p>
            <a:pPr indent="0" marL="0">
              <a:buNone/>
            </a:pPr>
            <a:r>
              <a:rPr lang="en-US" sz="1400" dirty="0">
                <a:solidFill>
                  <a:schemeClr val="tx1"/>
                </a:solidFill>
              </a:rPr>
              <a:t>“KH nào của tôi đang bị call margin?”</a:t>
            </a:r>
            <a:endParaRPr lang="en-US" sz="1400" dirty="0"/>
          </a:p>
        </p:txBody>
      </p:sp>
      <p:sp>
        <p:nvSpPr>
          <p:cNvPr id="9" name="Shape 7"/>
          <p:cNvSpPr/>
          <p:nvPr/>
        </p:nvSpPr>
        <p:spPr>
          <a:xfrm>
            <a:off x="2157984" y="2395728"/>
            <a:ext cx="347472" cy="347472"/>
          </a:xfrm>
          <a:prstGeom prst="ellipse">
            <a:avLst/>
          </a:prstGeom>
          <a:solidFill>
            <a:schemeClr val="bg1"/>
          </a:solidFill>
          <a:ln w="15875">
            <a:solidFill>
              <a:schemeClr val="accent1"/>
            </a:solidFill>
            <a:prstDash val="solid"/>
          </a:ln>
        </p:spPr>
      </p:sp>
      <p:pic>
        <p:nvPicPr>
          <p:cNvPr id="10" name="Image 0" descr="preencoded.png">    </p:cNvPr>
          <p:cNvPicPr>
            <a:picLocks noChangeAspect="1"/>
          </p:cNvPicPr>
          <p:nvPr/>
        </p:nvPicPr>
        <p:blipFill>
          <a:blip r:embed="rId1"/>
          <a:stretch>
            <a:fillRect/>
          </a:stretch>
        </p:blipFill>
        <p:spPr>
          <a:xfrm>
            <a:off x="2249424" y="2487168"/>
            <a:ext cx="164592" cy="164592"/>
          </a:xfrm>
          <a:prstGeom prst="rect">
            <a:avLst/>
          </a:prstGeom>
        </p:spPr>
      </p:pic>
      <p:sp>
        <p:nvSpPr>
          <p:cNvPr id="11" name="Shape 8"/>
          <p:cNvSpPr/>
          <p:nvPr/>
        </p:nvSpPr>
        <p:spPr>
          <a:xfrm>
            <a:off x="2432304" y="1737360"/>
            <a:ext cx="1691640" cy="3200400"/>
          </a:xfrm>
          <a:prstGeom prst="roundRect">
            <a:avLst>
              <a:gd name="adj" fmla="val 6486"/>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2" name="Text 9"/>
          <p:cNvSpPr txBox="1"/>
          <p:nvPr/>
        </p:nvSpPr>
        <p:spPr>
          <a:xfrm>
            <a:off x="2569464" y="1901952"/>
            <a:ext cx="1417320" cy="274320"/>
          </a:xfrm>
          <a:prstGeom prst="roundRect">
            <a:avLst>
              <a:gd name="adj" fmla="val 26667"/>
            </a:avLst>
          </a:prstGeom>
          <a:solidFill>
            <a:schemeClr val="accent2"/>
          </a:solidFill>
          <a:ln/>
        </p:spPr>
        <p:txBody>
          <a:bodyPr wrap="square" lIns="0" tIns="0" rIns="0" bIns="0" rtlCol="0" anchor="ctr"/>
          <a:lstStyle/>
          <a:p>
            <a:pPr algn="ctr" indent="0" marL="0">
              <a:buNone/>
            </a:pPr>
            <a:r>
              <a:rPr lang="en-US" sz="1100" b="1" dirty="0">
                <a:solidFill>
                  <a:schemeClr val="bg1"/>
                </a:solidFill>
              </a:rPr>
              <a:t>AI client</a:t>
            </a:r>
            <a:endParaRPr lang="en-US" sz="1100" dirty="0"/>
          </a:p>
        </p:txBody>
      </p:sp>
      <p:sp>
        <p:nvSpPr>
          <p:cNvPr id="13" name="Text 10"/>
          <p:cNvSpPr txBox="1"/>
          <p:nvPr/>
        </p:nvSpPr>
        <p:spPr>
          <a:xfrm>
            <a:off x="2596896" y="2331720"/>
            <a:ext cx="1371600" cy="50292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14" name="Text 11"/>
          <p:cNvSpPr txBox="1"/>
          <p:nvPr/>
        </p:nvSpPr>
        <p:spPr>
          <a:xfrm>
            <a:off x="2596896" y="2926080"/>
            <a:ext cx="1417320" cy="640080"/>
          </a:xfrm>
          <a:prstGeom prst="rect">
            <a:avLst/>
          </a:prstGeom>
          <a:noFill/>
          <a:ln/>
        </p:spPr>
        <p:txBody>
          <a:bodyPr wrap="square" lIns="0" tIns="0" rIns="0" bIns="0" rtlCol="0" anchor="t"/>
          <a:lstStyle/>
          <a:p>
            <a:pPr indent="0" marL="0">
              <a:buNone/>
            </a:pPr>
            <a:r>
              <a:rPr lang="en-US" sz="1500" b="1" dirty="0">
                <a:solidFill>
                  <a:schemeClr val="tx2"/>
                </a:solidFill>
              </a:rPr>
              <a:t>Chọn tool phù hợp</a:t>
            </a:r>
            <a:endParaRPr lang="en-US" sz="1500" dirty="0"/>
          </a:p>
        </p:txBody>
      </p:sp>
      <p:sp>
        <p:nvSpPr>
          <p:cNvPr id="15" name="Text 12"/>
          <p:cNvSpPr txBox="1"/>
          <p:nvPr/>
        </p:nvSpPr>
        <p:spPr>
          <a:xfrm>
            <a:off x="2596896" y="3611880"/>
            <a:ext cx="1417320" cy="1234440"/>
          </a:xfrm>
          <a:prstGeom prst="rect">
            <a:avLst/>
          </a:prstGeom>
          <a:noFill/>
          <a:ln/>
        </p:spPr>
        <p:txBody>
          <a:bodyPr wrap="square" lIns="0" tIns="0" rIns="0" bIns="0" rtlCol="0" anchor="t"/>
          <a:lstStyle/>
          <a:p>
            <a:pPr indent="0" marL="0">
              <a:buNone/>
            </a:pPr>
            <a:r>
              <a:rPr lang="en-US" sz="1400" dirty="0">
                <a:solidFill>
                  <a:schemeClr val="tx1"/>
                </a:solidFill>
              </a:rPr>
              <a:t>Hiểu ý định, gọi get_credit_risk</a:t>
            </a:r>
            <a:endParaRPr lang="en-US" sz="1400" dirty="0"/>
          </a:p>
        </p:txBody>
      </p:sp>
      <p:sp>
        <p:nvSpPr>
          <p:cNvPr id="16" name="Shape 13"/>
          <p:cNvSpPr/>
          <p:nvPr/>
        </p:nvSpPr>
        <p:spPr>
          <a:xfrm>
            <a:off x="4041648" y="2395728"/>
            <a:ext cx="347472" cy="347472"/>
          </a:xfrm>
          <a:prstGeom prst="ellipse">
            <a:avLst/>
          </a:prstGeom>
          <a:solidFill>
            <a:schemeClr val="bg1"/>
          </a:solidFill>
          <a:ln w="15875">
            <a:solidFill>
              <a:schemeClr val="accent1"/>
            </a:solidFill>
            <a:prstDash val="solid"/>
          </a:ln>
        </p:spPr>
      </p:sp>
      <p:pic>
        <p:nvPicPr>
          <p:cNvPr id="17" name="Image 1" descr="preencoded.png">    </p:cNvPr>
          <p:cNvPicPr>
            <a:picLocks noChangeAspect="1"/>
          </p:cNvPicPr>
          <p:nvPr/>
        </p:nvPicPr>
        <p:blipFill>
          <a:blip r:embed="rId2"/>
          <a:stretch>
            <a:fillRect/>
          </a:stretch>
        </p:blipFill>
        <p:spPr>
          <a:xfrm>
            <a:off x="4133088" y="2487168"/>
            <a:ext cx="164592" cy="164592"/>
          </a:xfrm>
          <a:prstGeom prst="rect">
            <a:avLst/>
          </a:prstGeom>
        </p:spPr>
      </p:pic>
      <p:sp>
        <p:nvSpPr>
          <p:cNvPr id="18" name="Shape 14"/>
          <p:cNvSpPr/>
          <p:nvPr/>
        </p:nvSpPr>
        <p:spPr>
          <a:xfrm>
            <a:off x="4315968" y="1737360"/>
            <a:ext cx="1691640" cy="3200400"/>
          </a:xfrm>
          <a:prstGeom prst="roundRect">
            <a:avLst>
              <a:gd name="adj" fmla="val 6486"/>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9" name="Text 15"/>
          <p:cNvSpPr txBox="1"/>
          <p:nvPr/>
        </p:nvSpPr>
        <p:spPr>
          <a:xfrm>
            <a:off x="4453128" y="1901952"/>
            <a:ext cx="141732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SHA MCP</a:t>
            </a:r>
            <a:endParaRPr lang="en-US" sz="1100" dirty="0"/>
          </a:p>
        </p:txBody>
      </p:sp>
      <p:sp>
        <p:nvSpPr>
          <p:cNvPr id="20" name="Text 16"/>
          <p:cNvSpPr txBox="1"/>
          <p:nvPr/>
        </p:nvSpPr>
        <p:spPr>
          <a:xfrm>
            <a:off x="4480560" y="2331720"/>
            <a:ext cx="1371600" cy="50292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sp>
        <p:nvSpPr>
          <p:cNvPr id="21" name="Text 17"/>
          <p:cNvSpPr txBox="1"/>
          <p:nvPr/>
        </p:nvSpPr>
        <p:spPr>
          <a:xfrm>
            <a:off x="4480560" y="2926080"/>
            <a:ext cx="1417320" cy="640080"/>
          </a:xfrm>
          <a:prstGeom prst="rect">
            <a:avLst/>
          </a:prstGeom>
          <a:noFill/>
          <a:ln/>
        </p:spPr>
        <p:txBody>
          <a:bodyPr wrap="square" lIns="0" tIns="0" rIns="0" bIns="0" rtlCol="0" anchor="t"/>
          <a:lstStyle/>
          <a:p>
            <a:pPr indent="0" marL="0">
              <a:buNone/>
            </a:pPr>
            <a:r>
              <a:rPr lang="en-US" sz="1500" b="1" dirty="0">
                <a:solidFill>
                  <a:schemeClr val="tx2"/>
                </a:solidFill>
              </a:rPr>
              <a:t>Kiểm tra quyền</a:t>
            </a:r>
            <a:endParaRPr lang="en-US" sz="1500" dirty="0"/>
          </a:p>
        </p:txBody>
      </p:sp>
      <p:sp>
        <p:nvSpPr>
          <p:cNvPr id="22" name="Text 18"/>
          <p:cNvSpPr txBox="1"/>
          <p:nvPr/>
        </p:nvSpPr>
        <p:spPr>
          <a:xfrm>
            <a:off x="4480560" y="3611880"/>
            <a:ext cx="1417320" cy="1234440"/>
          </a:xfrm>
          <a:prstGeom prst="rect">
            <a:avLst/>
          </a:prstGeom>
          <a:noFill/>
          <a:ln/>
        </p:spPr>
        <p:txBody>
          <a:bodyPr wrap="square" lIns="0" tIns="0" rIns="0" bIns="0" rtlCol="0" anchor="t"/>
          <a:lstStyle/>
          <a:p>
            <a:pPr indent="0" marL="0">
              <a:buNone/>
            </a:pPr>
            <a:r>
              <a:rPr lang="en-US" sz="1400" dirty="0">
                <a:solidFill>
                  <a:schemeClr val="tx1"/>
                </a:solidFill>
              </a:rPr>
              <a:t>Token, phạm vi, tài khoản được phép</a:t>
            </a:r>
            <a:endParaRPr lang="en-US" sz="1400" dirty="0"/>
          </a:p>
        </p:txBody>
      </p:sp>
      <p:sp>
        <p:nvSpPr>
          <p:cNvPr id="23" name="Shape 19"/>
          <p:cNvSpPr/>
          <p:nvPr/>
        </p:nvSpPr>
        <p:spPr>
          <a:xfrm>
            <a:off x="5925312" y="2395728"/>
            <a:ext cx="347472" cy="347472"/>
          </a:xfrm>
          <a:prstGeom prst="ellipse">
            <a:avLst/>
          </a:prstGeom>
          <a:solidFill>
            <a:schemeClr val="bg1"/>
          </a:solidFill>
          <a:ln w="15875">
            <a:solidFill>
              <a:schemeClr val="accent1"/>
            </a:solidFill>
            <a:prstDash val="solid"/>
          </a:ln>
        </p:spPr>
      </p:sp>
      <p:pic>
        <p:nvPicPr>
          <p:cNvPr id="24" name="Image 2" descr="preencoded.png">    </p:cNvPr>
          <p:cNvPicPr>
            <a:picLocks noChangeAspect="1"/>
          </p:cNvPicPr>
          <p:nvPr/>
        </p:nvPicPr>
        <p:blipFill>
          <a:blip r:embed="rId3"/>
          <a:stretch>
            <a:fillRect/>
          </a:stretch>
        </p:blipFill>
        <p:spPr>
          <a:xfrm>
            <a:off x="6016752" y="2487168"/>
            <a:ext cx="164592" cy="164592"/>
          </a:xfrm>
          <a:prstGeom prst="rect">
            <a:avLst/>
          </a:prstGeom>
        </p:spPr>
      </p:pic>
      <p:sp>
        <p:nvSpPr>
          <p:cNvPr id="25" name="Shape 20"/>
          <p:cNvSpPr/>
          <p:nvPr/>
        </p:nvSpPr>
        <p:spPr>
          <a:xfrm>
            <a:off x="6199632" y="1737360"/>
            <a:ext cx="1691640" cy="3200400"/>
          </a:xfrm>
          <a:prstGeom prst="roundRect">
            <a:avLst>
              <a:gd name="adj" fmla="val 6486"/>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26" name="Text 21"/>
          <p:cNvSpPr txBox="1"/>
          <p:nvPr/>
        </p:nvSpPr>
        <p:spPr>
          <a:xfrm>
            <a:off x="6336792" y="1901952"/>
            <a:ext cx="1417320" cy="274320"/>
          </a:xfrm>
          <a:prstGeom prst="roundRect">
            <a:avLst>
              <a:gd name="adj" fmla="val 26667"/>
            </a:avLst>
          </a:prstGeom>
          <a:solidFill>
            <a:schemeClr val="tx2"/>
          </a:solidFill>
          <a:ln/>
        </p:spPr>
        <p:txBody>
          <a:bodyPr wrap="square" lIns="0" tIns="0" rIns="0" bIns="0" rtlCol="0" anchor="ctr"/>
          <a:lstStyle/>
          <a:p>
            <a:pPr algn="ctr" indent="0" marL="0">
              <a:buNone/>
            </a:pPr>
            <a:r>
              <a:rPr lang="en-US" sz="1100" b="1" dirty="0">
                <a:solidFill>
                  <a:schemeClr val="bg1"/>
                </a:solidFill>
              </a:rPr>
              <a:t>SHA Gateway</a:t>
            </a:r>
            <a:endParaRPr lang="en-US" sz="1100" dirty="0"/>
          </a:p>
        </p:txBody>
      </p:sp>
      <p:sp>
        <p:nvSpPr>
          <p:cNvPr id="27" name="Text 22"/>
          <p:cNvSpPr txBox="1"/>
          <p:nvPr/>
        </p:nvSpPr>
        <p:spPr>
          <a:xfrm>
            <a:off x="6364224" y="2331720"/>
            <a:ext cx="1371600" cy="502920"/>
          </a:xfrm>
          <a:prstGeom prst="rect">
            <a:avLst/>
          </a:prstGeom>
          <a:noFill/>
          <a:ln/>
        </p:spPr>
        <p:txBody>
          <a:bodyPr wrap="square" lIns="0" tIns="0" rIns="0" bIns="0" rtlCol="0" anchor="t"/>
          <a:lstStyle/>
          <a:p>
            <a:pPr indent="0" marL="0">
              <a:buNone/>
            </a:pPr>
            <a:r>
              <a:rPr lang="en-US" sz="3000" b="1" dirty="0">
                <a:solidFill>
                  <a:schemeClr val="accent1"/>
                </a:solidFill>
              </a:rPr>
              <a:t>04</a:t>
            </a:r>
            <a:endParaRPr lang="en-US" sz="3000" dirty="0"/>
          </a:p>
        </p:txBody>
      </p:sp>
      <p:sp>
        <p:nvSpPr>
          <p:cNvPr id="28" name="Text 23"/>
          <p:cNvSpPr txBox="1"/>
          <p:nvPr/>
        </p:nvSpPr>
        <p:spPr>
          <a:xfrm>
            <a:off x="6364224" y="2926080"/>
            <a:ext cx="1417320" cy="640080"/>
          </a:xfrm>
          <a:prstGeom prst="rect">
            <a:avLst/>
          </a:prstGeom>
          <a:noFill/>
          <a:ln/>
        </p:spPr>
        <p:txBody>
          <a:bodyPr wrap="square" lIns="0" tIns="0" rIns="0" bIns="0" rtlCol="0" anchor="t"/>
          <a:lstStyle/>
          <a:p>
            <a:pPr indent="0" marL="0">
              <a:buNone/>
            </a:pPr>
            <a:r>
              <a:rPr lang="en-US" sz="1500" b="1" dirty="0">
                <a:solidFill>
                  <a:schemeClr val="tx2"/>
                </a:solidFill>
              </a:rPr>
              <a:t>Lấy dữ liệu gốc</a:t>
            </a:r>
            <a:endParaRPr lang="en-US" sz="1500" dirty="0"/>
          </a:p>
        </p:txBody>
      </p:sp>
      <p:sp>
        <p:nvSpPr>
          <p:cNvPr id="29" name="Text 24"/>
          <p:cNvSpPr txBox="1"/>
          <p:nvPr/>
        </p:nvSpPr>
        <p:spPr>
          <a:xfrm>
            <a:off x="6364224" y="3611880"/>
            <a:ext cx="1417320" cy="1234440"/>
          </a:xfrm>
          <a:prstGeom prst="rect">
            <a:avLst/>
          </a:prstGeom>
          <a:noFill/>
          <a:ln/>
        </p:spPr>
        <p:txBody>
          <a:bodyPr wrap="square" lIns="0" tIns="0" rIns="0" bIns="0" rtlCol="0" anchor="t"/>
          <a:lstStyle/>
          <a:p>
            <a:pPr indent="0" marL="0">
              <a:buNone/>
            </a:pPr>
            <a:r>
              <a:rPr lang="en-US" sz="1400" dirty="0">
                <a:solidFill>
                  <a:schemeClr val="tx1"/>
                </a:solidFill>
              </a:rPr>
              <a:t>Bằng phiên đăng nhập của chính người dùng</a:t>
            </a:r>
            <a:endParaRPr lang="en-US" sz="1400" dirty="0"/>
          </a:p>
        </p:txBody>
      </p:sp>
      <p:sp>
        <p:nvSpPr>
          <p:cNvPr id="30" name="Shape 25"/>
          <p:cNvSpPr/>
          <p:nvPr/>
        </p:nvSpPr>
        <p:spPr>
          <a:xfrm>
            <a:off x="7808976" y="2395728"/>
            <a:ext cx="347472" cy="347472"/>
          </a:xfrm>
          <a:prstGeom prst="ellipse">
            <a:avLst/>
          </a:prstGeom>
          <a:solidFill>
            <a:schemeClr val="bg1"/>
          </a:solidFill>
          <a:ln w="15875">
            <a:solidFill>
              <a:schemeClr val="accent1"/>
            </a:solidFill>
            <a:prstDash val="solid"/>
          </a:ln>
        </p:spPr>
      </p:sp>
      <p:pic>
        <p:nvPicPr>
          <p:cNvPr id="31" name="Image 3" descr="preencoded.png">    </p:cNvPr>
          <p:cNvPicPr>
            <a:picLocks noChangeAspect="1"/>
          </p:cNvPicPr>
          <p:nvPr/>
        </p:nvPicPr>
        <p:blipFill>
          <a:blip r:embed="rId4"/>
          <a:stretch>
            <a:fillRect/>
          </a:stretch>
        </p:blipFill>
        <p:spPr>
          <a:xfrm>
            <a:off x="7900416" y="2487168"/>
            <a:ext cx="164592" cy="164592"/>
          </a:xfrm>
          <a:prstGeom prst="rect">
            <a:avLst/>
          </a:prstGeom>
        </p:spPr>
      </p:pic>
      <p:sp>
        <p:nvSpPr>
          <p:cNvPr id="32" name="Shape 26"/>
          <p:cNvSpPr/>
          <p:nvPr/>
        </p:nvSpPr>
        <p:spPr>
          <a:xfrm>
            <a:off x="8083296" y="1737360"/>
            <a:ext cx="1691640" cy="3200400"/>
          </a:xfrm>
          <a:prstGeom prst="roundRect">
            <a:avLst>
              <a:gd name="adj" fmla="val 6486"/>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33" name="Text 27"/>
          <p:cNvSpPr txBox="1"/>
          <p:nvPr/>
        </p:nvSpPr>
        <p:spPr>
          <a:xfrm>
            <a:off x="8220456" y="1901952"/>
            <a:ext cx="1417320" cy="274320"/>
          </a:xfrm>
          <a:prstGeom prst="roundRect">
            <a:avLst>
              <a:gd name="adj" fmla="val 26667"/>
            </a:avLst>
          </a:prstGeom>
          <a:solidFill>
            <a:schemeClr val="accent1"/>
          </a:solidFill>
          <a:ln/>
        </p:spPr>
        <p:txBody>
          <a:bodyPr wrap="square" lIns="0" tIns="0" rIns="0" bIns="0" rtlCol="0" anchor="ctr"/>
          <a:lstStyle/>
          <a:p>
            <a:pPr algn="ctr" indent="0" marL="0">
              <a:buNone/>
            </a:pPr>
            <a:r>
              <a:rPr lang="en-US" sz="1100" b="1" dirty="0">
                <a:solidFill>
                  <a:schemeClr val="bg1"/>
                </a:solidFill>
              </a:rPr>
              <a:t>SHA MCP</a:t>
            </a:r>
            <a:endParaRPr lang="en-US" sz="1100" dirty="0"/>
          </a:p>
        </p:txBody>
      </p:sp>
      <p:sp>
        <p:nvSpPr>
          <p:cNvPr id="34" name="Text 28"/>
          <p:cNvSpPr txBox="1"/>
          <p:nvPr/>
        </p:nvSpPr>
        <p:spPr>
          <a:xfrm>
            <a:off x="8247888" y="2331720"/>
            <a:ext cx="1371600" cy="502920"/>
          </a:xfrm>
          <a:prstGeom prst="rect">
            <a:avLst/>
          </a:prstGeom>
          <a:noFill/>
          <a:ln/>
        </p:spPr>
        <p:txBody>
          <a:bodyPr wrap="square" lIns="0" tIns="0" rIns="0" bIns="0" rtlCol="0" anchor="t"/>
          <a:lstStyle/>
          <a:p>
            <a:pPr indent="0" marL="0">
              <a:buNone/>
            </a:pPr>
            <a:r>
              <a:rPr lang="en-US" sz="3000" b="1" dirty="0">
                <a:solidFill>
                  <a:schemeClr val="accent1"/>
                </a:solidFill>
              </a:rPr>
              <a:t>05</a:t>
            </a:r>
            <a:endParaRPr lang="en-US" sz="3000" dirty="0"/>
          </a:p>
        </p:txBody>
      </p:sp>
      <p:sp>
        <p:nvSpPr>
          <p:cNvPr id="35" name="Text 29"/>
          <p:cNvSpPr txBox="1"/>
          <p:nvPr/>
        </p:nvSpPr>
        <p:spPr>
          <a:xfrm>
            <a:off x="8247888" y="2926080"/>
            <a:ext cx="1417320" cy="640080"/>
          </a:xfrm>
          <a:prstGeom prst="rect">
            <a:avLst/>
          </a:prstGeom>
          <a:noFill/>
          <a:ln/>
        </p:spPr>
        <p:txBody>
          <a:bodyPr wrap="square" lIns="0" tIns="0" rIns="0" bIns="0" rtlCol="0" anchor="t"/>
          <a:lstStyle/>
          <a:p>
            <a:pPr indent="0" marL="0">
              <a:buNone/>
            </a:pPr>
            <a:r>
              <a:rPr lang="en-US" sz="1500" b="1" dirty="0">
                <a:solidFill>
                  <a:schemeClr val="tx2"/>
                </a:solidFill>
              </a:rPr>
              <a:t>Chuẩn hóa và lọc</a:t>
            </a:r>
            <a:endParaRPr lang="en-US" sz="1500" dirty="0"/>
          </a:p>
        </p:txBody>
      </p:sp>
      <p:sp>
        <p:nvSpPr>
          <p:cNvPr id="36" name="Text 30"/>
          <p:cNvSpPr txBox="1"/>
          <p:nvPr/>
        </p:nvSpPr>
        <p:spPr>
          <a:xfrm>
            <a:off x="8247888" y="3611880"/>
            <a:ext cx="1417320" cy="1234440"/>
          </a:xfrm>
          <a:prstGeom prst="rect">
            <a:avLst/>
          </a:prstGeom>
          <a:noFill/>
          <a:ln/>
        </p:spPr>
        <p:txBody>
          <a:bodyPr wrap="square" lIns="0" tIns="0" rIns="0" bIns="0" rtlCol="0" anchor="t"/>
          <a:lstStyle/>
          <a:p>
            <a:pPr indent="0" marL="0">
              <a:buNone/>
            </a:pPr>
            <a:r>
              <a:rPr lang="en-US" sz="1400" dirty="0">
                <a:solidFill>
                  <a:schemeClr val="tx1"/>
                </a:solidFill>
              </a:rPr>
              <a:t>Chỉ trường được phép, giữ nguyên số nguồn</a:t>
            </a:r>
            <a:endParaRPr lang="en-US" sz="1400" dirty="0"/>
          </a:p>
        </p:txBody>
      </p:sp>
      <p:sp>
        <p:nvSpPr>
          <p:cNvPr id="37" name="Shape 31"/>
          <p:cNvSpPr/>
          <p:nvPr/>
        </p:nvSpPr>
        <p:spPr>
          <a:xfrm>
            <a:off x="9692640" y="2395728"/>
            <a:ext cx="347472" cy="347472"/>
          </a:xfrm>
          <a:prstGeom prst="ellipse">
            <a:avLst/>
          </a:prstGeom>
          <a:solidFill>
            <a:schemeClr val="bg1"/>
          </a:solidFill>
          <a:ln w="15875">
            <a:solidFill>
              <a:schemeClr val="accent1"/>
            </a:solidFill>
            <a:prstDash val="solid"/>
          </a:ln>
        </p:spPr>
      </p:sp>
      <p:pic>
        <p:nvPicPr>
          <p:cNvPr id="38" name="Image 4" descr="preencoded.png">    </p:cNvPr>
          <p:cNvPicPr>
            <a:picLocks noChangeAspect="1"/>
          </p:cNvPicPr>
          <p:nvPr/>
        </p:nvPicPr>
        <p:blipFill>
          <a:blip r:embed="rId5"/>
          <a:stretch>
            <a:fillRect/>
          </a:stretch>
        </p:blipFill>
        <p:spPr>
          <a:xfrm>
            <a:off x="9784080" y="2487168"/>
            <a:ext cx="164592" cy="164592"/>
          </a:xfrm>
          <a:prstGeom prst="rect">
            <a:avLst/>
          </a:prstGeom>
        </p:spPr>
      </p:pic>
      <p:sp>
        <p:nvSpPr>
          <p:cNvPr id="39" name="Shape 32"/>
          <p:cNvSpPr/>
          <p:nvPr/>
        </p:nvSpPr>
        <p:spPr>
          <a:xfrm>
            <a:off x="9966960" y="1737360"/>
            <a:ext cx="1691640" cy="3200400"/>
          </a:xfrm>
          <a:prstGeom prst="roundRect">
            <a:avLst>
              <a:gd name="adj" fmla="val 6486"/>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40" name="Text 33"/>
          <p:cNvSpPr txBox="1"/>
          <p:nvPr/>
        </p:nvSpPr>
        <p:spPr>
          <a:xfrm>
            <a:off x="10104120" y="1901952"/>
            <a:ext cx="1417320" cy="274320"/>
          </a:xfrm>
          <a:prstGeom prst="roundRect">
            <a:avLst>
              <a:gd name="adj" fmla="val 26667"/>
            </a:avLst>
          </a:prstGeom>
          <a:solidFill>
            <a:schemeClr val="accent2"/>
          </a:solidFill>
          <a:ln/>
        </p:spPr>
        <p:txBody>
          <a:bodyPr wrap="square" lIns="0" tIns="0" rIns="0" bIns="0" rtlCol="0" anchor="ctr"/>
          <a:lstStyle/>
          <a:p>
            <a:pPr algn="ctr" indent="0" marL="0">
              <a:buNone/>
            </a:pPr>
            <a:r>
              <a:rPr lang="en-US" sz="1100" b="1" dirty="0">
                <a:solidFill>
                  <a:schemeClr val="bg1"/>
                </a:solidFill>
              </a:rPr>
              <a:t>AI client</a:t>
            </a:r>
            <a:endParaRPr lang="en-US" sz="1100" dirty="0"/>
          </a:p>
        </p:txBody>
      </p:sp>
      <p:sp>
        <p:nvSpPr>
          <p:cNvPr id="41" name="Text 34"/>
          <p:cNvSpPr txBox="1"/>
          <p:nvPr/>
        </p:nvSpPr>
        <p:spPr>
          <a:xfrm>
            <a:off x="10131552" y="2331720"/>
            <a:ext cx="1371600" cy="502920"/>
          </a:xfrm>
          <a:prstGeom prst="rect">
            <a:avLst/>
          </a:prstGeom>
          <a:noFill/>
          <a:ln/>
        </p:spPr>
        <p:txBody>
          <a:bodyPr wrap="square" lIns="0" tIns="0" rIns="0" bIns="0" rtlCol="0" anchor="t"/>
          <a:lstStyle/>
          <a:p>
            <a:pPr indent="0" marL="0">
              <a:buNone/>
            </a:pPr>
            <a:r>
              <a:rPr lang="en-US" sz="3000" b="1" dirty="0">
                <a:solidFill>
                  <a:schemeClr val="accent1"/>
                </a:solidFill>
              </a:rPr>
              <a:t>06</a:t>
            </a:r>
            <a:endParaRPr lang="en-US" sz="3000" dirty="0"/>
          </a:p>
        </p:txBody>
      </p:sp>
      <p:sp>
        <p:nvSpPr>
          <p:cNvPr id="42" name="Text 35"/>
          <p:cNvSpPr txBox="1"/>
          <p:nvPr/>
        </p:nvSpPr>
        <p:spPr>
          <a:xfrm>
            <a:off x="10131552" y="2926080"/>
            <a:ext cx="1417320" cy="640080"/>
          </a:xfrm>
          <a:prstGeom prst="rect">
            <a:avLst/>
          </a:prstGeom>
          <a:noFill/>
          <a:ln/>
        </p:spPr>
        <p:txBody>
          <a:bodyPr wrap="square" lIns="0" tIns="0" rIns="0" bIns="0" rtlCol="0" anchor="t"/>
          <a:lstStyle/>
          <a:p>
            <a:pPr indent="0" marL="0">
              <a:buNone/>
            </a:pPr>
            <a:r>
              <a:rPr lang="en-US" sz="1500" b="1" dirty="0">
                <a:solidFill>
                  <a:schemeClr val="tx2"/>
                </a:solidFill>
              </a:rPr>
              <a:t>Phân tích, trả lời</a:t>
            </a:r>
            <a:endParaRPr lang="en-US" sz="1500" dirty="0"/>
          </a:p>
        </p:txBody>
      </p:sp>
      <p:sp>
        <p:nvSpPr>
          <p:cNvPr id="43" name="Text 36"/>
          <p:cNvSpPr txBox="1"/>
          <p:nvPr/>
        </p:nvSpPr>
        <p:spPr>
          <a:xfrm>
            <a:off x="10131552" y="3611880"/>
            <a:ext cx="1417320" cy="1234440"/>
          </a:xfrm>
          <a:prstGeom prst="rect">
            <a:avLst/>
          </a:prstGeom>
          <a:noFill/>
          <a:ln/>
        </p:spPr>
        <p:txBody>
          <a:bodyPr wrap="square" lIns="0" tIns="0" rIns="0" bIns="0" rtlCol="0" anchor="t"/>
          <a:lstStyle/>
          <a:p>
            <a:pPr indent="0" marL="0">
              <a:buNone/>
            </a:pPr>
            <a:r>
              <a:rPr lang="en-US" sz="1400" dirty="0">
                <a:solidFill>
                  <a:schemeClr val="tx1"/>
                </a:solidFill>
              </a:rPr>
              <a:t>Tổng hợp, xếp ưu tiên, đề xuất hành động</a:t>
            </a:r>
            <a:endParaRPr lang="en-US" sz="1400" dirty="0"/>
          </a:p>
        </p:txBody>
      </p:sp>
      <p:sp>
        <p:nvSpPr>
          <p:cNvPr id="44" name="Shape 37"/>
          <p:cNvSpPr/>
          <p:nvPr/>
        </p:nvSpPr>
        <p:spPr>
          <a:xfrm>
            <a:off x="548640" y="5212080"/>
            <a:ext cx="11109960" cy="868680"/>
          </a:xfrm>
          <a:prstGeom prst="roundRect">
            <a:avLst>
              <a:gd name="adj" fmla="val 12632"/>
            </a:avLst>
          </a:prstGeom>
          <a:solidFill>
            <a:schemeClr val="bg2"/>
          </a:solidFill>
          <a:ln/>
        </p:spPr>
      </p:sp>
      <p:sp>
        <p:nvSpPr>
          <p:cNvPr id="45" name="Shape 38"/>
          <p:cNvSpPr/>
          <p:nvPr/>
        </p:nvSpPr>
        <p:spPr>
          <a:xfrm>
            <a:off x="777240" y="5376672"/>
            <a:ext cx="530352" cy="530352"/>
          </a:xfrm>
          <a:prstGeom prst="ellipse">
            <a:avLst/>
          </a:prstGeom>
          <a:solidFill>
            <a:schemeClr val="tx2"/>
          </a:solidFill>
          <a:ln/>
        </p:spPr>
      </p:sp>
      <p:pic>
        <p:nvPicPr>
          <p:cNvPr id="46" name="Image 5" descr="preencoded.png">    </p:cNvPr>
          <p:cNvPicPr>
            <a:picLocks noChangeAspect="1"/>
          </p:cNvPicPr>
          <p:nvPr/>
        </p:nvPicPr>
        <p:blipFill>
          <a:blip r:embed="rId6"/>
          <a:stretch>
            <a:fillRect/>
          </a:stretch>
        </p:blipFill>
        <p:spPr>
          <a:xfrm>
            <a:off x="909828" y="5509260"/>
            <a:ext cx="265176" cy="265176"/>
          </a:xfrm>
          <a:prstGeom prst="rect">
            <a:avLst/>
          </a:prstGeom>
        </p:spPr>
      </p:pic>
      <p:sp>
        <p:nvSpPr>
          <p:cNvPr id="47" name="Text 39"/>
          <p:cNvSpPr txBox="1"/>
          <p:nvPr/>
        </p:nvSpPr>
        <p:spPr>
          <a:xfrm>
            <a:off x="1508760" y="5285232"/>
            <a:ext cx="9966960" cy="731520"/>
          </a:xfrm>
          <a:prstGeom prst="rect">
            <a:avLst/>
          </a:prstGeom>
          <a:noFill/>
          <a:ln/>
        </p:spPr>
        <p:txBody>
          <a:bodyPr wrap="square" lIns="0" tIns="0" rIns="0" bIns="0" rtlCol="0" anchor="ctr"/>
          <a:lstStyle/>
          <a:p>
            <a:pPr indent="0" marL="0">
              <a:buNone/>
            </a:pPr>
            <a:r>
              <a:rPr lang="en-US" sz="1600" dirty="0">
                <a:solidFill>
                  <a:schemeClr val="tx2"/>
                </a:solidFill>
              </a:rPr>
              <a:t>Một câu hỏi có thể kích hoạt nhiều lượt gọi tool liên tiếp. AI tự quyết định thứ tự, và lượt nào cũng được kiểm tra quyền.</a:t>
            </a:r>
            <a:endParaRPr lang="en-US" sz="16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02 · MCP LÀ GÌ</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Ví dụ: chuyên viên hỏi, AI tự gọi đúng tool</a:t>
            </a:r>
            <a:endParaRPr lang="en-US" sz="3000" dirty="0"/>
          </a:p>
        </p:txBody>
      </p:sp>
      <p:sp>
        <p:nvSpPr>
          <p:cNvPr id="4" name="Shape 2"/>
          <p:cNvSpPr/>
          <p:nvPr/>
        </p:nvSpPr>
        <p:spPr>
          <a:xfrm>
            <a:off x="548640" y="1600200"/>
            <a:ext cx="6126480" cy="4526280"/>
          </a:xfrm>
          <a:prstGeom prst="roundRect">
            <a:avLst>
              <a:gd name="adj" fmla="val 2424"/>
            </a:avLst>
          </a:prstGeom>
          <a:solidFill>
            <a:schemeClr val="bg2"/>
          </a:solidFill>
          <a:ln/>
        </p:spPr>
      </p:sp>
      <p:sp>
        <p:nvSpPr>
          <p:cNvPr id="5" name="Text 3"/>
          <p:cNvSpPr txBox="1"/>
          <p:nvPr/>
        </p:nvSpPr>
        <p:spPr>
          <a:xfrm>
            <a:off x="1874520" y="1828800"/>
            <a:ext cx="4572000" cy="960120"/>
          </a:xfrm>
          <a:prstGeom prst="roundRect">
            <a:avLst>
              <a:gd name="adj" fmla="val 11429"/>
            </a:avLst>
          </a:prstGeom>
          <a:solidFill>
            <a:schemeClr val="tx2"/>
          </a:solidFill>
          <a:ln/>
        </p:spPr>
        <p:txBody>
          <a:bodyPr wrap="square" lIns="127000" tIns="127000" rIns="127000" bIns="127000" rtlCol="0" anchor="ctr"/>
          <a:lstStyle/>
          <a:p>
            <a:pPr indent="0" marL="0">
              <a:buNone/>
            </a:pPr>
            <a:r>
              <a:rPr lang="en-US" sz="1400" dirty="0">
                <a:solidFill>
                  <a:schemeClr val="bg1"/>
                </a:solidFill>
              </a:rPr>
              <a:t>Khách nào của tôi đang vi phạm tỷ lệ ký quỹ? Xếp thứ tự cần gọi và tóm tắt danh mục từng người.</a:t>
            </a:r>
            <a:endParaRPr lang="en-US" sz="1400" dirty="0"/>
          </a:p>
        </p:txBody>
      </p:sp>
      <p:sp>
        <p:nvSpPr>
          <p:cNvPr id="6" name="Text 4"/>
          <p:cNvSpPr txBox="1"/>
          <p:nvPr/>
        </p:nvSpPr>
        <p:spPr>
          <a:xfrm>
            <a:off x="777240" y="3017520"/>
            <a:ext cx="5440680" cy="2148840"/>
          </a:xfrm>
          <a:prstGeom prst="roundRect">
            <a:avLst>
              <a:gd name="adj" fmla="val 5106"/>
            </a:avLst>
          </a:prstGeom>
          <a:solidFill>
            <a:schemeClr val="bg1"/>
          </a:solidFill>
          <a:ln w="9525">
            <a:solidFill>
              <a:srgbClr val="DCE3EF"/>
            </a:solidFill>
          </a:ln>
          <a:effectLst>
            <a:outerShdw sx="100000" sy="100000" kx="0" ky="0" algn="bl" rotWithShape="0" blurRad="127000" dist="38100" dir="5400000">
              <a:srgbClr val="0A2762">
                <a:alpha val="13000"/>
              </a:srgbClr>
            </a:outerShdw>
          </a:effectLst>
        </p:spPr>
        <p:txBody>
          <a:bodyPr wrap="square" lIns="152400" tIns="152400" rIns="152400" bIns="152400" rtlCol="0" anchor="t"/>
          <a:lstStyle/>
          <a:p>
            <a:pPr indent="0" marL="0">
              <a:spcAft>
                <a:spcPts val="400"/>
              </a:spcAft>
              <a:buNone/>
            </a:pPr>
            <a:r>
              <a:rPr lang="en-US" sz="1400" b="1" dirty="0">
                <a:solidFill>
                  <a:schemeClr val="tx1"/>
                </a:solidFill>
              </a:rPr>
              <a:t>Có 3 tài khoản cần xử lý hôm nay:</a:t>
            </a:r>
            <a:endParaRPr lang="en-US" sz="1400" dirty="0"/>
          </a:p>
          <a:p>
            <a:pPr indent="0" marL="0">
              <a:spcAft>
                <a:spcPts val="400"/>
              </a:spcAft>
              <a:buNone/>
            </a:pPr>
            <a:r>
              <a:rPr lang="en-US" sz="1400" dirty="0">
                <a:solidFill>
                  <a:schemeClr val="tx1"/>
                </a:solidFill>
              </a:rPr>
              <a:t>1. KH A: thiếu ký quỹ lớn nhất, danh mục tập trung nhóm ngân hàng</a:t>
            </a:r>
            <a:endParaRPr lang="en-US" sz="1400" dirty="0"/>
          </a:p>
          <a:p>
            <a:pPr indent="0" marL="0">
              <a:spcAft>
                <a:spcPts val="400"/>
              </a:spcAft>
              <a:buNone/>
            </a:pPr>
            <a:r>
              <a:rPr lang="en-US" sz="1400" dirty="0">
                <a:solidFill>
                  <a:schemeClr val="tx1"/>
                </a:solidFill>
              </a:rPr>
              <a:t>2. KH B: chạm ngưỡng force sell, nắm 2 mã đang giảm mạnh</a:t>
            </a:r>
            <a:endParaRPr lang="en-US" sz="1400" dirty="0"/>
          </a:p>
          <a:p>
            <a:pPr indent="0" marL="0">
              <a:spcAft>
                <a:spcPts val="400"/>
              </a:spcAft>
              <a:buNone/>
            </a:pPr>
            <a:r>
              <a:rPr lang="en-US" sz="1400" dirty="0">
                <a:solidFill>
                  <a:schemeClr val="tx1"/>
                </a:solidFill>
              </a:rPr>
              <a:t>3. KH C: đã nộp một phần, cần theo dõi cuối phiên</a:t>
            </a:r>
            <a:endParaRPr lang="en-US" sz="1400" dirty="0"/>
          </a:p>
          <a:p>
            <a:pPr indent="0" marL="0">
              <a:spcAft>
                <a:spcPts val="400"/>
              </a:spcAft>
              <a:buNone/>
            </a:pPr>
            <a:r>
              <a:rPr lang="en-US" sz="1400" b="1" dirty="0">
                <a:solidFill>
                  <a:schemeClr val="accent1"/>
                </a:solidFill>
              </a:rPr>
              <a:t>→ Đề xuất gọi KH A trước.</a:t>
            </a:r>
            <a:endParaRPr lang="en-US" sz="1400" dirty="0"/>
          </a:p>
        </p:txBody>
      </p:sp>
      <p:sp>
        <p:nvSpPr>
          <p:cNvPr id="7" name="Text 5"/>
          <p:cNvSpPr txBox="1"/>
          <p:nvPr/>
        </p:nvSpPr>
        <p:spPr>
          <a:xfrm>
            <a:off x="777240" y="5440680"/>
            <a:ext cx="5394960" cy="274320"/>
          </a:xfrm>
          <a:prstGeom prst="rect">
            <a:avLst/>
          </a:prstGeom>
          <a:noFill/>
          <a:ln/>
        </p:spPr>
        <p:txBody>
          <a:bodyPr wrap="square" lIns="0" tIns="0" rIns="0" bIns="0" rtlCol="0" anchor="t"/>
          <a:lstStyle/>
          <a:p>
            <a:pPr indent="0" marL="0">
              <a:buNone/>
            </a:pPr>
            <a:r>
              <a:rPr lang="en-US" sz="1100" i="1" dirty="0">
                <a:solidFill>
                  <a:schemeClr val="accent4"/>
                </a:solidFill>
              </a:rPr>
              <a:t>Nội dung minh họa, không phải dữ liệu thật</a:t>
            </a:r>
            <a:endParaRPr lang="en-US" sz="1100" dirty="0"/>
          </a:p>
        </p:txBody>
      </p:sp>
      <p:sp>
        <p:nvSpPr>
          <p:cNvPr id="8" name="Text 6"/>
          <p:cNvSpPr txBox="1"/>
          <p:nvPr/>
        </p:nvSpPr>
        <p:spPr>
          <a:xfrm>
            <a:off x="7040880" y="1645920"/>
            <a:ext cx="4617720" cy="411480"/>
          </a:xfrm>
          <a:prstGeom prst="rect">
            <a:avLst/>
          </a:prstGeom>
          <a:noFill/>
          <a:ln/>
        </p:spPr>
        <p:txBody>
          <a:bodyPr wrap="square" lIns="0" tIns="0" rIns="0" bIns="0" rtlCol="0" anchor="t"/>
          <a:lstStyle/>
          <a:p>
            <a:pPr indent="0" marL="0">
              <a:buNone/>
            </a:pPr>
            <a:r>
              <a:rPr lang="en-US" sz="1800" b="1" dirty="0">
                <a:solidFill>
                  <a:schemeClr val="tx2"/>
                </a:solidFill>
              </a:rPr>
              <a:t>Phía sau, AI đã tự gọi 4 tool</a:t>
            </a:r>
            <a:endParaRPr lang="en-US" sz="1800" dirty="0"/>
          </a:p>
        </p:txBody>
      </p:sp>
      <p:sp>
        <p:nvSpPr>
          <p:cNvPr id="9" name="Text 7"/>
          <p:cNvSpPr txBox="1"/>
          <p:nvPr/>
        </p:nvSpPr>
        <p:spPr>
          <a:xfrm>
            <a:off x="7040880" y="22402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8"/>
          <p:cNvSpPr txBox="1"/>
          <p:nvPr/>
        </p:nvSpPr>
        <p:spPr>
          <a:xfrm>
            <a:off x="7680960" y="2221992"/>
            <a:ext cx="3977640" cy="292608"/>
          </a:xfrm>
          <a:prstGeom prst="rect">
            <a:avLst/>
          </a:prstGeom>
          <a:noFill/>
          <a:ln/>
        </p:spPr>
        <p:txBody>
          <a:bodyPr wrap="square" lIns="0" tIns="0" rIns="0" bIns="0" rtlCol="0" anchor="t"/>
          <a:lstStyle/>
          <a:p>
            <a:pPr indent="0" marL="0">
              <a:buNone/>
            </a:pPr>
            <a:r>
              <a:rPr lang="en-US" sz="1200" b="1" dirty="0">
                <a:solidFill>
                  <a:schemeClr val="accent1"/>
                </a:solidFill>
              </a:rPr>
              <a:t>SHA MCP  </a:t>
            </a:r>
            <a:pPr indent="0" marL="0">
              <a:buNone/>
            </a:pPr>
            <a:r>
              <a:rPr lang="en-US" sz="1400" b="1" dirty="0">
                <a:solidFill>
                  <a:schemeClr val="tx2"/>
                </a:solidFill>
                <a:latin typeface="Courier New" pitchFamily="34" charset="0"/>
                <a:ea typeface="Courier New" pitchFamily="34" charset="-122"/>
                <a:cs typeface="Courier New" pitchFamily="34" charset="-120"/>
              </a:rPr>
              <a:t>list_managed_accounts</a:t>
            </a:r>
            <a:endParaRPr lang="en-US" sz="1400" dirty="0"/>
          </a:p>
        </p:txBody>
      </p:sp>
      <p:sp>
        <p:nvSpPr>
          <p:cNvPr id="11" name="Text 9"/>
          <p:cNvSpPr txBox="1"/>
          <p:nvPr/>
        </p:nvSpPr>
        <p:spPr>
          <a:xfrm>
            <a:off x="7680960" y="2532888"/>
            <a:ext cx="3977640" cy="320040"/>
          </a:xfrm>
          <a:prstGeom prst="rect">
            <a:avLst/>
          </a:prstGeom>
          <a:noFill/>
          <a:ln/>
        </p:spPr>
        <p:txBody>
          <a:bodyPr wrap="square" lIns="0" tIns="0" rIns="0" bIns="0" rtlCol="0" anchor="t"/>
          <a:lstStyle/>
          <a:p>
            <a:pPr indent="0" marL="0">
              <a:buNone/>
            </a:pPr>
            <a:r>
              <a:rPr lang="en-US" sz="1400" dirty="0">
                <a:solidFill>
                  <a:schemeClr val="accent4"/>
                </a:solidFill>
              </a:rPr>
              <a:t>Danh sách khách hàng đang quản lý</a:t>
            </a:r>
            <a:endParaRPr lang="en-US" sz="1400" dirty="0"/>
          </a:p>
        </p:txBody>
      </p:sp>
      <p:sp>
        <p:nvSpPr>
          <p:cNvPr id="12" name="Text 10"/>
          <p:cNvSpPr txBox="1"/>
          <p:nvPr/>
        </p:nvSpPr>
        <p:spPr>
          <a:xfrm>
            <a:off x="7040880" y="31546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7680960" y="3136392"/>
            <a:ext cx="3977640" cy="292608"/>
          </a:xfrm>
          <a:prstGeom prst="rect">
            <a:avLst/>
          </a:prstGeom>
          <a:noFill/>
          <a:ln/>
        </p:spPr>
        <p:txBody>
          <a:bodyPr wrap="square" lIns="0" tIns="0" rIns="0" bIns="0" rtlCol="0" anchor="t"/>
          <a:lstStyle/>
          <a:p>
            <a:pPr indent="0" marL="0">
              <a:buNone/>
            </a:pPr>
            <a:r>
              <a:rPr lang="en-US" sz="1200" b="1" dirty="0">
                <a:solidFill>
                  <a:schemeClr val="accent1"/>
                </a:solidFill>
              </a:rPr>
              <a:t>SHA MCP  </a:t>
            </a:r>
            <a:pPr indent="0" marL="0">
              <a:buNone/>
            </a:pPr>
            <a:r>
              <a:rPr lang="en-US" sz="1400" b="1" dirty="0">
                <a:solidFill>
                  <a:schemeClr val="tx2"/>
                </a:solidFill>
                <a:latin typeface="Courier New" pitchFamily="34" charset="0"/>
                <a:ea typeface="Courier New" pitchFamily="34" charset="-122"/>
                <a:cs typeface="Courier New" pitchFamily="34" charset="-120"/>
              </a:rPr>
              <a:t>get_credit_risk</a:t>
            </a:r>
            <a:endParaRPr lang="en-US" sz="1400" dirty="0"/>
          </a:p>
        </p:txBody>
      </p:sp>
      <p:sp>
        <p:nvSpPr>
          <p:cNvPr id="14" name="Text 12"/>
          <p:cNvSpPr txBox="1"/>
          <p:nvPr/>
        </p:nvSpPr>
        <p:spPr>
          <a:xfrm>
            <a:off x="7680960" y="3447288"/>
            <a:ext cx="3977640" cy="320040"/>
          </a:xfrm>
          <a:prstGeom prst="rect">
            <a:avLst/>
          </a:prstGeom>
          <a:noFill/>
          <a:ln/>
        </p:spPr>
        <p:txBody>
          <a:bodyPr wrap="square" lIns="0" tIns="0" rIns="0" bIns="0" rtlCol="0" anchor="t"/>
          <a:lstStyle/>
          <a:p>
            <a:pPr indent="0" marL="0">
              <a:buNone/>
            </a:pPr>
            <a:r>
              <a:rPr lang="en-US" sz="1400" dirty="0">
                <a:solidFill>
                  <a:schemeClr val="accent4"/>
                </a:solidFill>
              </a:rPr>
              <a:t>Tài khoản call margin, force sell</a:t>
            </a:r>
            <a:endParaRPr lang="en-US" sz="1400" dirty="0"/>
          </a:p>
        </p:txBody>
      </p:sp>
      <p:sp>
        <p:nvSpPr>
          <p:cNvPr id="15" name="Text 13"/>
          <p:cNvSpPr txBox="1"/>
          <p:nvPr/>
        </p:nvSpPr>
        <p:spPr>
          <a:xfrm>
            <a:off x="7040880" y="4069080"/>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7680960" y="4050792"/>
            <a:ext cx="3977640" cy="292608"/>
          </a:xfrm>
          <a:prstGeom prst="rect">
            <a:avLst/>
          </a:prstGeom>
          <a:noFill/>
          <a:ln/>
        </p:spPr>
        <p:txBody>
          <a:bodyPr wrap="square" lIns="0" tIns="0" rIns="0" bIns="0" rtlCol="0" anchor="t"/>
          <a:lstStyle/>
          <a:p>
            <a:pPr indent="0" marL="0">
              <a:buNone/>
            </a:pPr>
            <a:r>
              <a:rPr lang="en-US" sz="1200" b="1" dirty="0">
                <a:solidFill>
                  <a:schemeClr val="accent1"/>
                </a:solidFill>
              </a:rPr>
              <a:t>SHA MCP  </a:t>
            </a:r>
            <a:pPr indent="0" marL="0">
              <a:buNone/>
            </a:pPr>
            <a:r>
              <a:rPr lang="en-US" sz="1400" b="1" dirty="0">
                <a:solidFill>
                  <a:schemeClr val="tx2"/>
                </a:solidFill>
                <a:latin typeface="Courier New" pitchFamily="34" charset="0"/>
                <a:ea typeface="Courier New" pitchFamily="34" charset="-122"/>
                <a:cs typeface="Courier New" pitchFamily="34" charset="-120"/>
              </a:rPr>
              <a:t>get_account_portfolio</a:t>
            </a:r>
            <a:endParaRPr lang="en-US" sz="1400" dirty="0"/>
          </a:p>
        </p:txBody>
      </p:sp>
      <p:sp>
        <p:nvSpPr>
          <p:cNvPr id="17" name="Text 15"/>
          <p:cNvSpPr txBox="1"/>
          <p:nvPr/>
        </p:nvSpPr>
        <p:spPr>
          <a:xfrm>
            <a:off x="7680960" y="4361688"/>
            <a:ext cx="3977640" cy="320040"/>
          </a:xfrm>
          <a:prstGeom prst="rect">
            <a:avLst/>
          </a:prstGeom>
          <a:noFill/>
          <a:ln/>
        </p:spPr>
        <p:txBody>
          <a:bodyPr wrap="square" lIns="0" tIns="0" rIns="0" bIns="0" rtlCol="0" anchor="t"/>
          <a:lstStyle/>
          <a:p>
            <a:pPr indent="0" marL="0">
              <a:buNone/>
            </a:pPr>
            <a:r>
              <a:rPr lang="en-US" sz="1400" dirty="0">
                <a:solidFill>
                  <a:schemeClr val="accent4"/>
                </a:solidFill>
              </a:rPr>
              <a:t>Danh mục của từng tài khoản</a:t>
            </a:r>
            <a:endParaRPr lang="en-US" sz="1400" dirty="0"/>
          </a:p>
        </p:txBody>
      </p:sp>
      <p:sp>
        <p:nvSpPr>
          <p:cNvPr id="18" name="Text 16"/>
          <p:cNvSpPr txBox="1"/>
          <p:nvPr/>
        </p:nvSpPr>
        <p:spPr>
          <a:xfrm>
            <a:off x="7040880" y="4983480"/>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9" name="Text 17"/>
          <p:cNvSpPr txBox="1"/>
          <p:nvPr/>
        </p:nvSpPr>
        <p:spPr>
          <a:xfrm>
            <a:off x="7680960" y="4965192"/>
            <a:ext cx="3977640" cy="292608"/>
          </a:xfrm>
          <a:prstGeom prst="rect">
            <a:avLst/>
          </a:prstGeom>
          <a:noFill/>
          <a:ln/>
        </p:spPr>
        <p:txBody>
          <a:bodyPr wrap="square" lIns="0" tIns="0" rIns="0" bIns="0" rtlCol="0" anchor="t"/>
          <a:lstStyle/>
          <a:p>
            <a:pPr indent="0" marL="0">
              <a:buNone/>
            </a:pPr>
            <a:r>
              <a:rPr lang="en-US" sz="1200" b="1" dirty="0">
                <a:solidFill>
                  <a:schemeClr val="accent2"/>
                </a:solidFill>
              </a:rPr>
              <a:t>SHOne MCP  </a:t>
            </a:r>
            <a:pPr indent="0" marL="0">
              <a:buNone/>
            </a:pPr>
            <a:r>
              <a:rPr lang="en-US" sz="1400" b="1" dirty="0">
                <a:solidFill>
                  <a:schemeClr val="tx2"/>
                </a:solidFill>
                <a:latin typeface="Courier New" pitchFamily="34" charset="0"/>
                <a:ea typeface="Courier New" pitchFamily="34" charset="-122"/>
                <a:cs typeface="Courier New" pitchFamily="34" charset="-120"/>
              </a:rPr>
              <a:t>get_stock_prices</a:t>
            </a:r>
            <a:endParaRPr lang="en-US" sz="1400" dirty="0"/>
          </a:p>
        </p:txBody>
      </p:sp>
      <p:sp>
        <p:nvSpPr>
          <p:cNvPr id="20" name="Text 18"/>
          <p:cNvSpPr txBox="1"/>
          <p:nvPr/>
        </p:nvSpPr>
        <p:spPr>
          <a:xfrm>
            <a:off x="7680960" y="5276088"/>
            <a:ext cx="3977640" cy="320040"/>
          </a:xfrm>
          <a:prstGeom prst="rect">
            <a:avLst/>
          </a:prstGeom>
          <a:noFill/>
          <a:ln/>
        </p:spPr>
        <p:txBody>
          <a:bodyPr wrap="square" lIns="0" tIns="0" rIns="0" bIns="0" rtlCol="0" anchor="t"/>
          <a:lstStyle/>
          <a:p>
            <a:pPr indent="0" marL="0">
              <a:buNone/>
            </a:pPr>
            <a:r>
              <a:rPr lang="en-US" sz="1400" dirty="0">
                <a:solidFill>
                  <a:schemeClr val="accent4"/>
                </a:solidFill>
              </a:rPr>
              <a:t>Diễn biến giá các mã đang nắm</a:t>
            </a:r>
            <a:endParaRPr lang="en-US" sz="1400" dirty="0"/>
          </a:p>
        </p:txBody>
      </p:sp>
      <p:sp>
        <p:nvSpPr>
          <p:cNvPr id="21" name="Text 19"/>
          <p:cNvSpPr txBox="1"/>
          <p:nvPr/>
        </p:nvSpPr>
        <p:spPr>
          <a:xfrm>
            <a:off x="7040880" y="5760720"/>
            <a:ext cx="4617720" cy="365760"/>
          </a:xfrm>
          <a:prstGeom prst="rect">
            <a:avLst/>
          </a:prstGeom>
          <a:noFill/>
          <a:ln/>
        </p:spPr>
        <p:txBody>
          <a:bodyPr wrap="square" lIns="0" tIns="0" rIns="0" bIns="0" rtlCol="0" anchor="t"/>
          <a:lstStyle/>
          <a:p>
            <a:pPr indent="0" marL="0">
              <a:buNone/>
            </a:pPr>
            <a:r>
              <a:rPr lang="en-US" sz="1400" i="1" dirty="0">
                <a:solidFill>
                  <a:schemeClr val="tx2"/>
                </a:solidFill>
              </a:rPr>
              <a:t>Người dùng không cần biết tên tool: chỉ cần hỏi như hỏi đồng nghiệp.</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Lá chắn bảo vệ kho dữ liệu">    </p:cNvPr>
          <p:cNvPicPr>
            <a:picLocks noChangeAspect="1"/>
          </p:cNvPicPr>
          <p:nvPr/>
        </p:nvPicPr>
        <p:blipFill>
          <a:blip r:embed="rId1"/>
          <a:stretch>
            <a:fillRect/>
          </a:stretch>
        </p:blipFill>
        <p:spPr>
          <a:xfrm>
            <a:off x="6309360" y="0"/>
            <a:ext cx="5882335" cy="6858000"/>
          </a:xfrm>
          <a:prstGeom prst="rect">
            <a:avLst/>
          </a:prstGeom>
        </p:spPr>
      </p:pic>
      <p:sp>
        <p:nvSpPr>
          <p:cNvPr id="3"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03 · BẢO MẬT</a:t>
            </a:r>
            <a:endParaRPr lang="en-US" sz="1200" dirty="0"/>
          </a:p>
        </p:txBody>
      </p:sp>
      <p:sp>
        <p:nvSpPr>
          <p:cNvPr id="4" name="Text 0"/>
          <p:cNvSpPr/>
          <p:nvPr>
            <p:ph idx="101" type="title" hasCustomPrompt="1"/>
          </p:nvPr>
        </p:nvSpPr>
        <p:spPr>
          <a:xfrm>
            <a:off x="548640" y="658368"/>
            <a:ext cx="5394960" cy="1143000"/>
          </a:xfrm>
          <a:prstGeom prst="rect">
            <a:avLst/>
          </a:prstGeom>
          <a:noFill/>
          <a:ln/>
        </p:spPr>
        <p:txBody>
          <a:bodyPr wrap="square" lIns="0" tIns="0" rIns="0" bIns="0" rtlCol="0" anchor="t"/>
          <a:lstStyle/>
          <a:p>
            <a:pPr algn="l" indent="0" marL="0">
              <a:buNone/>
            </a:pPr>
            <a:r>
              <a:rPr lang="en-US" sz="3000" b="1" dirty="0">
                <a:solidFill>
                  <a:schemeClr val="bg1"/>
                </a:solidFill>
              </a:rPr>
              <a:t>Nỗi lo lớn nhất của doanh nghiệp: lộ dữ liệu</a:t>
            </a:r>
            <a:endParaRPr lang="en-US" sz="3000" dirty="0"/>
          </a:p>
        </p:txBody>
      </p:sp>
      <p:sp>
        <p:nvSpPr>
          <p:cNvPr id="5" name="Shape 2"/>
          <p:cNvSpPr/>
          <p:nvPr/>
        </p:nvSpPr>
        <p:spPr>
          <a:xfrm>
            <a:off x="548640" y="2103120"/>
            <a:ext cx="438912" cy="438912"/>
          </a:xfrm>
          <a:prstGeom prst="ellipse">
            <a:avLst/>
          </a:prstGeom>
          <a:solidFill>
            <a:schemeClr val="accent1"/>
          </a:solidFill>
          <a:ln/>
        </p:spPr>
      </p:sp>
      <p:pic>
        <p:nvPicPr>
          <p:cNvPr id="6" name="Image 1" descr="preencoded.png">    </p:cNvPr>
          <p:cNvPicPr>
            <a:picLocks noChangeAspect="1"/>
          </p:cNvPicPr>
          <p:nvPr/>
        </p:nvPicPr>
        <p:blipFill>
          <a:blip r:embed="rId2"/>
          <a:stretch>
            <a:fillRect/>
          </a:stretch>
        </p:blipFill>
        <p:spPr>
          <a:xfrm>
            <a:off x="658368" y="2212848"/>
            <a:ext cx="219456" cy="219456"/>
          </a:xfrm>
          <a:prstGeom prst="rect">
            <a:avLst/>
          </a:prstGeom>
        </p:spPr>
      </p:pic>
      <p:sp>
        <p:nvSpPr>
          <p:cNvPr id="7" name="Text 3"/>
          <p:cNvSpPr txBox="1"/>
          <p:nvPr/>
        </p:nvSpPr>
        <p:spPr>
          <a:xfrm>
            <a:off x="1188720" y="2084832"/>
            <a:ext cx="4846320" cy="502920"/>
          </a:xfrm>
          <a:prstGeom prst="rect">
            <a:avLst/>
          </a:prstGeom>
          <a:noFill/>
          <a:ln/>
        </p:spPr>
        <p:txBody>
          <a:bodyPr wrap="square" lIns="0" tIns="0" rIns="0" bIns="0" rtlCol="0" anchor="ctr"/>
          <a:lstStyle/>
          <a:p>
            <a:pPr indent="0" marL="0">
              <a:buNone/>
            </a:pPr>
            <a:r>
              <a:rPr lang="en-US" sz="1600" dirty="0">
                <a:solidFill>
                  <a:schemeClr val="bg1"/>
                </a:solidFill>
              </a:rPr>
              <a:t>Lộ mật khẩu, OTP khi dán vào khung chat AI</a:t>
            </a:r>
            <a:endParaRPr lang="en-US" sz="1600" dirty="0"/>
          </a:p>
        </p:txBody>
      </p:sp>
      <p:sp>
        <p:nvSpPr>
          <p:cNvPr id="8" name="Shape 4"/>
          <p:cNvSpPr/>
          <p:nvPr/>
        </p:nvSpPr>
        <p:spPr>
          <a:xfrm>
            <a:off x="548640" y="2761488"/>
            <a:ext cx="438912" cy="438912"/>
          </a:xfrm>
          <a:prstGeom prst="ellipse">
            <a:avLst/>
          </a:prstGeom>
          <a:solidFill>
            <a:schemeClr val="accent1"/>
          </a:solidFill>
          <a:ln/>
        </p:spPr>
      </p:sp>
      <p:pic>
        <p:nvPicPr>
          <p:cNvPr id="9" name="Image 2" descr="preencoded.png">    </p:cNvPr>
          <p:cNvPicPr>
            <a:picLocks noChangeAspect="1"/>
          </p:cNvPicPr>
          <p:nvPr/>
        </p:nvPicPr>
        <p:blipFill>
          <a:blip r:embed="rId3"/>
          <a:stretch>
            <a:fillRect/>
          </a:stretch>
        </p:blipFill>
        <p:spPr>
          <a:xfrm>
            <a:off x="658368" y="2871216"/>
            <a:ext cx="219456" cy="219456"/>
          </a:xfrm>
          <a:prstGeom prst="rect">
            <a:avLst/>
          </a:prstGeom>
        </p:spPr>
      </p:pic>
      <p:sp>
        <p:nvSpPr>
          <p:cNvPr id="10" name="Text 5"/>
          <p:cNvSpPr txBox="1"/>
          <p:nvPr/>
        </p:nvSpPr>
        <p:spPr>
          <a:xfrm>
            <a:off x="1188720" y="2743200"/>
            <a:ext cx="4846320" cy="502920"/>
          </a:xfrm>
          <a:prstGeom prst="rect">
            <a:avLst/>
          </a:prstGeom>
          <a:noFill/>
          <a:ln/>
        </p:spPr>
        <p:txBody>
          <a:bodyPr wrap="square" lIns="0" tIns="0" rIns="0" bIns="0" rtlCol="0" anchor="ctr"/>
          <a:lstStyle/>
          <a:p>
            <a:pPr indent="0" marL="0">
              <a:buNone/>
            </a:pPr>
            <a:r>
              <a:rPr lang="en-US" sz="1600" dirty="0">
                <a:solidFill>
                  <a:schemeClr val="bg1"/>
                </a:solidFill>
              </a:rPr>
              <a:t>AI thấy dữ liệu vượt quyền người dùng</a:t>
            </a:r>
            <a:endParaRPr lang="en-US" sz="1600" dirty="0"/>
          </a:p>
        </p:txBody>
      </p:sp>
      <p:sp>
        <p:nvSpPr>
          <p:cNvPr id="11" name="Shape 6"/>
          <p:cNvSpPr/>
          <p:nvPr/>
        </p:nvSpPr>
        <p:spPr>
          <a:xfrm>
            <a:off x="548640" y="3419856"/>
            <a:ext cx="438912" cy="438912"/>
          </a:xfrm>
          <a:prstGeom prst="ellipse">
            <a:avLst/>
          </a:prstGeom>
          <a:solidFill>
            <a:schemeClr val="accent1"/>
          </a:solidFill>
          <a:ln/>
        </p:spPr>
      </p:sp>
      <p:pic>
        <p:nvPicPr>
          <p:cNvPr id="12" name="Image 3" descr="preencoded.png">    </p:cNvPr>
          <p:cNvPicPr>
            <a:picLocks noChangeAspect="1"/>
          </p:cNvPicPr>
          <p:nvPr/>
        </p:nvPicPr>
        <p:blipFill>
          <a:blip r:embed="rId4"/>
          <a:stretch>
            <a:fillRect/>
          </a:stretch>
        </p:blipFill>
        <p:spPr>
          <a:xfrm>
            <a:off x="658368" y="3529584"/>
            <a:ext cx="219456" cy="219456"/>
          </a:xfrm>
          <a:prstGeom prst="rect">
            <a:avLst/>
          </a:prstGeom>
        </p:spPr>
      </p:pic>
      <p:sp>
        <p:nvSpPr>
          <p:cNvPr id="13" name="Text 7"/>
          <p:cNvSpPr txBox="1"/>
          <p:nvPr/>
        </p:nvSpPr>
        <p:spPr>
          <a:xfrm>
            <a:off x="1188720" y="3401568"/>
            <a:ext cx="4846320" cy="502920"/>
          </a:xfrm>
          <a:prstGeom prst="rect">
            <a:avLst/>
          </a:prstGeom>
          <a:noFill/>
          <a:ln/>
        </p:spPr>
        <p:txBody>
          <a:bodyPr wrap="square" lIns="0" tIns="0" rIns="0" bIns="0" rtlCol="0" anchor="ctr"/>
          <a:lstStyle/>
          <a:p>
            <a:pPr indent="0" marL="0">
              <a:buNone/>
            </a:pPr>
            <a:r>
              <a:rPr lang="en-US" sz="1600" dirty="0">
                <a:solidFill>
                  <a:schemeClr val="bg1"/>
                </a:solidFill>
              </a:rPr>
              <a:t>AI tự thao tác: đặt lệnh, chuyển tiền</a:t>
            </a:r>
            <a:endParaRPr lang="en-US" sz="1600" dirty="0"/>
          </a:p>
        </p:txBody>
      </p:sp>
      <p:sp>
        <p:nvSpPr>
          <p:cNvPr id="14" name="Shape 8"/>
          <p:cNvSpPr/>
          <p:nvPr/>
        </p:nvSpPr>
        <p:spPr>
          <a:xfrm>
            <a:off x="548640" y="4078224"/>
            <a:ext cx="438912" cy="438912"/>
          </a:xfrm>
          <a:prstGeom prst="ellipse">
            <a:avLst/>
          </a:prstGeom>
          <a:solidFill>
            <a:schemeClr val="accent1"/>
          </a:solidFill>
          <a:ln/>
        </p:spPr>
      </p:sp>
      <p:pic>
        <p:nvPicPr>
          <p:cNvPr id="15" name="Image 4" descr="preencoded.png">    </p:cNvPr>
          <p:cNvPicPr>
            <a:picLocks noChangeAspect="1"/>
          </p:cNvPicPr>
          <p:nvPr/>
        </p:nvPicPr>
        <p:blipFill>
          <a:blip r:embed="rId5"/>
          <a:stretch>
            <a:fillRect/>
          </a:stretch>
        </p:blipFill>
        <p:spPr>
          <a:xfrm>
            <a:off x="658368" y="4187952"/>
            <a:ext cx="219456" cy="219456"/>
          </a:xfrm>
          <a:prstGeom prst="rect">
            <a:avLst/>
          </a:prstGeom>
        </p:spPr>
      </p:pic>
      <p:sp>
        <p:nvSpPr>
          <p:cNvPr id="16" name="Text 9"/>
          <p:cNvSpPr txBox="1"/>
          <p:nvPr/>
        </p:nvSpPr>
        <p:spPr>
          <a:xfrm>
            <a:off x="1188720" y="4059936"/>
            <a:ext cx="4846320" cy="502920"/>
          </a:xfrm>
          <a:prstGeom prst="rect">
            <a:avLst/>
          </a:prstGeom>
          <a:noFill/>
          <a:ln/>
        </p:spPr>
        <p:txBody>
          <a:bodyPr wrap="square" lIns="0" tIns="0" rIns="0" bIns="0" rtlCol="0" anchor="ctr"/>
          <a:lstStyle/>
          <a:p>
            <a:pPr indent="0" marL="0">
              <a:buNone/>
            </a:pPr>
            <a:r>
              <a:rPr lang="en-US" sz="1600" dirty="0">
                <a:solidFill>
                  <a:schemeClr val="bg1"/>
                </a:solidFill>
              </a:rPr>
              <a:t>Thông tin cá nhân khách hàng bị phơi bày</a:t>
            </a:r>
            <a:endParaRPr lang="en-US" sz="1600" dirty="0"/>
          </a:p>
        </p:txBody>
      </p:sp>
      <p:sp>
        <p:nvSpPr>
          <p:cNvPr id="17" name="Shape 10"/>
          <p:cNvSpPr/>
          <p:nvPr/>
        </p:nvSpPr>
        <p:spPr>
          <a:xfrm>
            <a:off x="548640" y="4736592"/>
            <a:ext cx="438912" cy="438912"/>
          </a:xfrm>
          <a:prstGeom prst="ellipse">
            <a:avLst/>
          </a:prstGeom>
          <a:solidFill>
            <a:schemeClr val="accent1"/>
          </a:solidFill>
          <a:ln/>
        </p:spPr>
      </p:sp>
      <p:pic>
        <p:nvPicPr>
          <p:cNvPr id="18" name="Image 5" descr="preencoded.png">    </p:cNvPr>
          <p:cNvPicPr>
            <a:picLocks noChangeAspect="1"/>
          </p:cNvPicPr>
          <p:nvPr/>
        </p:nvPicPr>
        <p:blipFill>
          <a:blip r:embed="rId6"/>
          <a:stretch>
            <a:fillRect/>
          </a:stretch>
        </p:blipFill>
        <p:spPr>
          <a:xfrm>
            <a:off x="658368" y="4846320"/>
            <a:ext cx="219456" cy="219456"/>
          </a:xfrm>
          <a:prstGeom prst="rect">
            <a:avLst/>
          </a:prstGeom>
        </p:spPr>
      </p:pic>
      <p:sp>
        <p:nvSpPr>
          <p:cNvPr id="19" name="Text 11"/>
          <p:cNvSpPr txBox="1"/>
          <p:nvPr/>
        </p:nvSpPr>
        <p:spPr>
          <a:xfrm>
            <a:off x="1188720" y="4718304"/>
            <a:ext cx="4846320" cy="502920"/>
          </a:xfrm>
          <a:prstGeom prst="rect">
            <a:avLst/>
          </a:prstGeom>
          <a:noFill/>
          <a:ln/>
        </p:spPr>
        <p:txBody>
          <a:bodyPr wrap="square" lIns="0" tIns="0" rIns="0" bIns="0" rtlCol="0" anchor="ctr"/>
          <a:lstStyle/>
          <a:p>
            <a:pPr indent="0" marL="0">
              <a:buNone/>
            </a:pPr>
            <a:r>
              <a:rPr lang="en-US" sz="1600" dirty="0">
                <a:solidFill>
                  <a:schemeClr val="bg1"/>
                </a:solidFill>
              </a:rPr>
              <a:t>Nội dung độc hại “ra lệnh” cho AI (prompt injection)</a:t>
            </a:r>
            <a:endParaRPr lang="en-US" sz="1600" dirty="0"/>
          </a:p>
        </p:txBody>
      </p:sp>
      <p:sp>
        <p:nvSpPr>
          <p:cNvPr id="20" name="Shape 12"/>
          <p:cNvSpPr/>
          <p:nvPr/>
        </p:nvSpPr>
        <p:spPr>
          <a:xfrm>
            <a:off x="548640" y="5394960"/>
            <a:ext cx="438912" cy="438912"/>
          </a:xfrm>
          <a:prstGeom prst="ellipse">
            <a:avLst/>
          </a:prstGeom>
          <a:solidFill>
            <a:schemeClr val="accent1"/>
          </a:solidFill>
          <a:ln/>
        </p:spPr>
      </p:sp>
      <p:pic>
        <p:nvPicPr>
          <p:cNvPr id="21" name="Image 6" descr="preencoded.png">    </p:cNvPr>
          <p:cNvPicPr>
            <a:picLocks noChangeAspect="1"/>
          </p:cNvPicPr>
          <p:nvPr/>
        </p:nvPicPr>
        <p:blipFill>
          <a:blip r:embed="rId7"/>
          <a:stretch>
            <a:fillRect/>
          </a:stretch>
        </p:blipFill>
        <p:spPr>
          <a:xfrm>
            <a:off x="658368" y="5504688"/>
            <a:ext cx="219456" cy="219456"/>
          </a:xfrm>
          <a:prstGeom prst="rect">
            <a:avLst/>
          </a:prstGeom>
        </p:spPr>
      </p:pic>
      <p:sp>
        <p:nvSpPr>
          <p:cNvPr id="22" name="Text 13"/>
          <p:cNvSpPr txBox="1"/>
          <p:nvPr/>
        </p:nvSpPr>
        <p:spPr>
          <a:xfrm>
            <a:off x="1188720" y="5376672"/>
            <a:ext cx="4846320" cy="502920"/>
          </a:xfrm>
          <a:prstGeom prst="rect">
            <a:avLst/>
          </a:prstGeom>
          <a:noFill/>
          <a:ln/>
        </p:spPr>
        <p:txBody>
          <a:bodyPr wrap="square" lIns="0" tIns="0" rIns="0" bIns="0" rtlCol="0" anchor="ctr"/>
          <a:lstStyle/>
          <a:p>
            <a:pPr indent="0" marL="0">
              <a:buNone/>
            </a:pPr>
            <a:r>
              <a:rPr lang="en-US" sz="1600" dirty="0">
                <a:solidFill>
                  <a:schemeClr val="bg1"/>
                </a:solidFill>
              </a:rPr>
              <a:t>Không truy vết được ai đã xem gì</a:t>
            </a:r>
            <a:endParaRPr lang="en-US" sz="1600" dirty="0"/>
          </a:p>
        </p:txBody>
      </p:sp>
      <p:pic>
        <p:nvPicPr>
          <p:cNvPr id="23" name="Image 7" descr="SHS">    </p:cNvPr>
          <p:cNvPicPr>
            <a:picLocks noChangeAspect="1"/>
          </p:cNvPicPr>
          <p:nvPr/>
        </p:nvPicPr>
        <p:blipFill>
          <a:blip r:embed="rId8"/>
          <a:stretch>
            <a:fillRect/>
          </a:stretch>
        </p:blipFill>
        <p:spPr>
          <a:xfrm>
            <a:off x="11064240" y="6382512"/>
            <a:ext cx="548640" cy="306324"/>
          </a:xfrm>
          <a:prstGeom prst="rect">
            <a:avLst/>
          </a:prstGeom>
        </p:spPr>
      </p:pic>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03 · BẢO MẬT</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SHA MCP: kiểm soát ở mọi lớp</a:t>
            </a:r>
            <a:endParaRPr lang="en-US" sz="3000" dirty="0"/>
          </a:p>
        </p:txBody>
      </p:sp>
      <p:sp>
        <p:nvSpPr>
          <p:cNvPr id="4" name="Shape 2"/>
          <p:cNvSpPr/>
          <p:nvPr/>
        </p:nvSpPr>
        <p:spPr>
          <a:xfrm>
            <a:off x="548640" y="1600200"/>
            <a:ext cx="3520440" cy="2103120"/>
          </a:xfrm>
          <a:prstGeom prst="roundRect">
            <a:avLst>
              <a:gd name="adj" fmla="val 5217"/>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5" name="Shape 3"/>
          <p:cNvSpPr/>
          <p:nvPr/>
        </p:nvSpPr>
        <p:spPr>
          <a:xfrm>
            <a:off x="777240" y="1828800"/>
            <a:ext cx="530352" cy="530352"/>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09828" y="1961388"/>
            <a:ext cx="265176" cy="265176"/>
          </a:xfrm>
          <a:prstGeom prst="rect">
            <a:avLst/>
          </a:prstGeom>
        </p:spPr>
      </p:pic>
      <p:sp>
        <p:nvSpPr>
          <p:cNvPr id="7" name="Text 4"/>
          <p:cNvSpPr txBox="1"/>
          <p:nvPr/>
        </p:nvSpPr>
        <p:spPr>
          <a:xfrm>
            <a:off x="1463040" y="1801368"/>
            <a:ext cx="2423160" cy="594360"/>
          </a:xfrm>
          <a:prstGeom prst="rect">
            <a:avLst/>
          </a:prstGeom>
          <a:noFill/>
          <a:ln/>
        </p:spPr>
        <p:txBody>
          <a:bodyPr wrap="square" lIns="0" tIns="0" rIns="0" bIns="0" rtlCol="0" anchor="ctr"/>
          <a:lstStyle/>
          <a:p>
            <a:pPr indent="0" marL="0">
              <a:buNone/>
            </a:pPr>
            <a:r>
              <a:rPr lang="en-US" sz="1500" b="1" dirty="0">
                <a:solidFill>
                  <a:schemeClr val="tx2"/>
                </a:solidFill>
              </a:rPr>
              <a:t>Đăng nhập bằng tài khoản SHA + OTP</a:t>
            </a:r>
            <a:endParaRPr lang="en-US" sz="1500" dirty="0"/>
          </a:p>
        </p:txBody>
      </p:sp>
      <p:sp>
        <p:nvSpPr>
          <p:cNvPr id="8" name="Text 5"/>
          <p:cNvSpPr txBox="1"/>
          <p:nvPr/>
        </p:nvSpPr>
        <p:spPr>
          <a:xfrm>
            <a:off x="777240" y="2514600"/>
            <a:ext cx="3108960" cy="1097280"/>
          </a:xfrm>
          <a:prstGeom prst="rect">
            <a:avLst/>
          </a:prstGeom>
          <a:noFill/>
          <a:ln/>
        </p:spPr>
        <p:txBody>
          <a:bodyPr wrap="square" lIns="0" tIns="0" rIns="0" bIns="0" rtlCol="0" anchor="t"/>
          <a:lstStyle/>
          <a:p>
            <a:pPr indent="0" marL="0">
              <a:buNone/>
            </a:pPr>
            <a:r>
              <a:rPr lang="en-US" sz="1400" dirty="0">
                <a:solidFill>
                  <a:schemeClr val="tx1"/>
                </a:solidFill>
              </a:rPr>
              <a:t>Nhập trên trang riêng của SHA MCP; mật khẩu và OTP không bao giờ đi qua AI hay khung chat.</a:t>
            </a:r>
            <a:endParaRPr lang="en-US" sz="1400" dirty="0"/>
          </a:p>
        </p:txBody>
      </p:sp>
      <p:sp>
        <p:nvSpPr>
          <p:cNvPr id="9" name="Shape 6"/>
          <p:cNvSpPr/>
          <p:nvPr/>
        </p:nvSpPr>
        <p:spPr>
          <a:xfrm>
            <a:off x="4343400" y="1600200"/>
            <a:ext cx="3520440" cy="2103120"/>
          </a:xfrm>
          <a:prstGeom prst="roundRect">
            <a:avLst>
              <a:gd name="adj" fmla="val 5217"/>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0" name="Shape 7"/>
          <p:cNvSpPr/>
          <p:nvPr/>
        </p:nvSpPr>
        <p:spPr>
          <a:xfrm>
            <a:off x="4572000" y="1828800"/>
            <a:ext cx="530352" cy="530352"/>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704588" y="1961388"/>
            <a:ext cx="265176" cy="265176"/>
          </a:xfrm>
          <a:prstGeom prst="rect">
            <a:avLst/>
          </a:prstGeom>
        </p:spPr>
      </p:pic>
      <p:sp>
        <p:nvSpPr>
          <p:cNvPr id="12" name="Text 8"/>
          <p:cNvSpPr txBox="1"/>
          <p:nvPr/>
        </p:nvSpPr>
        <p:spPr>
          <a:xfrm>
            <a:off x="5257800" y="1801368"/>
            <a:ext cx="2423160" cy="594360"/>
          </a:xfrm>
          <a:prstGeom prst="rect">
            <a:avLst/>
          </a:prstGeom>
          <a:noFill/>
          <a:ln/>
        </p:spPr>
        <p:txBody>
          <a:bodyPr wrap="square" lIns="0" tIns="0" rIns="0" bIns="0" rtlCol="0" anchor="ctr"/>
          <a:lstStyle/>
          <a:p>
            <a:pPr indent="0" marL="0">
              <a:buNone/>
            </a:pPr>
            <a:r>
              <a:rPr lang="en-US" sz="1500" b="1" dirty="0">
                <a:solidFill>
                  <a:schemeClr val="tx2"/>
                </a:solidFill>
              </a:rPr>
              <a:t>OAuth 2.1 + PKCE, token riêng từng người</a:t>
            </a:r>
            <a:endParaRPr lang="en-US" sz="1500" dirty="0"/>
          </a:p>
        </p:txBody>
      </p:sp>
      <p:sp>
        <p:nvSpPr>
          <p:cNvPr id="13" name="Text 9"/>
          <p:cNvSpPr txBox="1"/>
          <p:nvPr/>
        </p:nvSpPr>
        <p:spPr>
          <a:xfrm>
            <a:off x="4572000" y="2514600"/>
            <a:ext cx="3108960" cy="1097280"/>
          </a:xfrm>
          <a:prstGeom prst="rect">
            <a:avLst/>
          </a:prstGeom>
          <a:noFill/>
          <a:ln/>
        </p:spPr>
        <p:txBody>
          <a:bodyPr wrap="square" lIns="0" tIns="0" rIns="0" bIns="0" rtlCol="0" anchor="t"/>
          <a:lstStyle/>
          <a:p>
            <a:pPr indent="0" marL="0">
              <a:buNone/>
            </a:pPr>
            <a:r>
              <a:rPr lang="en-US" sz="1400" dirty="0">
                <a:solidFill>
                  <a:schemeClr val="tx1"/>
                </a:solidFill>
              </a:rPr>
              <a:t>AI chỉ giữ token MCP; không dùng chung tài khoản, không chuyển tiếp token SHA cho AI.</a:t>
            </a:r>
            <a:endParaRPr lang="en-US" sz="1400" dirty="0"/>
          </a:p>
        </p:txBody>
      </p:sp>
      <p:sp>
        <p:nvSpPr>
          <p:cNvPr id="14" name="Shape 10"/>
          <p:cNvSpPr/>
          <p:nvPr/>
        </p:nvSpPr>
        <p:spPr>
          <a:xfrm>
            <a:off x="8138160" y="1600200"/>
            <a:ext cx="3520440" cy="2103120"/>
          </a:xfrm>
          <a:prstGeom prst="roundRect">
            <a:avLst>
              <a:gd name="adj" fmla="val 5217"/>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5" name="Shape 11"/>
          <p:cNvSpPr/>
          <p:nvPr/>
        </p:nvSpPr>
        <p:spPr>
          <a:xfrm>
            <a:off x="8366760" y="1828800"/>
            <a:ext cx="530352" cy="530352"/>
          </a:xfrm>
          <a:prstGeom prst="ellipse">
            <a:avLst/>
          </a:prstGeom>
          <a:solidFill>
            <a:schemeClr val="accent1"/>
          </a:solidFill>
          <a:ln/>
        </p:spPr>
      </p:sp>
      <p:pic>
        <p:nvPicPr>
          <p:cNvPr id="16" name="Image 2" descr="preencoded.png">    </p:cNvPr>
          <p:cNvPicPr>
            <a:picLocks noChangeAspect="1"/>
          </p:cNvPicPr>
          <p:nvPr/>
        </p:nvPicPr>
        <p:blipFill>
          <a:blip r:embed="rId3"/>
          <a:stretch>
            <a:fillRect/>
          </a:stretch>
        </p:blipFill>
        <p:spPr>
          <a:xfrm>
            <a:off x="8499348" y="1961388"/>
            <a:ext cx="265176" cy="265176"/>
          </a:xfrm>
          <a:prstGeom prst="rect">
            <a:avLst/>
          </a:prstGeom>
        </p:spPr>
      </p:pic>
      <p:sp>
        <p:nvSpPr>
          <p:cNvPr id="17" name="Text 12"/>
          <p:cNvSpPr txBox="1"/>
          <p:nvPr/>
        </p:nvSpPr>
        <p:spPr>
          <a:xfrm>
            <a:off x="9052560" y="1801368"/>
            <a:ext cx="2423160" cy="594360"/>
          </a:xfrm>
          <a:prstGeom prst="rect">
            <a:avLst/>
          </a:prstGeom>
          <a:noFill/>
          <a:ln/>
        </p:spPr>
        <p:txBody>
          <a:bodyPr wrap="square" lIns="0" tIns="0" rIns="0" bIns="0" rtlCol="0" anchor="ctr"/>
          <a:lstStyle/>
          <a:p>
            <a:pPr indent="0" marL="0">
              <a:buNone/>
            </a:pPr>
            <a:r>
              <a:rPr lang="en-US" sz="1500" b="1" dirty="0">
                <a:solidFill>
                  <a:schemeClr val="tx2"/>
                </a:solidFill>
              </a:rPr>
              <a:t>Đúng quyền của chính người dùng</a:t>
            </a:r>
            <a:endParaRPr lang="en-US" sz="1500" dirty="0"/>
          </a:p>
        </p:txBody>
      </p:sp>
      <p:sp>
        <p:nvSpPr>
          <p:cNvPr id="18" name="Text 13"/>
          <p:cNvSpPr txBox="1"/>
          <p:nvPr/>
        </p:nvSpPr>
        <p:spPr>
          <a:xfrm>
            <a:off x="8366760" y="2514600"/>
            <a:ext cx="3108960" cy="1097280"/>
          </a:xfrm>
          <a:prstGeom prst="rect">
            <a:avLst/>
          </a:prstGeom>
          <a:noFill/>
          <a:ln/>
        </p:spPr>
        <p:txBody>
          <a:bodyPr wrap="square" lIns="0" tIns="0" rIns="0" bIns="0" rtlCol="0" anchor="t"/>
          <a:lstStyle/>
          <a:p>
            <a:pPr indent="0" marL="0">
              <a:buNone/>
            </a:pPr>
            <a:r>
              <a:rPr lang="en-US" sz="1400" dirty="0">
                <a:solidFill>
                  <a:schemeClr val="tx1"/>
                </a:solidFill>
              </a:rPr>
              <a:t>Mỗi lần gọi đều kiểm tra người dùng, phạm vi, tài khoản; chỉ thấy KH được SHA cấp quyền.</a:t>
            </a:r>
            <a:endParaRPr lang="en-US" sz="1400" dirty="0"/>
          </a:p>
        </p:txBody>
      </p:sp>
      <p:sp>
        <p:nvSpPr>
          <p:cNvPr id="19" name="Shape 14"/>
          <p:cNvSpPr/>
          <p:nvPr/>
        </p:nvSpPr>
        <p:spPr>
          <a:xfrm>
            <a:off x="548640" y="3931920"/>
            <a:ext cx="3520440" cy="2103120"/>
          </a:xfrm>
          <a:prstGeom prst="roundRect">
            <a:avLst>
              <a:gd name="adj" fmla="val 5217"/>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20" name="Shape 15"/>
          <p:cNvSpPr/>
          <p:nvPr/>
        </p:nvSpPr>
        <p:spPr>
          <a:xfrm>
            <a:off x="777240" y="4160520"/>
            <a:ext cx="530352" cy="530352"/>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909828" y="4293108"/>
            <a:ext cx="265176" cy="265176"/>
          </a:xfrm>
          <a:prstGeom prst="rect">
            <a:avLst/>
          </a:prstGeom>
        </p:spPr>
      </p:pic>
      <p:sp>
        <p:nvSpPr>
          <p:cNvPr id="22" name="Text 16"/>
          <p:cNvSpPr txBox="1"/>
          <p:nvPr/>
        </p:nvSpPr>
        <p:spPr>
          <a:xfrm>
            <a:off x="1463040" y="4133088"/>
            <a:ext cx="2423160" cy="594360"/>
          </a:xfrm>
          <a:prstGeom prst="rect">
            <a:avLst/>
          </a:prstGeom>
          <a:noFill/>
          <a:ln/>
        </p:spPr>
        <p:txBody>
          <a:bodyPr wrap="square" lIns="0" tIns="0" rIns="0" bIns="0" rtlCol="0" anchor="ctr"/>
          <a:lstStyle/>
          <a:p>
            <a:pPr indent="0" marL="0">
              <a:buNone/>
            </a:pPr>
            <a:r>
              <a:rPr lang="en-US" sz="1500" b="1" dirty="0">
                <a:solidFill>
                  <a:schemeClr val="tx2"/>
                </a:solidFill>
              </a:rPr>
              <a:t>Chỉ đọc, danh mục API cố định</a:t>
            </a:r>
            <a:endParaRPr lang="en-US" sz="1500" dirty="0"/>
          </a:p>
        </p:txBody>
      </p:sp>
      <p:sp>
        <p:nvSpPr>
          <p:cNvPr id="23" name="Text 17"/>
          <p:cNvSpPr txBox="1"/>
          <p:nvPr/>
        </p:nvSpPr>
        <p:spPr>
          <a:xfrm>
            <a:off x="777240" y="4846320"/>
            <a:ext cx="3108960" cy="1097280"/>
          </a:xfrm>
          <a:prstGeom prst="rect">
            <a:avLst/>
          </a:prstGeom>
          <a:noFill/>
          <a:ln/>
        </p:spPr>
        <p:txBody>
          <a:bodyPr wrap="square" lIns="0" tIns="0" rIns="0" bIns="0" rtlCol="0" anchor="t"/>
          <a:lstStyle/>
          <a:p>
            <a:pPr indent="0" marL="0">
              <a:buNone/>
            </a:pPr>
            <a:r>
              <a:rPr lang="en-US" sz="1400" dirty="0">
                <a:solidFill>
                  <a:schemeClr val="tx1"/>
                </a:solidFill>
              </a:rPr>
              <a:t>Không có tool đặt, sửa, hủy lệnh, chuyển tiền, sửa hồ sơ; không có lối gọi API tùy ý.</a:t>
            </a:r>
            <a:endParaRPr lang="en-US" sz="1400" dirty="0"/>
          </a:p>
        </p:txBody>
      </p:sp>
      <p:sp>
        <p:nvSpPr>
          <p:cNvPr id="24" name="Shape 18"/>
          <p:cNvSpPr/>
          <p:nvPr/>
        </p:nvSpPr>
        <p:spPr>
          <a:xfrm>
            <a:off x="4343400" y="3931920"/>
            <a:ext cx="3520440" cy="2103120"/>
          </a:xfrm>
          <a:prstGeom prst="roundRect">
            <a:avLst>
              <a:gd name="adj" fmla="val 5217"/>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25" name="Shape 19"/>
          <p:cNvSpPr/>
          <p:nvPr/>
        </p:nvSpPr>
        <p:spPr>
          <a:xfrm>
            <a:off x="4572000" y="4160520"/>
            <a:ext cx="530352" cy="530352"/>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4704588" y="4293108"/>
            <a:ext cx="265176" cy="265176"/>
          </a:xfrm>
          <a:prstGeom prst="rect">
            <a:avLst/>
          </a:prstGeom>
        </p:spPr>
      </p:pic>
      <p:sp>
        <p:nvSpPr>
          <p:cNvPr id="27" name="Text 20"/>
          <p:cNvSpPr txBox="1"/>
          <p:nvPr/>
        </p:nvSpPr>
        <p:spPr>
          <a:xfrm>
            <a:off x="5257800" y="4133088"/>
            <a:ext cx="2423160" cy="594360"/>
          </a:xfrm>
          <a:prstGeom prst="rect">
            <a:avLst/>
          </a:prstGeom>
          <a:noFill/>
          <a:ln/>
        </p:spPr>
        <p:txBody>
          <a:bodyPr wrap="square" lIns="0" tIns="0" rIns="0" bIns="0" rtlCol="0" anchor="ctr"/>
          <a:lstStyle/>
          <a:p>
            <a:pPr indent="0" marL="0">
              <a:buNone/>
            </a:pPr>
            <a:r>
              <a:rPr lang="en-US" sz="1500" b="1" dirty="0">
                <a:solidFill>
                  <a:schemeClr val="tx2"/>
                </a:solidFill>
              </a:rPr>
              <a:t>Thông tin cá nhân là tùy chọn</a:t>
            </a:r>
            <a:endParaRPr lang="en-US" sz="1500" dirty="0"/>
          </a:p>
        </p:txBody>
      </p:sp>
      <p:sp>
        <p:nvSpPr>
          <p:cNvPr id="28" name="Text 21"/>
          <p:cNvSpPr txBox="1"/>
          <p:nvPr/>
        </p:nvSpPr>
        <p:spPr>
          <a:xfrm>
            <a:off x="4572000" y="4846320"/>
            <a:ext cx="3108960" cy="1097280"/>
          </a:xfrm>
          <a:prstGeom prst="rect">
            <a:avLst/>
          </a:prstGeom>
          <a:noFill/>
          <a:ln/>
        </p:spPr>
        <p:txBody>
          <a:bodyPr wrap="square" lIns="0" tIns="0" rIns="0" bIns="0" rtlCol="0" anchor="t"/>
          <a:lstStyle/>
          <a:p>
            <a:pPr indent="0" marL="0">
              <a:buNone/>
            </a:pPr>
            <a:r>
              <a:rPr lang="en-US" sz="1400" dirty="0">
                <a:solidFill>
                  <a:schemeClr val="tx1"/>
                </a:solidFill>
              </a:rPr>
              <a:t>Tên, số TK đầy đủ, giấy tờ, liên hệ, ngày sinh chỉ hiện khi người dùng chủ động cho phép.</a:t>
            </a:r>
            <a:endParaRPr lang="en-US" sz="1400" dirty="0"/>
          </a:p>
        </p:txBody>
      </p:sp>
      <p:sp>
        <p:nvSpPr>
          <p:cNvPr id="29" name="Shape 22"/>
          <p:cNvSpPr/>
          <p:nvPr/>
        </p:nvSpPr>
        <p:spPr>
          <a:xfrm>
            <a:off x="8138160" y="3931920"/>
            <a:ext cx="3520440" cy="2103120"/>
          </a:xfrm>
          <a:prstGeom prst="roundRect">
            <a:avLst>
              <a:gd name="adj" fmla="val 5217"/>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30" name="Shape 23"/>
          <p:cNvSpPr/>
          <p:nvPr/>
        </p:nvSpPr>
        <p:spPr>
          <a:xfrm>
            <a:off x="8366760" y="4160520"/>
            <a:ext cx="530352" cy="530352"/>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8499348" y="4293108"/>
            <a:ext cx="265176" cy="265176"/>
          </a:xfrm>
          <a:prstGeom prst="rect">
            <a:avLst/>
          </a:prstGeom>
        </p:spPr>
      </p:pic>
      <p:sp>
        <p:nvSpPr>
          <p:cNvPr id="32" name="Text 24"/>
          <p:cNvSpPr txBox="1"/>
          <p:nvPr/>
        </p:nvSpPr>
        <p:spPr>
          <a:xfrm>
            <a:off x="9052560" y="4133088"/>
            <a:ext cx="2423160" cy="594360"/>
          </a:xfrm>
          <a:prstGeom prst="rect">
            <a:avLst/>
          </a:prstGeom>
          <a:noFill/>
          <a:ln/>
        </p:spPr>
        <p:txBody>
          <a:bodyPr wrap="square" lIns="0" tIns="0" rIns="0" bIns="0" rtlCol="0" anchor="ctr"/>
          <a:lstStyle/>
          <a:p>
            <a:pPr indent="0" marL="0">
              <a:buNone/>
            </a:pPr>
            <a:r>
              <a:rPr lang="en-US" sz="1500" b="1" dirty="0">
                <a:solidFill>
                  <a:schemeClr val="tx2"/>
                </a:solidFill>
              </a:rPr>
              <a:t>Phiên mã hóa, có nhật ký</a:t>
            </a:r>
            <a:endParaRPr lang="en-US" sz="1500" dirty="0"/>
          </a:p>
        </p:txBody>
      </p:sp>
      <p:sp>
        <p:nvSpPr>
          <p:cNvPr id="33" name="Text 25"/>
          <p:cNvSpPr txBox="1"/>
          <p:nvPr/>
        </p:nvSpPr>
        <p:spPr>
          <a:xfrm>
            <a:off x="8366760" y="4846320"/>
            <a:ext cx="3108960" cy="1097280"/>
          </a:xfrm>
          <a:prstGeom prst="rect">
            <a:avLst/>
          </a:prstGeom>
          <a:noFill/>
          <a:ln/>
        </p:spPr>
        <p:txBody>
          <a:bodyPr wrap="square" lIns="0" tIns="0" rIns="0" bIns="0" rtlCol="0" anchor="t"/>
          <a:lstStyle/>
          <a:p>
            <a:pPr indent="0" marL="0">
              <a:buNone/>
            </a:pPr>
            <a:r>
              <a:rPr lang="en-US" sz="1400" dirty="0">
                <a:solidFill>
                  <a:schemeClr val="tx1"/>
                </a:solidFill>
              </a:rPr>
              <a:t>Phiên SHA mã hóa phía máy chủ, hết hạn theo SHA; ghi nhật ký từng lần gọi, không ghi dữ liệu nhạy cảm.</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03 · BẢO MẬT</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Kết nối có xác thực: mật khẩu không bao giờ đi qua AI</a:t>
            </a:r>
            <a:endParaRPr lang="en-US" sz="3000" dirty="0"/>
          </a:p>
        </p:txBody>
      </p:sp>
      <p:sp>
        <p:nvSpPr>
          <p:cNvPr id="4" name="browserZone"/>
          <p:cNvSpPr/>
          <p:nvPr/>
        </p:nvSpPr>
        <p:spPr>
          <a:xfrm>
            <a:off x="548640" y="3154680"/>
            <a:ext cx="8001000" cy="2194560"/>
          </a:xfrm>
          <a:prstGeom prst="rect">
            <a:avLst/>
          </a:prstGeom>
          <a:solidFill>
            <a:schemeClr val="accent1">
              <a:alpha val="10000"/>
            </a:schemeClr>
          </a:solidFill>
          <a:ln/>
        </p:spPr>
      </p:sp>
      <p:sp>
        <p:nvSpPr>
          <p:cNvPr id="5" name="Text 3"/>
          <p:cNvSpPr txBox="1"/>
          <p:nvPr/>
        </p:nvSpPr>
        <p:spPr>
          <a:xfrm>
            <a:off x="594360" y="1554480"/>
            <a:ext cx="2011680" cy="457200"/>
          </a:xfrm>
          <a:prstGeom prst="roundRect">
            <a:avLst>
              <a:gd name="adj" fmla="val 16000"/>
            </a:avLst>
          </a:prstGeom>
          <a:solidFill>
            <a:schemeClr val="accent4"/>
          </a:solidFill>
          <a:ln/>
        </p:spPr>
        <p:txBody>
          <a:bodyPr wrap="square" lIns="0" tIns="0" rIns="0" bIns="0" rtlCol="0" anchor="ctr"/>
          <a:lstStyle/>
          <a:p>
            <a:pPr algn="ctr" indent="0" marL="0">
              <a:buNone/>
            </a:pPr>
            <a:r>
              <a:rPr lang="en-US" sz="1400" b="1" dirty="0">
                <a:solidFill>
                  <a:schemeClr val="bg1"/>
                </a:solidFill>
              </a:rPr>
              <a:t>Người dùng</a:t>
            </a:r>
            <a:endParaRPr lang="en-US" sz="1400" dirty="0"/>
          </a:p>
        </p:txBody>
      </p:sp>
      <p:sp>
        <p:nvSpPr>
          <p:cNvPr id="6" name="Shape 4"/>
          <p:cNvSpPr/>
          <p:nvPr/>
        </p:nvSpPr>
        <p:spPr>
          <a:xfrm>
            <a:off x="1600200" y="2011680"/>
            <a:ext cx="0" cy="3840480"/>
          </a:xfrm>
          <a:prstGeom prst="line">
            <a:avLst/>
          </a:prstGeom>
          <a:noFill/>
          <a:ln w="12700">
            <a:solidFill>
              <a:srgbClr val="B4BFD3"/>
            </a:solidFill>
            <a:prstDash val="dash"/>
          </a:ln>
        </p:spPr>
      </p:sp>
      <p:sp>
        <p:nvSpPr>
          <p:cNvPr id="7" name="Text 5"/>
          <p:cNvSpPr txBox="1"/>
          <p:nvPr/>
        </p:nvSpPr>
        <p:spPr>
          <a:xfrm>
            <a:off x="3429000" y="1554480"/>
            <a:ext cx="2011680" cy="457200"/>
          </a:xfrm>
          <a:prstGeom prst="roundRect">
            <a:avLst>
              <a:gd name="adj" fmla="val 16000"/>
            </a:avLst>
          </a:prstGeom>
          <a:solidFill>
            <a:schemeClr val="accent2"/>
          </a:solidFill>
          <a:ln/>
        </p:spPr>
        <p:txBody>
          <a:bodyPr wrap="square" lIns="0" tIns="0" rIns="0" bIns="0" rtlCol="0" anchor="ctr"/>
          <a:lstStyle/>
          <a:p>
            <a:pPr algn="ctr" indent="0" marL="0">
              <a:buNone/>
            </a:pPr>
            <a:r>
              <a:rPr lang="en-US" sz="1400" b="1" dirty="0">
                <a:solidFill>
                  <a:schemeClr val="bg1"/>
                </a:solidFill>
              </a:rPr>
              <a:t>AI client</a:t>
            </a:r>
            <a:endParaRPr lang="en-US" sz="1400" dirty="0"/>
          </a:p>
        </p:txBody>
      </p:sp>
      <p:sp>
        <p:nvSpPr>
          <p:cNvPr id="8" name="Shape 6"/>
          <p:cNvSpPr/>
          <p:nvPr/>
        </p:nvSpPr>
        <p:spPr>
          <a:xfrm>
            <a:off x="4434840" y="2011680"/>
            <a:ext cx="0" cy="3840480"/>
          </a:xfrm>
          <a:prstGeom prst="line">
            <a:avLst/>
          </a:prstGeom>
          <a:noFill/>
          <a:ln w="12700">
            <a:solidFill>
              <a:srgbClr val="B4BFD3"/>
            </a:solidFill>
            <a:prstDash val="dash"/>
          </a:ln>
        </p:spPr>
      </p:sp>
      <p:sp>
        <p:nvSpPr>
          <p:cNvPr id="9" name="Text 7"/>
          <p:cNvSpPr txBox="1"/>
          <p:nvPr/>
        </p:nvSpPr>
        <p:spPr>
          <a:xfrm>
            <a:off x="6446520" y="1554480"/>
            <a:ext cx="2011680" cy="457200"/>
          </a:xfrm>
          <a:prstGeom prst="roundRect">
            <a:avLst>
              <a:gd name="adj" fmla="val 16000"/>
            </a:avLst>
          </a:prstGeom>
          <a:solidFill>
            <a:schemeClr val="accent1"/>
          </a:solidFill>
          <a:ln/>
        </p:spPr>
        <p:txBody>
          <a:bodyPr wrap="square" lIns="0" tIns="0" rIns="0" bIns="0" rtlCol="0" anchor="ctr"/>
          <a:lstStyle/>
          <a:p>
            <a:pPr algn="ctr" indent="0" marL="0">
              <a:buNone/>
            </a:pPr>
            <a:r>
              <a:rPr lang="en-US" sz="1400" b="1" dirty="0">
                <a:solidFill>
                  <a:schemeClr val="bg1"/>
                </a:solidFill>
              </a:rPr>
              <a:t>SHA MCP</a:t>
            </a:r>
            <a:endParaRPr lang="en-US" sz="1400" dirty="0"/>
          </a:p>
        </p:txBody>
      </p:sp>
      <p:sp>
        <p:nvSpPr>
          <p:cNvPr id="10" name="Shape 8"/>
          <p:cNvSpPr/>
          <p:nvPr/>
        </p:nvSpPr>
        <p:spPr>
          <a:xfrm>
            <a:off x="7452360" y="2011680"/>
            <a:ext cx="0" cy="3840480"/>
          </a:xfrm>
          <a:prstGeom prst="line">
            <a:avLst/>
          </a:prstGeom>
          <a:noFill/>
          <a:ln w="12700">
            <a:solidFill>
              <a:srgbClr val="B4BFD3"/>
            </a:solidFill>
            <a:prstDash val="dash"/>
          </a:ln>
        </p:spPr>
      </p:sp>
      <p:sp>
        <p:nvSpPr>
          <p:cNvPr id="11" name="Text 9"/>
          <p:cNvSpPr txBox="1"/>
          <p:nvPr/>
        </p:nvSpPr>
        <p:spPr>
          <a:xfrm>
            <a:off x="9464040" y="1554480"/>
            <a:ext cx="2011680" cy="457200"/>
          </a:xfrm>
          <a:prstGeom prst="roundRect">
            <a:avLst>
              <a:gd name="adj" fmla="val 16000"/>
            </a:avLst>
          </a:prstGeom>
          <a:solidFill>
            <a:schemeClr val="tx2"/>
          </a:solidFill>
          <a:ln/>
        </p:spPr>
        <p:txBody>
          <a:bodyPr wrap="square" lIns="0" tIns="0" rIns="0" bIns="0" rtlCol="0" anchor="ctr"/>
          <a:lstStyle/>
          <a:p>
            <a:pPr algn="ctr" indent="0" marL="0">
              <a:buNone/>
            </a:pPr>
            <a:r>
              <a:rPr lang="en-US" sz="1400" b="1" dirty="0">
                <a:solidFill>
                  <a:schemeClr val="bg1"/>
                </a:solidFill>
              </a:rPr>
              <a:t>SHA Gateway</a:t>
            </a:r>
            <a:endParaRPr lang="en-US" sz="1400" dirty="0"/>
          </a:p>
        </p:txBody>
      </p:sp>
      <p:sp>
        <p:nvSpPr>
          <p:cNvPr id="12" name="Shape 10"/>
          <p:cNvSpPr/>
          <p:nvPr/>
        </p:nvSpPr>
        <p:spPr>
          <a:xfrm>
            <a:off x="10469880" y="2011680"/>
            <a:ext cx="0" cy="3840480"/>
          </a:xfrm>
          <a:prstGeom prst="line">
            <a:avLst/>
          </a:prstGeom>
          <a:noFill/>
          <a:ln w="12700">
            <a:solidFill>
              <a:srgbClr val="B4BFD3"/>
            </a:solidFill>
            <a:prstDash val="dash"/>
          </a:ln>
        </p:spPr>
      </p:sp>
      <p:sp>
        <p:nvSpPr>
          <p:cNvPr id="13" name="Shape 11"/>
          <p:cNvSpPr/>
          <p:nvPr/>
        </p:nvSpPr>
        <p:spPr>
          <a:xfrm>
            <a:off x="1600200" y="2514600"/>
            <a:ext cx="2834640" cy="0"/>
          </a:xfrm>
          <a:prstGeom prst="line">
            <a:avLst/>
          </a:prstGeom>
          <a:noFill/>
          <a:ln w="19050">
            <a:solidFill>
              <a:schemeClr val="tx2"/>
            </a:solidFill>
            <a:prstDash val="solid"/>
            <a:tailEnd type="triangle"/>
          </a:ln>
        </p:spPr>
      </p:sp>
      <p:sp>
        <p:nvSpPr>
          <p:cNvPr id="14" name="Text 12"/>
          <p:cNvSpPr txBox="1"/>
          <p:nvPr/>
        </p:nvSpPr>
        <p:spPr>
          <a:xfrm>
            <a:off x="1645920" y="2212848"/>
            <a:ext cx="2743200" cy="256032"/>
          </a:xfrm>
          <a:prstGeom prst="rect">
            <a:avLst/>
          </a:prstGeom>
          <a:solidFill>
            <a:srgbClr val="FFFFFF"/>
          </a:solidFill>
          <a:ln/>
        </p:spPr>
        <p:txBody>
          <a:bodyPr wrap="square" lIns="0" tIns="0" rIns="0" bIns="0" rtlCol="0" anchor="ctr"/>
          <a:lstStyle/>
          <a:p>
            <a:pPr algn="ctr" indent="0" marL="0">
              <a:buNone/>
            </a:pPr>
            <a:r>
              <a:rPr lang="en-US" sz="1200" dirty="0">
                <a:solidFill>
                  <a:schemeClr val="tx1"/>
                </a:solidFill>
              </a:rPr>
              <a:t>1. Thêm connector SHA MCP</a:t>
            </a:r>
            <a:endParaRPr lang="en-US" sz="1200" dirty="0"/>
          </a:p>
        </p:txBody>
      </p:sp>
      <p:sp>
        <p:nvSpPr>
          <p:cNvPr id="15" name="Shape 13"/>
          <p:cNvSpPr/>
          <p:nvPr/>
        </p:nvSpPr>
        <p:spPr>
          <a:xfrm>
            <a:off x="4434840" y="2971800"/>
            <a:ext cx="3017520" cy="0"/>
          </a:xfrm>
          <a:prstGeom prst="line">
            <a:avLst/>
          </a:prstGeom>
          <a:noFill/>
          <a:ln w="19050">
            <a:solidFill>
              <a:schemeClr val="tx2"/>
            </a:solidFill>
            <a:prstDash val="solid"/>
            <a:tailEnd type="triangle"/>
          </a:ln>
        </p:spPr>
      </p:sp>
      <p:sp>
        <p:nvSpPr>
          <p:cNvPr id="16" name="Text 14"/>
          <p:cNvSpPr txBox="1"/>
          <p:nvPr/>
        </p:nvSpPr>
        <p:spPr>
          <a:xfrm>
            <a:off x="4480560" y="2670048"/>
            <a:ext cx="2926080" cy="256032"/>
          </a:xfrm>
          <a:prstGeom prst="rect">
            <a:avLst/>
          </a:prstGeom>
          <a:solidFill>
            <a:srgbClr val="FFFFFF"/>
          </a:solidFill>
          <a:ln/>
        </p:spPr>
        <p:txBody>
          <a:bodyPr wrap="square" lIns="0" tIns="0" rIns="0" bIns="0" rtlCol="0" anchor="ctr"/>
          <a:lstStyle/>
          <a:p>
            <a:pPr algn="ctr" indent="0" marL="0">
              <a:buNone/>
            </a:pPr>
            <a:r>
              <a:rPr lang="en-US" sz="1200" dirty="0">
                <a:solidFill>
                  <a:schemeClr val="tx1"/>
                </a:solidFill>
              </a:rPr>
              <a:t>2. Yêu cầu ủy quyền OAuth (PKCE)</a:t>
            </a:r>
            <a:endParaRPr lang="en-US" sz="1200" dirty="0"/>
          </a:p>
        </p:txBody>
      </p:sp>
      <p:sp>
        <p:nvSpPr>
          <p:cNvPr id="17" name="Shape 15"/>
          <p:cNvSpPr/>
          <p:nvPr/>
        </p:nvSpPr>
        <p:spPr>
          <a:xfrm flipH="1">
            <a:off x="1600200" y="3566160"/>
            <a:ext cx="5852160" cy="0"/>
          </a:xfrm>
          <a:prstGeom prst="line">
            <a:avLst/>
          </a:prstGeom>
          <a:noFill/>
          <a:ln w="19050">
            <a:solidFill>
              <a:schemeClr val="accent1"/>
            </a:solidFill>
            <a:prstDash val="solid"/>
            <a:tailEnd type="triangle"/>
          </a:ln>
        </p:spPr>
      </p:sp>
      <p:sp>
        <p:nvSpPr>
          <p:cNvPr id="18" name="Text 16"/>
          <p:cNvSpPr txBox="1"/>
          <p:nvPr/>
        </p:nvSpPr>
        <p:spPr>
          <a:xfrm>
            <a:off x="1645920" y="3264408"/>
            <a:ext cx="5760720" cy="256032"/>
          </a:xfrm>
          <a:prstGeom prst="rect">
            <a:avLst/>
          </a:prstGeom>
          <a:solidFill>
            <a:srgbClr val="FEEEE6"/>
          </a:solidFill>
          <a:ln/>
        </p:spPr>
        <p:txBody>
          <a:bodyPr wrap="square" lIns="0" tIns="0" rIns="0" bIns="0" rtlCol="0" anchor="ctr"/>
          <a:lstStyle/>
          <a:p>
            <a:pPr algn="ctr" indent="0" marL="0">
              <a:buNone/>
            </a:pPr>
            <a:r>
              <a:rPr lang="en-US" sz="1200" dirty="0">
                <a:solidFill>
                  <a:schemeClr val="tx1"/>
                </a:solidFill>
              </a:rPr>
              <a:t>3. Mở trang đăng nhập SHA MCP trên trình duyệt</a:t>
            </a:r>
            <a:endParaRPr lang="en-US" sz="1200" dirty="0"/>
          </a:p>
        </p:txBody>
      </p:sp>
      <p:sp>
        <p:nvSpPr>
          <p:cNvPr id="19" name="Shape 17"/>
          <p:cNvSpPr/>
          <p:nvPr/>
        </p:nvSpPr>
        <p:spPr>
          <a:xfrm>
            <a:off x="1600200" y="4023360"/>
            <a:ext cx="5852160" cy="0"/>
          </a:xfrm>
          <a:prstGeom prst="line">
            <a:avLst/>
          </a:prstGeom>
          <a:noFill/>
          <a:ln w="19050">
            <a:solidFill>
              <a:schemeClr val="accent1"/>
            </a:solidFill>
            <a:prstDash val="solid"/>
            <a:tailEnd type="triangle"/>
          </a:ln>
        </p:spPr>
      </p:sp>
      <p:sp>
        <p:nvSpPr>
          <p:cNvPr id="20" name="Text 18"/>
          <p:cNvSpPr txBox="1"/>
          <p:nvPr/>
        </p:nvSpPr>
        <p:spPr>
          <a:xfrm>
            <a:off x="1645920" y="3721608"/>
            <a:ext cx="5760720" cy="256032"/>
          </a:xfrm>
          <a:prstGeom prst="rect">
            <a:avLst/>
          </a:prstGeom>
          <a:solidFill>
            <a:srgbClr val="FEEEE6"/>
          </a:solidFill>
          <a:ln/>
        </p:spPr>
        <p:txBody>
          <a:bodyPr wrap="square" lIns="0" tIns="0" rIns="0" bIns="0" rtlCol="0" anchor="ctr"/>
          <a:lstStyle/>
          <a:p>
            <a:pPr algn="ctr" indent="0" marL="0">
              <a:buNone/>
            </a:pPr>
            <a:r>
              <a:rPr lang="en-US" sz="1200" dirty="0">
                <a:solidFill>
                  <a:schemeClr val="tx1"/>
                </a:solidFill>
              </a:rPr>
              <a:t>4. Nhập ID, mật khẩu, OTP ma trận</a:t>
            </a:r>
            <a:endParaRPr lang="en-US" sz="1200" dirty="0"/>
          </a:p>
        </p:txBody>
      </p:sp>
      <p:sp>
        <p:nvSpPr>
          <p:cNvPr id="21" name="Shape 19"/>
          <p:cNvSpPr/>
          <p:nvPr/>
        </p:nvSpPr>
        <p:spPr>
          <a:xfrm>
            <a:off x="7452360" y="4480560"/>
            <a:ext cx="3017520" cy="0"/>
          </a:xfrm>
          <a:prstGeom prst="line">
            <a:avLst/>
          </a:prstGeom>
          <a:noFill/>
          <a:ln w="19050">
            <a:solidFill>
              <a:schemeClr val="tx2"/>
            </a:solidFill>
            <a:prstDash val="solid"/>
            <a:tailEnd type="triangle"/>
          </a:ln>
        </p:spPr>
      </p:sp>
      <p:sp>
        <p:nvSpPr>
          <p:cNvPr id="22" name="Text 20"/>
          <p:cNvSpPr txBox="1"/>
          <p:nvPr/>
        </p:nvSpPr>
        <p:spPr>
          <a:xfrm>
            <a:off x="7498080" y="4178808"/>
            <a:ext cx="2926080" cy="256032"/>
          </a:xfrm>
          <a:prstGeom prst="rect">
            <a:avLst/>
          </a:prstGeom>
          <a:solidFill>
            <a:srgbClr val="FFFFFF"/>
          </a:solidFill>
          <a:ln/>
        </p:spPr>
        <p:txBody>
          <a:bodyPr wrap="square" lIns="0" tIns="0" rIns="0" bIns="0" rtlCol="0" anchor="ctr"/>
          <a:lstStyle/>
          <a:p>
            <a:pPr algn="ctr" indent="0" marL="0">
              <a:buNone/>
            </a:pPr>
            <a:r>
              <a:rPr lang="en-US" sz="1200" dirty="0">
                <a:solidFill>
                  <a:schemeClr val="tx1"/>
                </a:solidFill>
              </a:rPr>
              <a:t>5. Xác thực, nhận phiên SHA</a:t>
            </a:r>
            <a:endParaRPr lang="en-US" sz="1200" dirty="0"/>
          </a:p>
        </p:txBody>
      </p:sp>
      <p:sp>
        <p:nvSpPr>
          <p:cNvPr id="23" name="Shape 21"/>
          <p:cNvSpPr/>
          <p:nvPr/>
        </p:nvSpPr>
        <p:spPr>
          <a:xfrm>
            <a:off x="1600200" y="4937760"/>
            <a:ext cx="5852160" cy="0"/>
          </a:xfrm>
          <a:prstGeom prst="line">
            <a:avLst/>
          </a:prstGeom>
          <a:noFill/>
          <a:ln w="19050">
            <a:solidFill>
              <a:schemeClr val="accent1"/>
            </a:solidFill>
            <a:prstDash val="solid"/>
            <a:tailEnd type="triangle"/>
          </a:ln>
        </p:spPr>
      </p:sp>
      <p:sp>
        <p:nvSpPr>
          <p:cNvPr id="24" name="Text 22"/>
          <p:cNvSpPr txBox="1"/>
          <p:nvPr/>
        </p:nvSpPr>
        <p:spPr>
          <a:xfrm>
            <a:off x="1645920" y="4636008"/>
            <a:ext cx="5760720" cy="256032"/>
          </a:xfrm>
          <a:prstGeom prst="rect">
            <a:avLst/>
          </a:prstGeom>
          <a:solidFill>
            <a:srgbClr val="FEEEE6"/>
          </a:solidFill>
          <a:ln/>
        </p:spPr>
        <p:txBody>
          <a:bodyPr wrap="square" lIns="0" tIns="0" rIns="0" bIns="0" rtlCol="0" anchor="ctr"/>
          <a:lstStyle/>
          <a:p>
            <a:pPr algn="ctr" indent="0" marL="0">
              <a:buNone/>
            </a:pPr>
            <a:r>
              <a:rPr lang="en-US" sz="1200" dirty="0">
                <a:solidFill>
                  <a:schemeClr val="tx1"/>
                </a:solidFill>
              </a:rPr>
              <a:t>6. Đồng ý quyền đọc (tùy chọn PII)</a:t>
            </a:r>
            <a:endParaRPr lang="en-US" sz="1200" dirty="0"/>
          </a:p>
        </p:txBody>
      </p:sp>
      <p:sp>
        <p:nvSpPr>
          <p:cNvPr id="25" name="Shape 23"/>
          <p:cNvSpPr/>
          <p:nvPr/>
        </p:nvSpPr>
        <p:spPr>
          <a:xfrm flipH="1">
            <a:off x="4434840" y="5760720"/>
            <a:ext cx="3017520" cy="0"/>
          </a:xfrm>
          <a:prstGeom prst="line">
            <a:avLst/>
          </a:prstGeom>
          <a:noFill/>
          <a:ln w="19050">
            <a:solidFill>
              <a:schemeClr val="tx2"/>
            </a:solidFill>
            <a:prstDash val="solid"/>
            <a:tailEnd type="triangle"/>
          </a:ln>
        </p:spPr>
      </p:sp>
      <p:sp>
        <p:nvSpPr>
          <p:cNvPr id="26" name="Text 24"/>
          <p:cNvSpPr txBox="1"/>
          <p:nvPr/>
        </p:nvSpPr>
        <p:spPr>
          <a:xfrm>
            <a:off x="4480560" y="5458968"/>
            <a:ext cx="2926080" cy="256032"/>
          </a:xfrm>
          <a:prstGeom prst="rect">
            <a:avLst/>
          </a:prstGeom>
          <a:solidFill>
            <a:srgbClr val="FFFFFF"/>
          </a:solidFill>
          <a:ln/>
        </p:spPr>
        <p:txBody>
          <a:bodyPr wrap="square" lIns="0" tIns="0" rIns="0" bIns="0" rtlCol="0" anchor="ctr"/>
          <a:lstStyle/>
          <a:p>
            <a:pPr algn="ctr" indent="0" marL="0">
              <a:buNone/>
            </a:pPr>
            <a:r>
              <a:rPr lang="en-US" sz="1200" dirty="0">
                <a:solidFill>
                  <a:schemeClr val="tx1"/>
                </a:solidFill>
              </a:rPr>
              <a:t>7. Cấp token MCP riêng, khác token SHA</a:t>
            </a:r>
            <a:endParaRPr lang="en-US" sz="1200" dirty="0"/>
          </a:p>
        </p:txBody>
      </p:sp>
      <p:sp>
        <p:nvSpPr>
          <p:cNvPr id="27" name="Text 25"/>
          <p:cNvSpPr txBox="1"/>
          <p:nvPr/>
        </p:nvSpPr>
        <p:spPr>
          <a:xfrm>
            <a:off x="685800" y="5029200"/>
            <a:ext cx="3611880" cy="256032"/>
          </a:xfrm>
          <a:prstGeom prst="rect">
            <a:avLst/>
          </a:prstGeom>
          <a:noFill/>
          <a:ln/>
        </p:spPr>
        <p:txBody>
          <a:bodyPr wrap="square" lIns="0" tIns="0" rIns="0" bIns="0" rtlCol="0" anchor="ctr"/>
          <a:lstStyle/>
          <a:p>
            <a:pPr indent="0" marL="0">
              <a:buNone/>
            </a:pPr>
            <a:r>
              <a:rPr lang="en-US" sz="1200" b="1" dirty="0">
                <a:solidFill>
                  <a:schemeClr val="accent1"/>
                </a:solidFill>
              </a:rPr>
              <a:t>Vùng trình duyệt: </a:t>
            </a:r>
            <a:pPr indent="0" marL="0">
              <a:buNone/>
            </a:pPr>
            <a:r>
              <a:rPr lang="en-US" sz="1200" dirty="0">
                <a:solidFill>
                  <a:schemeClr val="tx2"/>
                </a:solidFill>
              </a:rPr>
              <a:t>AI không thấy mật khẩu, OTP</a:t>
            </a:r>
            <a:endParaRPr lang="en-US" sz="1200" dirty="0"/>
          </a:p>
        </p:txBody>
      </p:sp>
      <p:sp>
        <p:nvSpPr>
          <p:cNvPr id="28" name="Text 26"/>
          <p:cNvSpPr txBox="1"/>
          <p:nvPr/>
        </p:nvSpPr>
        <p:spPr>
          <a:xfrm>
            <a:off x="548640" y="5989320"/>
            <a:ext cx="10241280" cy="292608"/>
          </a:xfrm>
          <a:prstGeom prst="rect">
            <a:avLst/>
          </a:prstGeom>
          <a:noFill/>
          <a:ln/>
        </p:spPr>
        <p:txBody>
          <a:bodyPr wrap="square" lIns="0" tIns="0" rIns="0" bIns="0" rtlCol="0" anchor="t"/>
          <a:lstStyle/>
          <a:p>
            <a:pPr indent="0" marL="0">
              <a:buNone/>
            </a:pPr>
            <a:r>
              <a:rPr lang="en-US" sz="1300" b="1" dirty="0">
                <a:solidFill>
                  <a:schemeClr val="tx2"/>
                </a:solidFill>
              </a:rPr>
              <a:t>Từ đó, mỗi câu hỏi: AI gửi token → SHA MCP kiểm tra token và quyền → gọi SHA bằng phiên của chính người dùng.</a:t>
            </a:r>
            <a:endParaRPr lang="en-US" sz="13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03 · BẢO MẬT</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Trách nhiệm chia sẻ để dùng AI an toàn</a:t>
            </a:r>
            <a:endParaRPr lang="en-US" sz="3000" dirty="0"/>
          </a:p>
        </p:txBody>
      </p:sp>
      <p:sp>
        <p:nvSpPr>
          <p:cNvPr id="4" name="Shape 2"/>
          <p:cNvSpPr/>
          <p:nvPr/>
        </p:nvSpPr>
        <p:spPr>
          <a:xfrm>
            <a:off x="548640" y="1600200"/>
            <a:ext cx="3520440" cy="3291840"/>
          </a:xfrm>
          <a:prstGeom prst="roundRect">
            <a:avLst>
              <a:gd name="adj" fmla="val 3333"/>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5" name="Shape 3"/>
          <p:cNvSpPr/>
          <p:nvPr/>
        </p:nvSpPr>
        <p:spPr>
          <a:xfrm>
            <a:off x="822960" y="1828800"/>
            <a:ext cx="548640" cy="54864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60120" y="1965960"/>
            <a:ext cx="274320" cy="274320"/>
          </a:xfrm>
          <a:prstGeom prst="rect">
            <a:avLst/>
          </a:prstGeom>
        </p:spPr>
      </p:pic>
      <p:sp>
        <p:nvSpPr>
          <p:cNvPr id="7" name="Text 4"/>
          <p:cNvSpPr txBox="1"/>
          <p:nvPr/>
        </p:nvSpPr>
        <p:spPr>
          <a:xfrm>
            <a:off x="1508760" y="182880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SHS: MCP server</a:t>
            </a:r>
            <a:endParaRPr lang="en-US" sz="1700" dirty="0"/>
          </a:p>
        </p:txBody>
      </p:sp>
      <p:sp>
        <p:nvSpPr>
          <p:cNvPr id="8" name="Text 5"/>
          <p:cNvSpPr txBox="1"/>
          <p:nvPr/>
        </p:nvSpPr>
        <p:spPr>
          <a:xfrm>
            <a:off x="822960" y="2606040"/>
            <a:ext cx="301752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Xác thực, phân quyền, chỉ đọc</a:t>
            </a:r>
            <a:endParaRPr lang="en-US" sz="1400" dirty="0"/>
          </a:p>
          <a:p>
            <a:pPr marL="342900" indent="-342900">
              <a:spcAft>
                <a:spcPts val="800"/>
              </a:spcAft>
              <a:buSzPct val="100000"/>
              <a:buChar char="•"/>
            </a:pPr>
            <a:r>
              <a:rPr lang="en-US" sz="1400" dirty="0">
                <a:solidFill>
                  <a:schemeClr val="tx1"/>
                </a:solidFill>
              </a:rPr>
              <a:t>Tối thiểu hóa dữ liệu trả về (PII tùy chọn)</a:t>
            </a:r>
            <a:endParaRPr lang="en-US" sz="1400" dirty="0"/>
          </a:p>
          <a:p>
            <a:pPr marL="342900" indent="-342900">
              <a:spcAft>
                <a:spcPts val="800"/>
              </a:spcAft>
              <a:buSzPct val="100000"/>
              <a:buChar char="•"/>
            </a:pPr>
            <a:r>
              <a:rPr lang="en-US" sz="1400" dirty="0">
                <a:solidFill>
                  <a:schemeClr val="tx1"/>
                </a:solidFill>
              </a:rPr>
              <a:t>Nhật ký, danh sách người dùng được phép</a:t>
            </a:r>
            <a:endParaRPr lang="en-US" sz="1400" dirty="0"/>
          </a:p>
        </p:txBody>
      </p:sp>
      <p:sp>
        <p:nvSpPr>
          <p:cNvPr id="9" name="Shape 6"/>
          <p:cNvSpPr/>
          <p:nvPr/>
        </p:nvSpPr>
        <p:spPr>
          <a:xfrm>
            <a:off x="4343400" y="1600200"/>
            <a:ext cx="3520440" cy="3291840"/>
          </a:xfrm>
          <a:prstGeom prst="roundRect">
            <a:avLst>
              <a:gd name="adj" fmla="val 3333"/>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0" name="Shape 7"/>
          <p:cNvSpPr/>
          <p:nvPr/>
        </p:nvSpPr>
        <p:spPr>
          <a:xfrm>
            <a:off x="4617720" y="1828800"/>
            <a:ext cx="548640" cy="54864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4754880" y="1965960"/>
            <a:ext cx="274320" cy="274320"/>
          </a:xfrm>
          <a:prstGeom prst="rect">
            <a:avLst/>
          </a:prstGeom>
        </p:spPr>
      </p:pic>
      <p:sp>
        <p:nvSpPr>
          <p:cNvPr id="12" name="Text 8"/>
          <p:cNvSpPr txBox="1"/>
          <p:nvPr/>
        </p:nvSpPr>
        <p:spPr>
          <a:xfrm>
            <a:off x="5303520" y="182880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Nhà cung cấp AI</a:t>
            </a:r>
            <a:endParaRPr lang="en-US" sz="1700" dirty="0"/>
          </a:p>
        </p:txBody>
      </p:sp>
      <p:sp>
        <p:nvSpPr>
          <p:cNvPr id="13" name="Text 9"/>
          <p:cNvSpPr txBox="1"/>
          <p:nvPr/>
        </p:nvSpPr>
        <p:spPr>
          <a:xfrm>
            <a:off x="4617720" y="2606040"/>
            <a:ext cx="301752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Dữ liệu trả về được gửi tới mô hình để xử lý</a:t>
            </a:r>
            <a:endParaRPr lang="en-US" sz="1400" dirty="0"/>
          </a:p>
          <a:p>
            <a:pPr marL="342900" indent="-342900">
              <a:spcAft>
                <a:spcPts val="800"/>
              </a:spcAft>
              <a:buSzPct val="100000"/>
              <a:buChar char="•"/>
            </a:pPr>
            <a:r>
              <a:rPr lang="en-US" sz="1400" dirty="0">
                <a:solidFill>
                  <a:schemeClr val="tx1"/>
                </a:solidFill>
              </a:rPr>
              <a:t>Dùng gói doanh nghiệp: không huấn luyện trên dữ liệu, có quản trị</a:t>
            </a:r>
            <a:endParaRPr lang="en-US" sz="1400" dirty="0"/>
          </a:p>
          <a:p>
            <a:pPr marL="342900" indent="-342900">
              <a:spcAft>
                <a:spcPts val="800"/>
              </a:spcAft>
              <a:buSzPct val="100000"/>
              <a:buChar char="•"/>
            </a:pPr>
            <a:r>
              <a:rPr lang="en-US" sz="1400" dirty="0">
                <a:solidFill>
                  <a:schemeClr val="tx1"/>
                </a:solidFill>
              </a:rPr>
              <a:t>Chính sách lưu trữ hội thoại</a:t>
            </a:r>
            <a:endParaRPr lang="en-US" sz="1400" dirty="0"/>
          </a:p>
        </p:txBody>
      </p:sp>
      <p:sp>
        <p:nvSpPr>
          <p:cNvPr id="14" name="Shape 10"/>
          <p:cNvSpPr/>
          <p:nvPr/>
        </p:nvSpPr>
        <p:spPr>
          <a:xfrm>
            <a:off x="8138160" y="1600200"/>
            <a:ext cx="3520440" cy="3291840"/>
          </a:xfrm>
          <a:prstGeom prst="roundRect">
            <a:avLst>
              <a:gd name="adj" fmla="val 3333"/>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5" name="Shape 11"/>
          <p:cNvSpPr/>
          <p:nvPr/>
        </p:nvSpPr>
        <p:spPr>
          <a:xfrm>
            <a:off x="8412480" y="1828800"/>
            <a:ext cx="548640" cy="548640"/>
          </a:xfrm>
          <a:prstGeom prst="ellipse">
            <a:avLst/>
          </a:prstGeom>
          <a:solidFill>
            <a:schemeClr val="tx2"/>
          </a:solidFill>
          <a:ln/>
        </p:spPr>
      </p:sp>
      <p:pic>
        <p:nvPicPr>
          <p:cNvPr id="16" name="Image 2" descr="preencoded.png">    </p:cNvPr>
          <p:cNvPicPr>
            <a:picLocks noChangeAspect="1"/>
          </p:cNvPicPr>
          <p:nvPr/>
        </p:nvPicPr>
        <p:blipFill>
          <a:blip r:embed="rId3"/>
          <a:stretch>
            <a:fillRect/>
          </a:stretch>
        </p:blipFill>
        <p:spPr>
          <a:xfrm>
            <a:off x="8549640" y="1965960"/>
            <a:ext cx="274320" cy="274320"/>
          </a:xfrm>
          <a:prstGeom prst="rect">
            <a:avLst/>
          </a:prstGeom>
        </p:spPr>
      </p:pic>
      <p:sp>
        <p:nvSpPr>
          <p:cNvPr id="17" name="Text 12"/>
          <p:cNvSpPr txBox="1"/>
          <p:nvPr/>
        </p:nvSpPr>
        <p:spPr>
          <a:xfrm>
            <a:off x="9098280" y="1828800"/>
            <a:ext cx="2377440" cy="548640"/>
          </a:xfrm>
          <a:prstGeom prst="rect">
            <a:avLst/>
          </a:prstGeom>
          <a:noFill/>
          <a:ln/>
        </p:spPr>
        <p:txBody>
          <a:bodyPr wrap="square" lIns="0" tIns="0" rIns="0" bIns="0" rtlCol="0" anchor="ctr"/>
          <a:lstStyle/>
          <a:p>
            <a:pPr indent="0" marL="0">
              <a:buNone/>
            </a:pPr>
            <a:r>
              <a:rPr lang="en-US" sz="1700" b="1" dirty="0">
                <a:solidFill>
                  <a:schemeClr val="tx2"/>
                </a:solidFill>
              </a:rPr>
              <a:t>Người dùng</a:t>
            </a:r>
            <a:endParaRPr lang="en-US" sz="1700" dirty="0"/>
          </a:p>
        </p:txBody>
      </p:sp>
      <p:sp>
        <p:nvSpPr>
          <p:cNvPr id="18" name="Text 13"/>
          <p:cNvSpPr txBox="1"/>
          <p:nvPr/>
        </p:nvSpPr>
        <p:spPr>
          <a:xfrm>
            <a:off x="8412480" y="2606040"/>
            <a:ext cx="3017520" cy="2148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Kiểm tra lại số liệu trước khi tư vấn</a:t>
            </a:r>
            <a:endParaRPr lang="en-US" sz="1400" dirty="0"/>
          </a:p>
          <a:p>
            <a:pPr marL="342900" indent="-342900">
              <a:spcAft>
                <a:spcPts val="800"/>
              </a:spcAft>
              <a:buSzPct val="100000"/>
              <a:buChar char="•"/>
            </a:pPr>
            <a:r>
              <a:rPr lang="en-US" sz="1400" dirty="0">
                <a:solidFill>
                  <a:schemeClr val="tx1"/>
                </a:solidFill>
              </a:rPr>
              <a:t>Không đưa mật khẩu, OTP vào khung chat</a:t>
            </a:r>
            <a:endParaRPr lang="en-US" sz="1400" dirty="0"/>
          </a:p>
          <a:p>
            <a:pPr marL="342900" indent="-342900">
              <a:spcAft>
                <a:spcPts val="800"/>
              </a:spcAft>
              <a:buSzPct val="100000"/>
              <a:buChar char="•"/>
            </a:pPr>
            <a:r>
              <a:rPr lang="en-US" sz="1400" dirty="0">
                <a:solidFill>
                  <a:schemeClr val="tx1"/>
                </a:solidFill>
              </a:rPr>
              <a:t>AI hỗ trợ, chuyên viên quyết định</a:t>
            </a:r>
            <a:endParaRPr lang="en-US" sz="1400" dirty="0"/>
          </a:p>
        </p:txBody>
      </p:sp>
      <p:sp>
        <p:nvSpPr>
          <p:cNvPr id="19" name="Text 14"/>
          <p:cNvSpPr txBox="1"/>
          <p:nvPr/>
        </p:nvSpPr>
        <p:spPr>
          <a:xfrm>
            <a:off x="548640" y="5120640"/>
            <a:ext cx="11109960" cy="960120"/>
          </a:xfrm>
          <a:prstGeom prst="roundRect">
            <a:avLst>
              <a:gd name="adj" fmla="val 11429"/>
            </a:avLst>
          </a:prstGeom>
          <a:solidFill>
            <a:schemeClr val="tx2"/>
          </a:solidFill>
          <a:ln/>
        </p:spPr>
        <p:txBody>
          <a:bodyPr wrap="square" lIns="203200" tIns="203200" rIns="203200" bIns="203200" rtlCol="0" anchor="ctr"/>
          <a:lstStyle/>
          <a:p>
            <a:pPr indent="0" marL="0">
              <a:buNone/>
            </a:pPr>
            <a:r>
              <a:rPr lang="en-US" sz="1600" dirty="0">
                <a:solidFill>
                  <a:schemeClr val="bg1"/>
                </a:solidFill>
              </a:rPr>
              <a:t>MCP giúp AI chỉ thấy phần dữ liệu cần thiết, đúng người, đúng quyền. Phần còn lại cần chính sách nội bộ và gói AI doanh nghiệp phù hợp.</a:t>
            </a:r>
            <a:endParaRPr lang="en-US" sz="16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04 · CHỈ DẪN CHO AI</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Chỉ dẫn biến AI phổ thông thành “chuyên viên SHS”</a:t>
            </a:r>
            <a:endParaRPr lang="en-US" sz="3000" dirty="0"/>
          </a:p>
        </p:txBody>
      </p:sp>
      <p:sp>
        <p:nvSpPr>
          <p:cNvPr id="4" name="layer0"/>
          <p:cNvSpPr/>
          <p:nvPr/>
        </p:nvSpPr>
        <p:spPr>
          <a:xfrm>
            <a:off x="1234440" y="1645920"/>
            <a:ext cx="5212080" cy="932688"/>
          </a:xfrm>
          <a:prstGeom prst="roundRect">
            <a:avLst>
              <a:gd name="adj" fmla="val 9804"/>
            </a:avLst>
          </a:prstGeom>
          <a:solidFill>
            <a:schemeClr val="bg2"/>
          </a:solidFill>
          <a:ln/>
        </p:spPr>
      </p:sp>
      <p:sp>
        <p:nvSpPr>
          <p:cNvPr id="5" name="Text 3"/>
          <p:cNvSpPr txBox="1"/>
          <p:nvPr/>
        </p:nvSpPr>
        <p:spPr>
          <a:xfrm>
            <a:off x="1508760" y="1783080"/>
            <a:ext cx="3154680" cy="320040"/>
          </a:xfrm>
          <a:prstGeom prst="rect">
            <a:avLst/>
          </a:prstGeom>
          <a:noFill/>
          <a:ln/>
        </p:spPr>
        <p:txBody>
          <a:bodyPr wrap="square" lIns="0" tIns="0" rIns="0" bIns="0" rtlCol="0" anchor="t"/>
          <a:lstStyle/>
          <a:p>
            <a:pPr indent="0" marL="0">
              <a:buNone/>
            </a:pPr>
            <a:r>
              <a:rPr lang="en-US" sz="1600" b="1" dirty="0">
                <a:solidFill>
                  <a:schemeClr val="tx2"/>
                </a:solidFill>
              </a:rPr>
              <a:t>Câu hỏi của chuyên viên</a:t>
            </a:r>
            <a:endParaRPr lang="en-US" sz="1600" dirty="0"/>
          </a:p>
        </p:txBody>
      </p:sp>
      <p:sp>
        <p:nvSpPr>
          <p:cNvPr id="6" name="Text 4"/>
          <p:cNvSpPr txBox="1"/>
          <p:nvPr/>
        </p:nvSpPr>
        <p:spPr>
          <a:xfrm>
            <a:off x="1508760" y="2121408"/>
            <a:ext cx="4251960" cy="365760"/>
          </a:xfrm>
          <a:prstGeom prst="rect">
            <a:avLst/>
          </a:prstGeom>
          <a:noFill/>
          <a:ln/>
        </p:spPr>
        <p:txBody>
          <a:bodyPr wrap="square" lIns="0" tIns="0" rIns="0" bIns="0" rtlCol="0" anchor="t"/>
          <a:lstStyle/>
          <a:p>
            <a:pPr indent="0" marL="0">
              <a:buNone/>
            </a:pPr>
            <a:r>
              <a:rPr lang="en-US" sz="1400" dirty="0">
                <a:solidFill>
                  <a:schemeClr val="tx2"/>
                </a:solidFill>
              </a:rPr>
              <a:t>Ngắn gọn, tự nhiên, không cần biết tên tool</a:t>
            </a:r>
            <a:endParaRPr lang="en-US" sz="1400" dirty="0"/>
          </a:p>
        </p:txBody>
      </p:sp>
      <p:sp>
        <p:nvSpPr>
          <p:cNvPr id="7" name="Text 5"/>
          <p:cNvSpPr txBox="1"/>
          <p:nvPr/>
        </p:nvSpPr>
        <p:spPr>
          <a:xfrm>
            <a:off x="5074920" y="1783080"/>
            <a:ext cx="1188720" cy="274320"/>
          </a:xfrm>
          <a:prstGeom prst="roundRect">
            <a:avLst>
              <a:gd name="adj" fmla="val 26667"/>
            </a:avLst>
          </a:prstGeom>
          <a:solidFill>
            <a:schemeClr val="bg1"/>
          </a:solidFill>
          <a:ln w="9525">
            <a:solidFill>
              <a:srgbClr val="DCE3EF"/>
            </a:solidFill>
          </a:ln>
        </p:spPr>
        <p:txBody>
          <a:bodyPr wrap="square" lIns="0" tIns="0" rIns="0" bIns="0" rtlCol="0" anchor="ctr"/>
          <a:lstStyle/>
          <a:p>
            <a:pPr algn="ctr" indent="0" marL="0">
              <a:buNone/>
            </a:pPr>
            <a:r>
              <a:rPr lang="en-US" sz="1100" b="1" dirty="0">
                <a:solidFill>
                  <a:schemeClr val="tx2"/>
                </a:solidFill>
              </a:rPr>
              <a:t>Người dùng</a:t>
            </a:r>
            <a:endParaRPr lang="en-US" sz="1100" dirty="0"/>
          </a:p>
        </p:txBody>
      </p:sp>
      <p:sp>
        <p:nvSpPr>
          <p:cNvPr id="8" name="layer1"/>
          <p:cNvSpPr/>
          <p:nvPr/>
        </p:nvSpPr>
        <p:spPr>
          <a:xfrm>
            <a:off x="1005840" y="2724912"/>
            <a:ext cx="5669280" cy="932688"/>
          </a:xfrm>
          <a:prstGeom prst="roundRect">
            <a:avLst>
              <a:gd name="adj" fmla="val 9804"/>
            </a:avLst>
          </a:prstGeom>
          <a:solidFill>
            <a:schemeClr val="accent1"/>
          </a:solidFill>
          <a:ln/>
        </p:spPr>
      </p:sp>
      <p:sp>
        <p:nvSpPr>
          <p:cNvPr id="9" name="Text 7"/>
          <p:cNvSpPr txBox="1"/>
          <p:nvPr/>
        </p:nvSpPr>
        <p:spPr>
          <a:xfrm>
            <a:off x="1280160" y="2862072"/>
            <a:ext cx="3611880" cy="320040"/>
          </a:xfrm>
          <a:prstGeom prst="rect">
            <a:avLst/>
          </a:prstGeom>
          <a:noFill/>
          <a:ln/>
        </p:spPr>
        <p:txBody>
          <a:bodyPr wrap="square" lIns="0" tIns="0" rIns="0" bIns="0" rtlCol="0" anchor="t"/>
          <a:lstStyle/>
          <a:p>
            <a:pPr indent="0" marL="0">
              <a:buNone/>
            </a:pPr>
            <a:r>
              <a:rPr lang="en-US" sz="1600" b="1" dirty="0">
                <a:solidFill>
                  <a:schemeClr val="bg1"/>
                </a:solidFill>
              </a:rPr>
              <a:t>Chỉ dẫn dự án / Skill của SHS</a:t>
            </a:r>
            <a:endParaRPr lang="en-US" sz="1600" dirty="0"/>
          </a:p>
        </p:txBody>
      </p:sp>
      <p:sp>
        <p:nvSpPr>
          <p:cNvPr id="10" name="Text 8"/>
          <p:cNvSpPr txBox="1"/>
          <p:nvPr/>
        </p:nvSpPr>
        <p:spPr>
          <a:xfrm>
            <a:off x="1280160" y="3200400"/>
            <a:ext cx="4709160" cy="365760"/>
          </a:xfrm>
          <a:prstGeom prst="rect">
            <a:avLst/>
          </a:prstGeom>
          <a:noFill/>
          <a:ln/>
        </p:spPr>
        <p:txBody>
          <a:bodyPr wrap="square" lIns="0" tIns="0" rIns="0" bIns="0" rtlCol="0" anchor="t"/>
          <a:lstStyle/>
          <a:p>
            <a:pPr indent="0" marL="0">
              <a:buNone/>
            </a:pPr>
            <a:r>
              <a:rPr lang="en-US" sz="1400" dirty="0">
                <a:solidFill>
                  <a:schemeClr val="bg1"/>
                </a:solidFill>
              </a:rPr>
              <a:t>Vai trò, quy trình tư vấn, mẫu báo cáo, tuân thủ</a:t>
            </a:r>
            <a:endParaRPr lang="en-US" sz="1400" dirty="0"/>
          </a:p>
        </p:txBody>
      </p:sp>
      <p:sp>
        <p:nvSpPr>
          <p:cNvPr id="11" name="Text 9"/>
          <p:cNvSpPr txBox="1"/>
          <p:nvPr/>
        </p:nvSpPr>
        <p:spPr>
          <a:xfrm>
            <a:off x="5303520" y="2862072"/>
            <a:ext cx="1188720" cy="274320"/>
          </a:xfrm>
          <a:prstGeom prst="roundRect">
            <a:avLst>
              <a:gd name="adj" fmla="val 26667"/>
            </a:avLst>
          </a:prstGeom>
          <a:solidFill>
            <a:schemeClr val="bg1"/>
          </a:solidFill>
          <a:ln w="9525">
            <a:solidFill>
              <a:srgbClr val="DCE3EF"/>
            </a:solidFill>
          </a:ln>
        </p:spPr>
        <p:txBody>
          <a:bodyPr wrap="square" lIns="0" tIns="0" rIns="0" bIns="0" rtlCol="0" anchor="ctr"/>
          <a:lstStyle/>
          <a:p>
            <a:pPr algn="ctr" indent="0" marL="0">
              <a:buNone/>
            </a:pPr>
            <a:r>
              <a:rPr lang="en-US" sz="1100" b="1" dirty="0">
                <a:solidFill>
                  <a:schemeClr val="tx2"/>
                </a:solidFill>
              </a:rPr>
              <a:t>Phía AI client</a:t>
            </a:r>
            <a:endParaRPr lang="en-US" sz="1100" dirty="0"/>
          </a:p>
        </p:txBody>
      </p:sp>
      <p:sp>
        <p:nvSpPr>
          <p:cNvPr id="12" name="layer2"/>
          <p:cNvSpPr/>
          <p:nvPr/>
        </p:nvSpPr>
        <p:spPr>
          <a:xfrm>
            <a:off x="777240" y="3803904"/>
            <a:ext cx="6126480" cy="932688"/>
          </a:xfrm>
          <a:prstGeom prst="roundRect">
            <a:avLst>
              <a:gd name="adj" fmla="val 9804"/>
            </a:avLst>
          </a:prstGeom>
          <a:solidFill>
            <a:schemeClr val="accent2"/>
          </a:solidFill>
          <a:ln/>
        </p:spPr>
      </p:sp>
      <p:sp>
        <p:nvSpPr>
          <p:cNvPr id="13" name="Text 11"/>
          <p:cNvSpPr txBox="1"/>
          <p:nvPr/>
        </p:nvSpPr>
        <p:spPr>
          <a:xfrm>
            <a:off x="1051560" y="3941064"/>
            <a:ext cx="4069080" cy="320040"/>
          </a:xfrm>
          <a:prstGeom prst="rect">
            <a:avLst/>
          </a:prstGeom>
          <a:noFill/>
          <a:ln/>
        </p:spPr>
        <p:txBody>
          <a:bodyPr wrap="square" lIns="0" tIns="0" rIns="0" bIns="0" rtlCol="0" anchor="t"/>
          <a:lstStyle/>
          <a:p>
            <a:pPr indent="0" marL="0">
              <a:buNone/>
            </a:pPr>
            <a:r>
              <a:rPr lang="en-US" sz="1600" b="1" dirty="0">
                <a:solidFill>
                  <a:schemeClr val="bg1"/>
                </a:solidFill>
              </a:rPr>
              <a:t>Từ điển dữ liệu và mã trạng thái</a:t>
            </a:r>
            <a:endParaRPr lang="en-US" sz="1600" dirty="0"/>
          </a:p>
        </p:txBody>
      </p:sp>
      <p:sp>
        <p:nvSpPr>
          <p:cNvPr id="14" name="Text 12"/>
          <p:cNvSpPr txBox="1"/>
          <p:nvPr/>
        </p:nvSpPr>
        <p:spPr>
          <a:xfrm>
            <a:off x="1051560" y="4279392"/>
            <a:ext cx="5166360" cy="365760"/>
          </a:xfrm>
          <a:prstGeom prst="rect">
            <a:avLst/>
          </a:prstGeom>
          <a:noFill/>
          <a:ln/>
        </p:spPr>
        <p:txBody>
          <a:bodyPr wrap="square" lIns="0" tIns="0" rIns="0" bIns="0" rtlCol="0" anchor="t"/>
          <a:lstStyle/>
          <a:p>
            <a:pPr indent="0" marL="0">
              <a:buNone/>
            </a:pPr>
            <a:r>
              <a:rPr lang="en-US" sz="1400" dirty="0">
                <a:solidFill>
                  <a:schemeClr val="bg1"/>
                </a:solidFill>
              </a:rPr>
              <a:t>Ý nghĩa trường, đơn vị nguồn, nhãn mã kèm mức xác minh</a:t>
            </a:r>
            <a:endParaRPr lang="en-US" sz="1400" dirty="0"/>
          </a:p>
        </p:txBody>
      </p:sp>
      <p:sp>
        <p:nvSpPr>
          <p:cNvPr id="15" name="Text 13"/>
          <p:cNvSpPr txBox="1"/>
          <p:nvPr/>
        </p:nvSpPr>
        <p:spPr>
          <a:xfrm>
            <a:off x="5532120" y="3941064"/>
            <a:ext cx="1188720" cy="274320"/>
          </a:xfrm>
          <a:prstGeom prst="roundRect">
            <a:avLst>
              <a:gd name="adj" fmla="val 26667"/>
            </a:avLst>
          </a:prstGeom>
          <a:solidFill>
            <a:schemeClr val="bg1"/>
          </a:solidFill>
          <a:ln w="9525">
            <a:solidFill>
              <a:srgbClr val="DCE3EF"/>
            </a:solidFill>
          </a:ln>
        </p:spPr>
        <p:txBody>
          <a:bodyPr wrap="square" lIns="0" tIns="0" rIns="0" bIns="0" rtlCol="0" anchor="ctr"/>
          <a:lstStyle/>
          <a:p>
            <a:pPr algn="ctr" indent="0" marL="0">
              <a:buNone/>
            </a:pPr>
            <a:r>
              <a:rPr lang="en-US" sz="1100" b="1" dirty="0">
                <a:solidFill>
                  <a:schemeClr val="tx2"/>
                </a:solidFill>
              </a:rPr>
              <a:t>Trong MCP</a:t>
            </a:r>
            <a:endParaRPr lang="en-US" sz="1100" dirty="0"/>
          </a:p>
        </p:txBody>
      </p:sp>
      <p:sp>
        <p:nvSpPr>
          <p:cNvPr id="16" name="layer3"/>
          <p:cNvSpPr/>
          <p:nvPr/>
        </p:nvSpPr>
        <p:spPr>
          <a:xfrm>
            <a:off x="548640" y="4882896"/>
            <a:ext cx="6583680" cy="932688"/>
          </a:xfrm>
          <a:prstGeom prst="roundRect">
            <a:avLst>
              <a:gd name="adj" fmla="val 9804"/>
            </a:avLst>
          </a:prstGeom>
          <a:solidFill>
            <a:schemeClr val="tx2"/>
          </a:solidFill>
          <a:ln/>
        </p:spPr>
      </p:sp>
      <p:sp>
        <p:nvSpPr>
          <p:cNvPr id="17" name="Text 15"/>
          <p:cNvSpPr txBox="1"/>
          <p:nvPr/>
        </p:nvSpPr>
        <p:spPr>
          <a:xfrm>
            <a:off x="822960" y="5020056"/>
            <a:ext cx="4526280" cy="320040"/>
          </a:xfrm>
          <a:prstGeom prst="rect">
            <a:avLst/>
          </a:prstGeom>
          <a:noFill/>
          <a:ln/>
        </p:spPr>
        <p:txBody>
          <a:bodyPr wrap="square" lIns="0" tIns="0" rIns="0" bIns="0" rtlCol="0" anchor="t"/>
          <a:lstStyle/>
          <a:p>
            <a:pPr indent="0" marL="0">
              <a:buNone/>
            </a:pPr>
            <a:r>
              <a:rPr lang="en-US" sz="1600" b="1" dirty="0">
                <a:solidFill>
                  <a:schemeClr val="bg1"/>
                </a:solidFill>
              </a:rPr>
              <a:t>Mô tả tool và quy tắc dữ liệu</a:t>
            </a:r>
            <a:endParaRPr lang="en-US" sz="1600" dirty="0"/>
          </a:p>
        </p:txBody>
      </p:sp>
      <p:sp>
        <p:nvSpPr>
          <p:cNvPr id="18" name="Text 16"/>
          <p:cNvSpPr txBox="1"/>
          <p:nvPr/>
        </p:nvSpPr>
        <p:spPr>
          <a:xfrm>
            <a:off x="822960" y="5358384"/>
            <a:ext cx="5623560" cy="365760"/>
          </a:xfrm>
          <a:prstGeom prst="rect">
            <a:avLst/>
          </a:prstGeom>
          <a:noFill/>
          <a:ln/>
        </p:spPr>
        <p:txBody>
          <a:bodyPr wrap="square" lIns="0" tIns="0" rIns="0" bIns="0" rtlCol="0" anchor="t"/>
          <a:lstStyle/>
          <a:p>
            <a:pPr indent="0" marL="0">
              <a:buNone/>
            </a:pPr>
            <a:r>
              <a:rPr lang="en-US" sz="1400" dirty="0">
                <a:solidFill>
                  <a:schemeClr val="bg1"/>
                </a:solidFill>
              </a:rPr>
              <a:t>Dùng tool nào khi nào; thiếu ≠ 0; tránh vùng đổi core 22–24/05</a:t>
            </a:r>
            <a:endParaRPr lang="en-US" sz="1400" dirty="0"/>
          </a:p>
        </p:txBody>
      </p:sp>
      <p:sp>
        <p:nvSpPr>
          <p:cNvPr id="19" name="Text 17"/>
          <p:cNvSpPr txBox="1"/>
          <p:nvPr/>
        </p:nvSpPr>
        <p:spPr>
          <a:xfrm>
            <a:off x="5760720" y="5020056"/>
            <a:ext cx="1188720" cy="274320"/>
          </a:xfrm>
          <a:prstGeom prst="roundRect">
            <a:avLst>
              <a:gd name="adj" fmla="val 26667"/>
            </a:avLst>
          </a:prstGeom>
          <a:solidFill>
            <a:schemeClr val="bg1"/>
          </a:solidFill>
          <a:ln w="9525">
            <a:solidFill>
              <a:srgbClr val="DCE3EF"/>
            </a:solidFill>
          </a:ln>
        </p:spPr>
        <p:txBody>
          <a:bodyPr wrap="square" lIns="0" tIns="0" rIns="0" bIns="0" rtlCol="0" anchor="ctr"/>
          <a:lstStyle/>
          <a:p>
            <a:pPr algn="ctr" indent="0" marL="0">
              <a:buNone/>
            </a:pPr>
            <a:r>
              <a:rPr lang="en-US" sz="1100" b="1" dirty="0">
                <a:solidFill>
                  <a:schemeClr val="tx2"/>
                </a:solidFill>
              </a:rPr>
              <a:t>Trong MCP</a:t>
            </a:r>
            <a:endParaRPr lang="en-US" sz="1100" dirty="0"/>
          </a:p>
        </p:txBody>
      </p:sp>
      <p:sp>
        <p:nvSpPr>
          <p:cNvPr id="20" name="Text 18"/>
          <p:cNvSpPr txBox="1"/>
          <p:nvPr/>
        </p:nvSpPr>
        <p:spPr>
          <a:xfrm>
            <a:off x="7589520" y="1645920"/>
            <a:ext cx="4069080" cy="411480"/>
          </a:xfrm>
          <a:prstGeom prst="rect">
            <a:avLst/>
          </a:prstGeom>
          <a:noFill/>
          <a:ln/>
        </p:spPr>
        <p:txBody>
          <a:bodyPr wrap="square" lIns="0" tIns="0" rIns="0" bIns="0" rtlCol="0" anchor="t"/>
          <a:lstStyle/>
          <a:p>
            <a:pPr indent="0" marL="0">
              <a:buNone/>
            </a:pPr>
            <a:r>
              <a:rPr lang="en-US" sz="1800" b="1" dirty="0">
                <a:solidFill>
                  <a:schemeClr val="tx2"/>
                </a:solidFill>
              </a:rPr>
              <a:t>Hiệu quả</a:t>
            </a:r>
            <a:endParaRPr lang="en-US" sz="1800" dirty="0"/>
          </a:p>
        </p:txBody>
      </p:sp>
      <p:sp>
        <p:nvSpPr>
          <p:cNvPr id="21" name="Shape 19"/>
          <p:cNvSpPr/>
          <p:nvPr/>
        </p:nvSpPr>
        <p:spPr>
          <a:xfrm>
            <a:off x="7589520" y="2240280"/>
            <a:ext cx="530352" cy="530352"/>
          </a:xfrm>
          <a:prstGeom prst="ellipse">
            <a:avLst/>
          </a:prstGeom>
          <a:solidFill>
            <a:schemeClr val="accent1"/>
          </a:solidFill>
          <a:ln/>
        </p:spPr>
      </p:sp>
      <p:pic>
        <p:nvPicPr>
          <p:cNvPr id="22" name="Image 0" descr="preencoded.png">    </p:cNvPr>
          <p:cNvPicPr>
            <a:picLocks noChangeAspect="1"/>
          </p:cNvPicPr>
          <p:nvPr/>
        </p:nvPicPr>
        <p:blipFill>
          <a:blip r:embed="rId1"/>
          <a:stretch>
            <a:fillRect/>
          </a:stretch>
        </p:blipFill>
        <p:spPr>
          <a:xfrm>
            <a:off x="7722108" y="2372868"/>
            <a:ext cx="265176" cy="265176"/>
          </a:xfrm>
          <a:prstGeom prst="rect">
            <a:avLst/>
          </a:prstGeom>
        </p:spPr>
      </p:pic>
      <p:sp>
        <p:nvSpPr>
          <p:cNvPr id="23" name="Text 20"/>
          <p:cNvSpPr txBox="1"/>
          <p:nvPr/>
        </p:nvSpPr>
        <p:spPr>
          <a:xfrm>
            <a:off x="8321040" y="2240280"/>
            <a:ext cx="3337560" cy="320040"/>
          </a:xfrm>
          <a:prstGeom prst="rect">
            <a:avLst/>
          </a:prstGeom>
          <a:noFill/>
          <a:ln/>
        </p:spPr>
        <p:txBody>
          <a:bodyPr wrap="square" lIns="0" tIns="0" rIns="0" bIns="0" rtlCol="0" anchor="t"/>
          <a:lstStyle/>
          <a:p>
            <a:pPr indent="0" marL="0">
              <a:buNone/>
            </a:pPr>
            <a:r>
              <a:rPr lang="en-US" sz="1500" b="1" dirty="0">
                <a:solidFill>
                  <a:schemeClr val="tx2"/>
                </a:solidFill>
              </a:rPr>
              <a:t>Chọn đúng tool, ít hỏi lại</a:t>
            </a:r>
            <a:endParaRPr lang="en-US" sz="1500" dirty="0"/>
          </a:p>
        </p:txBody>
      </p:sp>
      <p:sp>
        <p:nvSpPr>
          <p:cNvPr id="24" name="Text 21"/>
          <p:cNvSpPr txBox="1"/>
          <p:nvPr/>
        </p:nvSpPr>
        <p:spPr>
          <a:xfrm>
            <a:off x="8321040" y="2606040"/>
            <a:ext cx="3337560" cy="594360"/>
          </a:xfrm>
          <a:prstGeom prst="rect">
            <a:avLst/>
          </a:prstGeom>
          <a:noFill/>
          <a:ln/>
        </p:spPr>
        <p:txBody>
          <a:bodyPr wrap="square" lIns="0" tIns="0" rIns="0" bIns="0" rtlCol="0" anchor="t"/>
          <a:lstStyle/>
          <a:p>
            <a:pPr indent="0" marL="0">
              <a:buNone/>
            </a:pPr>
            <a:r>
              <a:rPr lang="en-US" sz="1400" dirty="0">
                <a:solidFill>
                  <a:schemeClr val="tx1"/>
                </a:solidFill>
              </a:rPr>
              <a:t>AI biết cần dữ liệu gì và lấy ở đâu</a:t>
            </a:r>
            <a:endParaRPr lang="en-US" sz="1400" dirty="0"/>
          </a:p>
        </p:txBody>
      </p:sp>
      <p:sp>
        <p:nvSpPr>
          <p:cNvPr id="25" name="Shape 22"/>
          <p:cNvSpPr/>
          <p:nvPr/>
        </p:nvSpPr>
        <p:spPr>
          <a:xfrm>
            <a:off x="7589520" y="3520440"/>
            <a:ext cx="530352" cy="530352"/>
          </a:xfrm>
          <a:prstGeom prst="ellipse">
            <a:avLst/>
          </a:prstGeom>
          <a:solidFill>
            <a:schemeClr val="accent1"/>
          </a:solidFill>
          <a:ln/>
        </p:spPr>
      </p:sp>
      <p:pic>
        <p:nvPicPr>
          <p:cNvPr id="26" name="Image 1" descr="preencoded.png">    </p:cNvPr>
          <p:cNvPicPr>
            <a:picLocks noChangeAspect="1"/>
          </p:cNvPicPr>
          <p:nvPr/>
        </p:nvPicPr>
        <p:blipFill>
          <a:blip r:embed="rId2"/>
          <a:stretch>
            <a:fillRect/>
          </a:stretch>
        </p:blipFill>
        <p:spPr>
          <a:xfrm>
            <a:off x="7722108" y="3653028"/>
            <a:ext cx="265176" cy="265176"/>
          </a:xfrm>
          <a:prstGeom prst="rect">
            <a:avLst/>
          </a:prstGeom>
        </p:spPr>
      </p:pic>
      <p:sp>
        <p:nvSpPr>
          <p:cNvPr id="27" name="Text 23"/>
          <p:cNvSpPr txBox="1"/>
          <p:nvPr/>
        </p:nvSpPr>
        <p:spPr>
          <a:xfrm>
            <a:off x="8321040" y="3520440"/>
            <a:ext cx="3337560" cy="320040"/>
          </a:xfrm>
          <a:prstGeom prst="rect">
            <a:avLst/>
          </a:prstGeom>
          <a:noFill/>
          <a:ln/>
        </p:spPr>
        <p:txBody>
          <a:bodyPr wrap="square" lIns="0" tIns="0" rIns="0" bIns="0" rtlCol="0" anchor="t"/>
          <a:lstStyle/>
          <a:p>
            <a:pPr indent="0" marL="0">
              <a:buNone/>
            </a:pPr>
            <a:r>
              <a:rPr lang="en-US" sz="1500" b="1" dirty="0">
                <a:solidFill>
                  <a:schemeClr val="tx2"/>
                </a:solidFill>
              </a:rPr>
              <a:t>Đúng số liệu, đúng đơn vị</a:t>
            </a:r>
            <a:endParaRPr lang="en-US" sz="1500" dirty="0"/>
          </a:p>
        </p:txBody>
      </p:sp>
      <p:sp>
        <p:nvSpPr>
          <p:cNvPr id="28" name="Text 24"/>
          <p:cNvSpPr txBox="1"/>
          <p:nvPr/>
        </p:nvSpPr>
        <p:spPr>
          <a:xfrm>
            <a:off x="8321040" y="3886200"/>
            <a:ext cx="3337560" cy="594360"/>
          </a:xfrm>
          <a:prstGeom prst="rect">
            <a:avLst/>
          </a:prstGeom>
          <a:noFill/>
          <a:ln/>
        </p:spPr>
        <p:txBody>
          <a:bodyPr wrap="square" lIns="0" tIns="0" rIns="0" bIns="0" rtlCol="0" anchor="t"/>
          <a:lstStyle/>
          <a:p>
            <a:pPr indent="0" marL="0">
              <a:buNone/>
            </a:pPr>
            <a:r>
              <a:rPr lang="en-US" sz="1400" dirty="0">
                <a:solidFill>
                  <a:schemeClr val="tx1"/>
                </a:solidFill>
              </a:rPr>
              <a:t>Không tự suy diễn khi dữ liệu thiếu</a:t>
            </a:r>
            <a:endParaRPr lang="en-US" sz="1400" dirty="0"/>
          </a:p>
        </p:txBody>
      </p:sp>
      <p:sp>
        <p:nvSpPr>
          <p:cNvPr id="29" name="Shape 25"/>
          <p:cNvSpPr/>
          <p:nvPr/>
        </p:nvSpPr>
        <p:spPr>
          <a:xfrm>
            <a:off x="7589520" y="4800600"/>
            <a:ext cx="530352" cy="530352"/>
          </a:xfrm>
          <a:prstGeom prst="ellipse">
            <a:avLst/>
          </a:prstGeom>
          <a:solidFill>
            <a:schemeClr val="accent1"/>
          </a:solidFill>
          <a:ln/>
        </p:spPr>
      </p:sp>
      <p:pic>
        <p:nvPicPr>
          <p:cNvPr id="30" name="Image 2" descr="preencoded.png">    </p:cNvPr>
          <p:cNvPicPr>
            <a:picLocks noChangeAspect="1"/>
          </p:cNvPicPr>
          <p:nvPr/>
        </p:nvPicPr>
        <p:blipFill>
          <a:blip r:embed="rId3"/>
          <a:stretch>
            <a:fillRect/>
          </a:stretch>
        </p:blipFill>
        <p:spPr>
          <a:xfrm>
            <a:off x="7722108" y="4933188"/>
            <a:ext cx="265176" cy="265176"/>
          </a:xfrm>
          <a:prstGeom prst="rect">
            <a:avLst/>
          </a:prstGeom>
        </p:spPr>
      </p:pic>
      <p:sp>
        <p:nvSpPr>
          <p:cNvPr id="31" name="Text 26"/>
          <p:cNvSpPr txBox="1"/>
          <p:nvPr/>
        </p:nvSpPr>
        <p:spPr>
          <a:xfrm>
            <a:off x="8321040" y="4800600"/>
            <a:ext cx="3337560" cy="320040"/>
          </a:xfrm>
          <a:prstGeom prst="rect">
            <a:avLst/>
          </a:prstGeom>
          <a:noFill/>
          <a:ln/>
        </p:spPr>
        <p:txBody>
          <a:bodyPr wrap="square" lIns="0" tIns="0" rIns="0" bIns="0" rtlCol="0" anchor="t"/>
          <a:lstStyle/>
          <a:p>
            <a:pPr indent="0" marL="0">
              <a:buNone/>
            </a:pPr>
            <a:r>
              <a:rPr lang="en-US" sz="1500" b="1" dirty="0">
                <a:solidFill>
                  <a:schemeClr val="tx2"/>
                </a:solidFill>
              </a:rPr>
              <a:t>Nhất quán theo chuẩn SHS</a:t>
            </a:r>
            <a:endParaRPr lang="en-US" sz="1500" dirty="0"/>
          </a:p>
        </p:txBody>
      </p:sp>
      <p:sp>
        <p:nvSpPr>
          <p:cNvPr id="32" name="Text 27"/>
          <p:cNvSpPr txBox="1"/>
          <p:nvPr/>
        </p:nvSpPr>
        <p:spPr>
          <a:xfrm>
            <a:off x="8321040" y="5166360"/>
            <a:ext cx="3337560" cy="594360"/>
          </a:xfrm>
          <a:prstGeom prst="rect">
            <a:avLst/>
          </a:prstGeom>
          <a:noFill/>
          <a:ln/>
        </p:spPr>
        <p:txBody>
          <a:bodyPr wrap="square" lIns="0" tIns="0" rIns="0" bIns="0" rtlCol="0" anchor="t"/>
          <a:lstStyle/>
          <a:p>
            <a:pPr indent="0" marL="0">
              <a:buNone/>
            </a:pPr>
            <a:r>
              <a:rPr lang="en-US" sz="1400" dirty="0">
                <a:solidFill>
                  <a:schemeClr val="tx1"/>
                </a:solidFill>
              </a:rPr>
              <a:t>Mọi chuyên viên nhận câu trả lời cùng một chuẩn</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04 · CHỈ DẪN CHO AI</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Có chỉ dẫn và không có chỉ dẫn</a:t>
            </a:r>
            <a:endParaRPr lang="en-US" sz="3000" dirty="0"/>
          </a:p>
        </p:txBody>
      </p:sp>
      <p:sp>
        <p:nvSpPr>
          <p:cNvPr id="4" name="Text 2"/>
          <p:cNvSpPr txBox="1"/>
          <p:nvPr/>
        </p:nvSpPr>
        <p:spPr>
          <a:xfrm>
            <a:off x="548640" y="1645920"/>
            <a:ext cx="2560320" cy="329184"/>
          </a:xfrm>
          <a:prstGeom prst="rect">
            <a:avLst/>
          </a:prstGeom>
          <a:noFill/>
          <a:ln/>
        </p:spPr>
        <p:txBody>
          <a:bodyPr wrap="square" lIns="0" tIns="0" rIns="0" bIns="0" rtlCol="0" anchor="t"/>
          <a:lstStyle/>
          <a:p>
            <a:pPr indent="0" marL="0">
              <a:buNone/>
            </a:pPr>
            <a:r>
              <a:rPr lang="en-US" sz="1500" b="1" dirty="0">
                <a:solidFill>
                  <a:schemeClr val="tx2"/>
                </a:solidFill>
              </a:rPr>
              <a:t>Tình huống</a:t>
            </a:r>
            <a:endParaRPr lang="en-US" sz="1500" dirty="0"/>
          </a:p>
        </p:txBody>
      </p:sp>
      <p:pic>
        <p:nvPicPr>
          <p:cNvPr id="5" name="Image 0" descr="preencoded.png">    </p:cNvPr>
          <p:cNvPicPr>
            <a:picLocks noChangeAspect="1"/>
          </p:cNvPicPr>
          <p:nvPr/>
        </p:nvPicPr>
        <p:blipFill>
          <a:blip r:embed="rId1"/>
          <a:stretch>
            <a:fillRect/>
          </a:stretch>
        </p:blipFill>
        <p:spPr>
          <a:xfrm>
            <a:off x="3291840" y="1673352"/>
            <a:ext cx="274320" cy="274320"/>
          </a:xfrm>
          <a:prstGeom prst="rect">
            <a:avLst/>
          </a:prstGeom>
        </p:spPr>
      </p:pic>
      <p:sp>
        <p:nvSpPr>
          <p:cNvPr id="6" name="Text 3"/>
          <p:cNvSpPr txBox="1"/>
          <p:nvPr/>
        </p:nvSpPr>
        <p:spPr>
          <a:xfrm>
            <a:off x="3675888" y="1645920"/>
            <a:ext cx="3639312" cy="329184"/>
          </a:xfrm>
          <a:prstGeom prst="rect">
            <a:avLst/>
          </a:prstGeom>
          <a:noFill/>
          <a:ln/>
        </p:spPr>
        <p:txBody>
          <a:bodyPr wrap="square" lIns="0" tIns="0" rIns="0" bIns="0" rtlCol="0" anchor="t"/>
          <a:lstStyle/>
          <a:p>
            <a:pPr indent="0" marL="0">
              <a:buNone/>
            </a:pPr>
            <a:r>
              <a:rPr lang="en-US" sz="1500" b="1" dirty="0">
                <a:solidFill>
                  <a:schemeClr val="accent6"/>
                </a:solidFill>
              </a:rPr>
              <a:t>Không có chỉ dẫn</a:t>
            </a:r>
            <a:endParaRPr lang="en-US" sz="1500" dirty="0"/>
          </a:p>
        </p:txBody>
      </p:sp>
      <p:pic>
        <p:nvPicPr>
          <p:cNvPr id="7" name="Image 1" descr="preencoded.png">    </p:cNvPr>
          <p:cNvPicPr>
            <a:picLocks noChangeAspect="1"/>
          </p:cNvPicPr>
          <p:nvPr/>
        </p:nvPicPr>
        <p:blipFill>
          <a:blip r:embed="rId2"/>
          <a:stretch>
            <a:fillRect/>
          </a:stretch>
        </p:blipFill>
        <p:spPr>
          <a:xfrm>
            <a:off x="7498080" y="1673352"/>
            <a:ext cx="274320" cy="274320"/>
          </a:xfrm>
          <a:prstGeom prst="rect">
            <a:avLst/>
          </a:prstGeom>
        </p:spPr>
      </p:pic>
      <p:sp>
        <p:nvSpPr>
          <p:cNvPr id="8" name="Text 4"/>
          <p:cNvSpPr txBox="1"/>
          <p:nvPr/>
        </p:nvSpPr>
        <p:spPr>
          <a:xfrm>
            <a:off x="7882128" y="1645920"/>
            <a:ext cx="3776472" cy="329184"/>
          </a:xfrm>
          <a:prstGeom prst="rect">
            <a:avLst/>
          </a:prstGeom>
          <a:noFill/>
          <a:ln/>
        </p:spPr>
        <p:txBody>
          <a:bodyPr wrap="square" lIns="0" tIns="0" rIns="0" bIns="0" rtlCol="0" anchor="t"/>
          <a:lstStyle/>
          <a:p>
            <a:pPr indent="0" marL="0">
              <a:buNone/>
            </a:pPr>
            <a:r>
              <a:rPr lang="en-US" sz="1500" b="1" dirty="0">
                <a:solidFill>
                  <a:schemeClr val="accent5"/>
                </a:solidFill>
              </a:rPr>
              <a:t>Có chỉ dẫn trong MCP</a:t>
            </a:r>
            <a:endParaRPr lang="en-US" sz="1500" dirty="0"/>
          </a:p>
        </p:txBody>
      </p:sp>
      <p:sp>
        <p:nvSpPr>
          <p:cNvPr id="9" name="Text 5"/>
          <p:cNvSpPr txBox="1"/>
          <p:nvPr/>
        </p:nvSpPr>
        <p:spPr>
          <a:xfrm>
            <a:off x="548640" y="2148840"/>
            <a:ext cx="2560320" cy="1161288"/>
          </a:xfrm>
          <a:prstGeom prst="roundRect">
            <a:avLst>
              <a:gd name="adj" fmla="val 7874"/>
            </a:avLst>
          </a:prstGeom>
          <a:solidFill>
            <a:schemeClr val="tx2"/>
          </a:solidFill>
          <a:ln/>
        </p:spPr>
        <p:txBody>
          <a:bodyPr wrap="square" lIns="127000" tIns="127000" rIns="127000" bIns="127000" rtlCol="0" anchor="ctr"/>
          <a:lstStyle/>
          <a:p>
            <a:pPr indent="0" marL="0">
              <a:buNone/>
            </a:pPr>
            <a:r>
              <a:rPr lang="en-US" sz="1500" b="1" dirty="0">
                <a:solidFill>
                  <a:schemeClr val="bg1"/>
                </a:solidFill>
              </a:rPr>
              <a:t>Hỏi giao dịch cả tháng 5/2026</a:t>
            </a:r>
            <a:endParaRPr lang="en-US" sz="1500" dirty="0"/>
          </a:p>
        </p:txBody>
      </p:sp>
      <p:sp>
        <p:nvSpPr>
          <p:cNvPr id="10" name="Text 6"/>
          <p:cNvSpPr txBox="1"/>
          <p:nvPr/>
        </p:nvSpPr>
        <p:spPr>
          <a:xfrm>
            <a:off x="3291840" y="2148840"/>
            <a:ext cx="4023360" cy="1161288"/>
          </a:xfrm>
          <a:prstGeom prst="roundRect">
            <a:avLst>
              <a:gd name="adj" fmla="val 7874"/>
            </a:avLst>
          </a:prstGeom>
          <a:solidFill>
            <a:schemeClr val="bg2"/>
          </a:solidFill>
          <a:ln/>
        </p:spPr>
        <p:txBody>
          <a:bodyPr wrap="square" lIns="127000" tIns="127000" rIns="127000" bIns="127000" rtlCol="0" anchor="ctr"/>
          <a:lstStyle/>
          <a:p>
            <a:pPr indent="0" marL="0">
              <a:buNone/>
            </a:pPr>
            <a:r>
              <a:rPr lang="en-US" sz="1400" dirty="0">
                <a:solidFill>
                  <a:schemeClr val="tx1"/>
                </a:solidFill>
              </a:rPr>
              <a:t>Gửi một khoảng 01–31/05, chạm vùng đổi core 22–24/05: lỗi hoặc thiếu dữ liệu</a:t>
            </a:r>
            <a:endParaRPr lang="en-US" sz="1400" dirty="0"/>
          </a:p>
        </p:txBody>
      </p:sp>
      <p:sp>
        <p:nvSpPr>
          <p:cNvPr id="11" name="Text 7"/>
          <p:cNvSpPr txBox="1"/>
          <p:nvPr/>
        </p:nvSpPr>
        <p:spPr>
          <a:xfrm>
            <a:off x="7498080" y="2148840"/>
            <a:ext cx="4160520" cy="1161288"/>
          </a:xfrm>
          <a:prstGeom prst="roundRect">
            <a:avLst>
              <a:gd name="adj" fmla="val 7874"/>
            </a:avLst>
          </a:prstGeom>
          <a:solidFill>
            <a:srgbClr val="FFF1E8"/>
          </a:solidFill>
          <a:ln w="9525">
            <a:solidFill>
              <a:schemeClr val="accent3"/>
            </a:solidFill>
          </a:ln>
        </p:spPr>
        <p:txBody>
          <a:bodyPr wrap="square" lIns="127000" tIns="127000" rIns="127000" bIns="127000" rtlCol="0" anchor="ctr"/>
          <a:lstStyle/>
          <a:p>
            <a:pPr indent="0" marL="0">
              <a:buNone/>
            </a:pPr>
            <a:r>
              <a:rPr lang="en-US" sz="1400" b="1" dirty="0">
                <a:solidFill>
                  <a:schemeClr val="tx2"/>
                </a:solidFill>
              </a:rPr>
              <a:t>Tự tách: đến 21/05 và từ 25/05, rồi ghép kết quả</a:t>
            </a:r>
            <a:endParaRPr lang="en-US" sz="1400" dirty="0"/>
          </a:p>
        </p:txBody>
      </p:sp>
      <p:sp>
        <p:nvSpPr>
          <p:cNvPr id="12" name="Text 8"/>
          <p:cNvSpPr txBox="1"/>
          <p:nvPr/>
        </p:nvSpPr>
        <p:spPr>
          <a:xfrm>
            <a:off x="548640" y="3493008"/>
            <a:ext cx="2560320" cy="1161288"/>
          </a:xfrm>
          <a:prstGeom prst="roundRect">
            <a:avLst>
              <a:gd name="adj" fmla="val 7874"/>
            </a:avLst>
          </a:prstGeom>
          <a:solidFill>
            <a:schemeClr val="tx2"/>
          </a:solidFill>
          <a:ln/>
        </p:spPr>
        <p:txBody>
          <a:bodyPr wrap="square" lIns="127000" tIns="127000" rIns="127000" bIns="127000" rtlCol="0" anchor="ctr"/>
          <a:lstStyle/>
          <a:p>
            <a:pPr indent="0" marL="0">
              <a:buNone/>
            </a:pPr>
            <a:r>
              <a:rPr lang="en-US" sz="1500" b="1" dirty="0">
                <a:solidFill>
                  <a:schemeClr val="bg1"/>
                </a:solidFill>
              </a:rPr>
              <a:t>Một trường số liệu bị thiếu</a:t>
            </a:r>
            <a:endParaRPr lang="en-US" sz="1500" dirty="0"/>
          </a:p>
        </p:txBody>
      </p:sp>
      <p:sp>
        <p:nvSpPr>
          <p:cNvPr id="13" name="Text 9"/>
          <p:cNvSpPr txBox="1"/>
          <p:nvPr/>
        </p:nvSpPr>
        <p:spPr>
          <a:xfrm>
            <a:off x="3291840" y="3493008"/>
            <a:ext cx="4023360" cy="1161288"/>
          </a:xfrm>
          <a:prstGeom prst="roundRect">
            <a:avLst>
              <a:gd name="adj" fmla="val 7874"/>
            </a:avLst>
          </a:prstGeom>
          <a:solidFill>
            <a:schemeClr val="bg2"/>
          </a:solidFill>
          <a:ln/>
        </p:spPr>
        <p:txBody>
          <a:bodyPr wrap="square" lIns="127000" tIns="127000" rIns="127000" bIns="127000" rtlCol="0" anchor="ctr"/>
          <a:lstStyle/>
          <a:p>
            <a:pPr indent="0" marL="0">
              <a:buNone/>
            </a:pPr>
            <a:r>
              <a:rPr lang="en-US" sz="1400" dirty="0">
                <a:solidFill>
                  <a:schemeClr val="tx1"/>
                </a:solidFill>
              </a:rPr>
              <a:t>Ngầm coi là 0: tổng tài sản, dư nợ bị sai</a:t>
            </a:r>
            <a:endParaRPr lang="en-US" sz="1400" dirty="0"/>
          </a:p>
        </p:txBody>
      </p:sp>
      <p:sp>
        <p:nvSpPr>
          <p:cNvPr id="14" name="Text 10"/>
          <p:cNvSpPr txBox="1"/>
          <p:nvPr/>
        </p:nvSpPr>
        <p:spPr>
          <a:xfrm>
            <a:off x="7498080" y="3493008"/>
            <a:ext cx="4160520" cy="1161288"/>
          </a:xfrm>
          <a:prstGeom prst="roundRect">
            <a:avLst>
              <a:gd name="adj" fmla="val 7874"/>
            </a:avLst>
          </a:prstGeom>
          <a:solidFill>
            <a:srgbClr val="FFF1E8"/>
          </a:solidFill>
          <a:ln w="9525">
            <a:solidFill>
              <a:schemeClr val="accent3"/>
            </a:solidFill>
          </a:ln>
        </p:spPr>
        <p:txBody>
          <a:bodyPr wrap="square" lIns="127000" tIns="127000" rIns="127000" bIns="127000" rtlCol="0" anchor="ctr"/>
          <a:lstStyle/>
          <a:p>
            <a:pPr indent="0" marL="0">
              <a:buNone/>
            </a:pPr>
            <a:r>
              <a:rPr lang="en-US" sz="1400" b="1" dirty="0">
                <a:solidFill>
                  <a:schemeClr val="tx2"/>
                </a:solidFill>
              </a:rPr>
              <a:t>Giữ là “chưa có dữ liệu”, nêu rõ trong câu trả lời</a:t>
            </a:r>
            <a:endParaRPr lang="en-US" sz="1400" dirty="0"/>
          </a:p>
        </p:txBody>
      </p:sp>
      <p:sp>
        <p:nvSpPr>
          <p:cNvPr id="15" name="Text 11"/>
          <p:cNvSpPr txBox="1"/>
          <p:nvPr/>
        </p:nvSpPr>
        <p:spPr>
          <a:xfrm>
            <a:off x="548640" y="4837176"/>
            <a:ext cx="2560320" cy="1161288"/>
          </a:xfrm>
          <a:prstGeom prst="roundRect">
            <a:avLst>
              <a:gd name="adj" fmla="val 7874"/>
            </a:avLst>
          </a:prstGeom>
          <a:solidFill>
            <a:schemeClr val="tx2"/>
          </a:solidFill>
          <a:ln/>
        </p:spPr>
        <p:txBody>
          <a:bodyPr wrap="square" lIns="127000" tIns="127000" rIns="127000" bIns="127000" rtlCol="0" anchor="ctr"/>
          <a:lstStyle/>
          <a:p>
            <a:pPr indent="0" marL="0">
              <a:buNone/>
            </a:pPr>
            <a:r>
              <a:rPr lang="en-US" sz="1500" b="1" dirty="0">
                <a:solidFill>
                  <a:schemeClr val="bg1"/>
                </a:solidFill>
              </a:rPr>
              <a:t>Gặp mã trạng thái lệnh</a:t>
            </a:r>
            <a:endParaRPr lang="en-US" sz="1500" dirty="0"/>
          </a:p>
        </p:txBody>
      </p:sp>
      <p:sp>
        <p:nvSpPr>
          <p:cNvPr id="16" name="Text 12"/>
          <p:cNvSpPr txBox="1"/>
          <p:nvPr/>
        </p:nvSpPr>
        <p:spPr>
          <a:xfrm>
            <a:off x="3291840" y="4837176"/>
            <a:ext cx="4023360" cy="1161288"/>
          </a:xfrm>
          <a:prstGeom prst="roundRect">
            <a:avLst>
              <a:gd name="adj" fmla="val 7874"/>
            </a:avLst>
          </a:prstGeom>
          <a:solidFill>
            <a:schemeClr val="bg2"/>
          </a:solidFill>
          <a:ln/>
        </p:spPr>
        <p:txBody>
          <a:bodyPr wrap="square" lIns="127000" tIns="127000" rIns="127000" bIns="127000" rtlCol="0" anchor="ctr"/>
          <a:lstStyle/>
          <a:p>
            <a:pPr indent="0" marL="0">
              <a:buNone/>
            </a:pPr>
            <a:r>
              <a:rPr lang="en-US" sz="1400" dirty="0">
                <a:solidFill>
                  <a:schemeClr val="tx1"/>
                </a:solidFill>
              </a:rPr>
              <a:t>Đoán nghĩa của mã</a:t>
            </a:r>
            <a:endParaRPr lang="en-US" sz="1400" dirty="0"/>
          </a:p>
        </p:txBody>
      </p:sp>
      <p:sp>
        <p:nvSpPr>
          <p:cNvPr id="17" name="Text 13"/>
          <p:cNvSpPr txBox="1"/>
          <p:nvPr/>
        </p:nvSpPr>
        <p:spPr>
          <a:xfrm>
            <a:off x="7498080" y="4837176"/>
            <a:ext cx="4160520" cy="1161288"/>
          </a:xfrm>
          <a:prstGeom prst="roundRect">
            <a:avLst>
              <a:gd name="adj" fmla="val 7874"/>
            </a:avLst>
          </a:prstGeom>
          <a:solidFill>
            <a:srgbClr val="FFF1E8"/>
          </a:solidFill>
          <a:ln w="9525">
            <a:solidFill>
              <a:schemeClr val="accent3"/>
            </a:solidFill>
          </a:ln>
        </p:spPr>
        <p:txBody>
          <a:bodyPr wrap="square" lIns="127000" tIns="127000" rIns="127000" bIns="127000" rtlCol="0" anchor="ctr"/>
          <a:lstStyle/>
          <a:p>
            <a:pPr indent="0" marL="0">
              <a:buNone/>
            </a:pPr>
            <a:r>
              <a:rPr lang="en-US" sz="1400" b="1" dirty="0">
                <a:solidFill>
                  <a:schemeClr val="tx2"/>
                </a:solidFill>
              </a:rPr>
              <a:t>Tra từ điển mã, nêu mức xác minh; mã lạ giữ nguyên</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05 · SHONE MCP &amp; SHA MCP</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Hai MCP, một trợ lý: thị trường + khách hàng</a:t>
            </a:r>
            <a:endParaRPr lang="en-US" sz="3000" dirty="0"/>
          </a:p>
        </p:txBody>
      </p:sp>
      <p:sp>
        <p:nvSpPr>
          <p:cNvPr id="4" name="Shape 2"/>
          <p:cNvSpPr/>
          <p:nvPr/>
        </p:nvSpPr>
        <p:spPr>
          <a:xfrm>
            <a:off x="548640" y="1600200"/>
            <a:ext cx="4206240" cy="4526280"/>
          </a:xfrm>
          <a:prstGeom prst="roundRect">
            <a:avLst>
              <a:gd name="adj" fmla="val 2609"/>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5" name="Shape 3"/>
          <p:cNvSpPr/>
          <p:nvPr/>
        </p:nvSpPr>
        <p:spPr>
          <a:xfrm>
            <a:off x="822960" y="1828800"/>
            <a:ext cx="566928" cy="566928"/>
          </a:xfrm>
          <a:prstGeom prst="ellipse">
            <a:avLst/>
          </a:prstGeom>
          <a:solidFill>
            <a:schemeClr val="accent2"/>
          </a:solidFill>
          <a:ln/>
        </p:spPr>
      </p:sp>
      <p:pic>
        <p:nvPicPr>
          <p:cNvPr id="6" name="Image 0" descr="preencoded.png">    </p:cNvPr>
          <p:cNvPicPr>
            <a:picLocks noChangeAspect="1"/>
          </p:cNvPicPr>
          <p:nvPr/>
        </p:nvPicPr>
        <p:blipFill>
          <a:blip r:embed="rId1"/>
          <a:stretch>
            <a:fillRect/>
          </a:stretch>
        </p:blipFill>
        <p:spPr>
          <a:xfrm>
            <a:off x="964692" y="1970532"/>
            <a:ext cx="283464" cy="283464"/>
          </a:xfrm>
          <a:prstGeom prst="rect">
            <a:avLst/>
          </a:prstGeom>
        </p:spPr>
      </p:pic>
      <p:sp>
        <p:nvSpPr>
          <p:cNvPr id="7" name="Text 4"/>
          <p:cNvSpPr txBox="1"/>
          <p:nvPr/>
        </p:nvSpPr>
        <p:spPr>
          <a:xfrm>
            <a:off x="1554480" y="1810512"/>
            <a:ext cx="3017520" cy="365760"/>
          </a:xfrm>
          <a:prstGeom prst="rect">
            <a:avLst/>
          </a:prstGeom>
          <a:noFill/>
          <a:ln/>
        </p:spPr>
        <p:txBody>
          <a:bodyPr wrap="square" lIns="0" tIns="0" rIns="0" bIns="0" rtlCol="0" anchor="t"/>
          <a:lstStyle/>
          <a:p>
            <a:pPr indent="0" marL="0">
              <a:buNone/>
            </a:pPr>
            <a:r>
              <a:rPr lang="en-US" sz="2100" b="1" dirty="0">
                <a:solidFill>
                  <a:schemeClr val="tx2"/>
                </a:solidFill>
              </a:rPr>
              <a:t>SHOne MCP</a:t>
            </a:r>
            <a:endParaRPr lang="en-US" sz="2100" dirty="0"/>
          </a:p>
        </p:txBody>
      </p:sp>
      <p:sp>
        <p:nvSpPr>
          <p:cNvPr id="8" name="Text 5"/>
          <p:cNvSpPr txBox="1"/>
          <p:nvPr/>
        </p:nvSpPr>
        <p:spPr>
          <a:xfrm>
            <a:off x="1554480" y="2176272"/>
            <a:ext cx="3017520" cy="274320"/>
          </a:xfrm>
          <a:prstGeom prst="rect">
            <a:avLst/>
          </a:prstGeom>
          <a:noFill/>
          <a:ln/>
        </p:spPr>
        <p:txBody>
          <a:bodyPr wrap="square" lIns="0" tIns="0" rIns="0" bIns="0" rtlCol="0" anchor="t"/>
          <a:lstStyle/>
          <a:p>
            <a:pPr indent="0" marL="0">
              <a:buNone/>
            </a:pPr>
            <a:r>
              <a:rPr lang="en-US" sz="1400" dirty="0">
                <a:solidFill>
                  <a:schemeClr val="accent4"/>
                </a:solidFill>
              </a:rPr>
              <a:t>Dữ liệu thị trường</a:t>
            </a:r>
            <a:endParaRPr lang="en-US" sz="1400" dirty="0"/>
          </a:p>
        </p:txBody>
      </p:sp>
      <p:sp>
        <p:nvSpPr>
          <p:cNvPr id="9" name="Text 6"/>
          <p:cNvSpPr txBox="1"/>
          <p:nvPr/>
        </p:nvSpPr>
        <p:spPr>
          <a:xfrm>
            <a:off x="822960" y="2651760"/>
            <a:ext cx="3657600" cy="320040"/>
          </a:xfrm>
          <a:prstGeom prst="rect">
            <a:avLst/>
          </a:prstGeom>
          <a:noFill/>
          <a:ln/>
        </p:spPr>
        <p:txBody>
          <a:bodyPr wrap="square" lIns="0" tIns="0" rIns="0" bIns="0" rtlCol="0" anchor="t"/>
          <a:lstStyle/>
          <a:p>
            <a:pPr indent="0" marL="0">
              <a:buNone/>
            </a:pPr>
            <a:r>
              <a:rPr lang="en-US" sz="1600" b="1" dirty="0">
                <a:solidFill>
                  <a:schemeClr val="accent2"/>
                </a:solidFill>
              </a:rPr>
              <a:t>18 tool · 58 operation</a:t>
            </a:r>
            <a:endParaRPr lang="en-US" sz="1600" dirty="0"/>
          </a:p>
        </p:txBody>
      </p:sp>
      <p:sp>
        <p:nvSpPr>
          <p:cNvPr id="10" name="Text 7"/>
          <p:cNvSpPr txBox="1"/>
          <p:nvPr/>
        </p:nvSpPr>
        <p:spPr>
          <a:xfrm>
            <a:off x="822960" y="2990088"/>
            <a:ext cx="3657600" cy="274320"/>
          </a:xfrm>
          <a:prstGeom prst="rect">
            <a:avLst/>
          </a:prstGeom>
          <a:noFill/>
          <a:ln/>
        </p:spPr>
        <p:txBody>
          <a:bodyPr wrap="square" lIns="0" tIns="0" rIns="0" bIns="0" rtlCol="0" anchor="t"/>
          <a:lstStyle/>
          <a:p>
            <a:pPr indent="0" marL="0">
              <a:buNone/>
            </a:pPr>
            <a:r>
              <a:rPr lang="en-US" sz="1300" i="1" dirty="0">
                <a:solidFill>
                  <a:schemeClr val="accent4"/>
                </a:solidFill>
              </a:rPr>
              <a:t>Không cần đăng nhập: dữ liệu công khai</a:t>
            </a:r>
            <a:endParaRPr lang="en-US" sz="1300" dirty="0"/>
          </a:p>
        </p:txBody>
      </p:sp>
      <p:sp>
        <p:nvSpPr>
          <p:cNvPr id="11" name="Text 8"/>
          <p:cNvSpPr txBox="1"/>
          <p:nvPr/>
        </p:nvSpPr>
        <p:spPr>
          <a:xfrm>
            <a:off x="822960" y="3429000"/>
            <a:ext cx="3703320" cy="25603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Toàn cảnh thị trường, ngành, dòng tiền</a:t>
            </a:r>
            <a:endParaRPr lang="en-US" sz="1400" dirty="0"/>
          </a:p>
          <a:p>
            <a:pPr marL="342900" indent="-342900">
              <a:spcAft>
                <a:spcPts val="900"/>
              </a:spcAft>
              <a:buSzPct val="100000"/>
              <a:buChar char="•"/>
            </a:pPr>
            <a:r>
              <a:rPr lang="en-US" sz="1400" dirty="0">
                <a:solidFill>
                  <a:schemeClr val="tx1"/>
                </a:solidFill>
              </a:rPr>
              <a:t>Giá, thanh khoản, khối ngoại, tự doanh</a:t>
            </a:r>
            <a:endParaRPr lang="en-US" sz="1400" dirty="0"/>
          </a:p>
          <a:p>
            <a:pPr marL="342900" indent="-342900">
              <a:spcAft>
                <a:spcPts val="900"/>
              </a:spcAft>
              <a:buSzPct val="100000"/>
              <a:buChar char="•"/>
            </a:pPr>
            <a:r>
              <a:rPr lang="en-US" sz="1400" dirty="0">
                <a:solidFill>
                  <a:schemeClr val="tx1"/>
                </a:solidFill>
              </a:rPr>
              <a:t>BCTC, chỉ tiêu tài chính, KQKD</a:t>
            </a:r>
            <a:endParaRPr lang="en-US" sz="1400" dirty="0"/>
          </a:p>
          <a:p>
            <a:pPr marL="342900" indent="-342900">
              <a:spcAft>
                <a:spcPts val="900"/>
              </a:spcAft>
              <a:buSzPct val="100000"/>
              <a:buChar char="•"/>
            </a:pPr>
            <a:r>
              <a:rPr lang="en-US" sz="1400" dirty="0">
                <a:solidFill>
                  <a:schemeClr val="tx1"/>
                </a:solidFill>
              </a:rPr>
              <a:t>Phân tích kỹ thuật, tín hiệu, pivot</a:t>
            </a:r>
            <a:endParaRPr lang="en-US" sz="1400" dirty="0"/>
          </a:p>
          <a:p>
            <a:pPr marL="342900" indent="-342900">
              <a:spcAft>
                <a:spcPts val="900"/>
              </a:spcAft>
              <a:buSzPct val="100000"/>
              <a:buChar char="•"/>
            </a:pPr>
            <a:r>
              <a:rPr lang="en-US" sz="1400" dirty="0">
                <a:solidFill>
                  <a:schemeClr val="tx1"/>
                </a:solidFill>
              </a:rPr>
              <a:t>Tin tức, sự kiện, cổ tức, cổ đông</a:t>
            </a:r>
            <a:endParaRPr lang="en-US" sz="1400" dirty="0"/>
          </a:p>
          <a:p>
            <a:pPr marL="342900" indent="-342900">
              <a:spcAft>
                <a:spcPts val="900"/>
              </a:spcAft>
              <a:buSzPct val="100000"/>
              <a:buChar char="•"/>
            </a:pPr>
            <a:r>
              <a:rPr lang="en-US" sz="1400" dirty="0">
                <a:solidFill>
                  <a:schemeClr val="tx1"/>
                </a:solidFill>
              </a:rPr>
              <a:t>Vĩ mô, thế giới, phái sinh, SHSmart</a:t>
            </a:r>
            <a:endParaRPr lang="en-US" sz="1400" dirty="0"/>
          </a:p>
        </p:txBody>
      </p:sp>
      <p:sp>
        <p:nvSpPr>
          <p:cNvPr id="12" name="Shape 9"/>
          <p:cNvSpPr/>
          <p:nvPr/>
        </p:nvSpPr>
        <p:spPr>
          <a:xfrm>
            <a:off x="7452360" y="1600200"/>
            <a:ext cx="4206240" cy="4526280"/>
          </a:xfrm>
          <a:prstGeom prst="roundRect">
            <a:avLst>
              <a:gd name="adj" fmla="val 2609"/>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3" name="Shape 10"/>
          <p:cNvSpPr/>
          <p:nvPr/>
        </p:nvSpPr>
        <p:spPr>
          <a:xfrm>
            <a:off x="7726680" y="1828800"/>
            <a:ext cx="566928" cy="566928"/>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7868412" y="1970532"/>
            <a:ext cx="283464" cy="283464"/>
          </a:xfrm>
          <a:prstGeom prst="rect">
            <a:avLst/>
          </a:prstGeom>
        </p:spPr>
      </p:pic>
      <p:sp>
        <p:nvSpPr>
          <p:cNvPr id="15" name="Text 11"/>
          <p:cNvSpPr txBox="1"/>
          <p:nvPr/>
        </p:nvSpPr>
        <p:spPr>
          <a:xfrm>
            <a:off x="8458200" y="1810512"/>
            <a:ext cx="3017520" cy="365760"/>
          </a:xfrm>
          <a:prstGeom prst="rect">
            <a:avLst/>
          </a:prstGeom>
          <a:noFill/>
          <a:ln/>
        </p:spPr>
        <p:txBody>
          <a:bodyPr wrap="square" lIns="0" tIns="0" rIns="0" bIns="0" rtlCol="0" anchor="t"/>
          <a:lstStyle/>
          <a:p>
            <a:pPr indent="0" marL="0">
              <a:buNone/>
            </a:pPr>
            <a:r>
              <a:rPr lang="en-US" sz="2100" b="1" dirty="0">
                <a:solidFill>
                  <a:schemeClr val="tx2"/>
                </a:solidFill>
              </a:rPr>
              <a:t>SHA MCP</a:t>
            </a:r>
            <a:endParaRPr lang="en-US" sz="2100" dirty="0"/>
          </a:p>
        </p:txBody>
      </p:sp>
      <p:sp>
        <p:nvSpPr>
          <p:cNvPr id="16" name="Text 12"/>
          <p:cNvSpPr txBox="1"/>
          <p:nvPr/>
        </p:nvSpPr>
        <p:spPr>
          <a:xfrm>
            <a:off x="8458200" y="2176272"/>
            <a:ext cx="3017520" cy="274320"/>
          </a:xfrm>
          <a:prstGeom prst="rect">
            <a:avLst/>
          </a:prstGeom>
          <a:noFill/>
          <a:ln/>
        </p:spPr>
        <p:txBody>
          <a:bodyPr wrap="square" lIns="0" tIns="0" rIns="0" bIns="0" rtlCol="0" anchor="t"/>
          <a:lstStyle/>
          <a:p>
            <a:pPr indent="0" marL="0">
              <a:buNone/>
            </a:pPr>
            <a:r>
              <a:rPr lang="en-US" sz="1400" dirty="0">
                <a:solidFill>
                  <a:schemeClr val="accent4"/>
                </a:solidFill>
              </a:rPr>
              <a:t>Dữ liệu nghiệp vụ và khách hàng</a:t>
            </a:r>
            <a:endParaRPr lang="en-US" sz="1400" dirty="0"/>
          </a:p>
        </p:txBody>
      </p:sp>
      <p:sp>
        <p:nvSpPr>
          <p:cNvPr id="17" name="Text 13"/>
          <p:cNvSpPr txBox="1"/>
          <p:nvPr/>
        </p:nvSpPr>
        <p:spPr>
          <a:xfrm>
            <a:off x="7726680" y="2651760"/>
            <a:ext cx="3657600" cy="320040"/>
          </a:xfrm>
          <a:prstGeom prst="rect">
            <a:avLst/>
          </a:prstGeom>
          <a:noFill/>
          <a:ln/>
        </p:spPr>
        <p:txBody>
          <a:bodyPr wrap="square" lIns="0" tIns="0" rIns="0" bIns="0" rtlCol="0" anchor="t"/>
          <a:lstStyle/>
          <a:p>
            <a:pPr indent="0" marL="0">
              <a:buNone/>
            </a:pPr>
            <a:r>
              <a:rPr lang="en-US" sz="1600" b="1" dirty="0">
                <a:solidFill>
                  <a:schemeClr val="accent1"/>
                </a:solidFill>
              </a:rPr>
              <a:t>18 tool · 39 operation chỉ đọc</a:t>
            </a:r>
            <a:endParaRPr lang="en-US" sz="1600" dirty="0"/>
          </a:p>
        </p:txBody>
      </p:sp>
      <p:sp>
        <p:nvSpPr>
          <p:cNvPr id="18" name="Text 14"/>
          <p:cNvSpPr txBox="1"/>
          <p:nvPr/>
        </p:nvSpPr>
        <p:spPr>
          <a:xfrm>
            <a:off x="7726680" y="2990088"/>
            <a:ext cx="3657600" cy="274320"/>
          </a:xfrm>
          <a:prstGeom prst="rect">
            <a:avLst/>
          </a:prstGeom>
          <a:noFill/>
          <a:ln/>
        </p:spPr>
        <p:txBody>
          <a:bodyPr wrap="square" lIns="0" tIns="0" rIns="0" bIns="0" rtlCol="0" anchor="t"/>
          <a:lstStyle/>
          <a:p>
            <a:pPr indent="0" marL="0">
              <a:buNone/>
            </a:pPr>
            <a:r>
              <a:rPr lang="en-US" sz="1300" i="1" dirty="0">
                <a:solidFill>
                  <a:schemeClr val="accent4"/>
                </a:solidFill>
              </a:rPr>
              <a:t>Đăng nhập SHA + OTP, đúng quyền từng người</a:t>
            </a:r>
            <a:endParaRPr lang="en-US" sz="1300" dirty="0"/>
          </a:p>
        </p:txBody>
      </p:sp>
      <p:sp>
        <p:nvSpPr>
          <p:cNvPr id="19" name="Text 15"/>
          <p:cNvSpPr txBox="1"/>
          <p:nvPr/>
        </p:nvSpPr>
        <p:spPr>
          <a:xfrm>
            <a:off x="7726680" y="3429000"/>
            <a:ext cx="3703320" cy="256032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Khách hàng, hồ sơ, nhóm khách hàng</a:t>
            </a:r>
            <a:endParaRPr lang="en-US" sz="1400" dirty="0"/>
          </a:p>
          <a:p>
            <a:pPr marL="342900" indent="-342900">
              <a:spcAft>
                <a:spcPts val="900"/>
              </a:spcAft>
              <a:buSzPct val="100000"/>
              <a:buChar char="•"/>
            </a:pPr>
            <a:r>
              <a:rPr lang="en-US" sz="1400" dirty="0">
                <a:solidFill>
                  <a:schemeClr val="tx1"/>
                </a:solidFill>
              </a:rPr>
              <a:t>Tài sản, danh mục, sức mua</a:t>
            </a:r>
            <a:endParaRPr lang="en-US" sz="1400" dirty="0"/>
          </a:p>
          <a:p>
            <a:pPr marL="342900" indent="-342900">
              <a:spcAft>
                <a:spcPts val="900"/>
              </a:spcAft>
              <a:buSzPct val="100000"/>
              <a:buChar char="•"/>
            </a:pPr>
            <a:r>
              <a:rPr lang="en-US" sz="1400" dirty="0">
                <a:solidFill>
                  <a:schemeClr val="tx1"/>
                </a:solidFill>
              </a:rPr>
              <a:t>Ký quỹ, bảo lãnh, khoản vay</a:t>
            </a:r>
            <a:endParaRPr lang="en-US" sz="1400" dirty="0"/>
          </a:p>
          <a:p>
            <a:pPr marL="342900" indent="-342900">
              <a:spcAft>
                <a:spcPts val="900"/>
              </a:spcAft>
              <a:buSzPct val="100000"/>
              <a:buChar char="•"/>
            </a:pPr>
            <a:r>
              <a:rPr lang="en-US" sz="1400" dirty="0">
                <a:solidFill>
                  <a:schemeClr val="tx1"/>
                </a:solidFill>
              </a:rPr>
              <a:t>Sổ lệnh, lệnh chưa xác nhận, phí</a:t>
            </a:r>
            <a:endParaRPr lang="en-US" sz="1400" dirty="0"/>
          </a:p>
          <a:p>
            <a:pPr marL="342900" indent="-342900">
              <a:spcAft>
                <a:spcPts val="900"/>
              </a:spcAft>
              <a:buSzPct val="100000"/>
              <a:buChar char="•"/>
            </a:pPr>
            <a:r>
              <a:rPr lang="en-US" sz="1400" dirty="0">
                <a:solidFill>
                  <a:schemeClr val="tx1"/>
                </a:solidFill>
              </a:rPr>
              <a:t>Nộp/rút tiền, báo cáo môi giới</a:t>
            </a:r>
            <a:endParaRPr lang="en-US" sz="1400" dirty="0"/>
          </a:p>
          <a:p>
            <a:pPr marL="342900" indent="-342900">
              <a:spcAft>
                <a:spcPts val="900"/>
              </a:spcAft>
              <a:buSzPct val="100000"/>
              <a:buChar char="•"/>
            </a:pPr>
            <a:r>
              <a:rPr lang="en-US" sz="1400" dirty="0">
                <a:solidFill>
                  <a:schemeClr val="tx1"/>
                </a:solidFill>
              </a:rPr>
              <a:t>Khuyến nghị, thị trường, kho tri thức KMS</a:t>
            </a:r>
            <a:endParaRPr lang="en-US" sz="1400" dirty="0"/>
          </a:p>
        </p:txBody>
      </p:sp>
      <p:sp>
        <p:nvSpPr>
          <p:cNvPr id="20" name="Shape 16"/>
          <p:cNvSpPr/>
          <p:nvPr/>
        </p:nvSpPr>
        <p:spPr>
          <a:xfrm>
            <a:off x="5367528" y="2514600"/>
            <a:ext cx="1463040" cy="1463040"/>
          </a:xfrm>
          <a:prstGeom prst="ellipse">
            <a:avLst/>
          </a:prstGeom>
          <a:solidFill>
            <a:schemeClr val="tx2"/>
          </a:solidFill>
          <a:ln w="38100">
            <a:solidFill>
              <a:schemeClr val="accent1"/>
            </a:solidFill>
            <a:prstDash val="solid"/>
          </a:ln>
        </p:spPr>
      </p:sp>
      <p:sp>
        <p:nvSpPr>
          <p:cNvPr id="21" name="Text 17"/>
          <p:cNvSpPr txBox="1"/>
          <p:nvPr/>
        </p:nvSpPr>
        <p:spPr>
          <a:xfrm>
            <a:off x="5367528" y="2514600"/>
            <a:ext cx="1463040" cy="1463040"/>
          </a:xfrm>
          <a:prstGeom prst="rect">
            <a:avLst/>
          </a:prstGeom>
          <a:noFill/>
          <a:ln/>
        </p:spPr>
        <p:txBody>
          <a:bodyPr wrap="square" lIns="0" tIns="0" rIns="0" bIns="0" rtlCol="0" anchor="ctr"/>
          <a:lstStyle/>
          <a:p>
            <a:pPr algn="ctr" indent="0" marL="0">
              <a:buNone/>
            </a:pPr>
            <a:r>
              <a:rPr lang="en-US" sz="3200" b="1" dirty="0">
                <a:solidFill>
                  <a:schemeClr val="bg1"/>
                </a:solidFill>
              </a:rPr>
              <a:t>AI</a:t>
            </a:r>
            <a:endParaRPr lang="en-US" sz="3200" dirty="0"/>
          </a:p>
        </p:txBody>
      </p:sp>
      <p:sp>
        <p:nvSpPr>
          <p:cNvPr id="22" name="Shape 18"/>
          <p:cNvSpPr/>
          <p:nvPr/>
        </p:nvSpPr>
        <p:spPr>
          <a:xfrm>
            <a:off x="4800600" y="3246120"/>
            <a:ext cx="530352" cy="0"/>
          </a:xfrm>
          <a:prstGeom prst="line">
            <a:avLst/>
          </a:prstGeom>
          <a:noFill/>
          <a:ln w="31750">
            <a:solidFill>
              <a:schemeClr val="accent2"/>
            </a:solidFill>
            <a:prstDash val="solid"/>
            <a:headEnd type="triangle"/>
            <a:tailEnd type="triangle"/>
          </a:ln>
        </p:spPr>
      </p:sp>
      <p:sp>
        <p:nvSpPr>
          <p:cNvPr id="23" name="Shape 19"/>
          <p:cNvSpPr/>
          <p:nvPr/>
        </p:nvSpPr>
        <p:spPr>
          <a:xfrm flipH="1">
            <a:off x="6867144" y="3246120"/>
            <a:ext cx="539496" cy="0"/>
          </a:xfrm>
          <a:prstGeom prst="line">
            <a:avLst/>
          </a:prstGeom>
          <a:noFill/>
          <a:ln w="31750">
            <a:solidFill>
              <a:schemeClr val="accent1"/>
            </a:solidFill>
            <a:prstDash val="solid"/>
            <a:headEnd type="triangle"/>
            <a:tailEnd type="triangle"/>
          </a:ln>
        </p:spPr>
      </p:sp>
      <p:sp>
        <p:nvSpPr>
          <p:cNvPr id="24" name="Text 20"/>
          <p:cNvSpPr txBox="1"/>
          <p:nvPr/>
        </p:nvSpPr>
        <p:spPr>
          <a:xfrm>
            <a:off x="4910328" y="4114800"/>
            <a:ext cx="2377440" cy="274320"/>
          </a:xfrm>
          <a:prstGeom prst="rect">
            <a:avLst/>
          </a:prstGeom>
          <a:noFill/>
          <a:ln/>
        </p:spPr>
        <p:txBody>
          <a:bodyPr wrap="square" lIns="0" tIns="0" rIns="0" bIns="0" rtlCol="0" anchor="t"/>
          <a:lstStyle/>
          <a:p>
            <a:pPr algn="ctr" indent="0" marL="0">
              <a:buNone/>
            </a:pPr>
            <a:r>
              <a:rPr lang="en-US" sz="1300" b="1" dirty="0">
                <a:solidFill>
                  <a:schemeClr val="tx2"/>
                </a:solidFill>
              </a:rPr>
              <a:t>Claude · ChatGPT</a:t>
            </a:r>
            <a:endParaRPr lang="en-US" sz="1300" dirty="0"/>
          </a:p>
        </p:txBody>
      </p:sp>
      <p:sp>
        <p:nvSpPr>
          <p:cNvPr id="25" name="Text 21"/>
          <p:cNvSpPr txBox="1"/>
          <p:nvPr/>
        </p:nvSpPr>
        <p:spPr>
          <a:xfrm>
            <a:off x="4910328" y="4434840"/>
            <a:ext cx="2377440" cy="548640"/>
          </a:xfrm>
          <a:prstGeom prst="rect">
            <a:avLst/>
          </a:prstGeom>
          <a:noFill/>
          <a:ln/>
        </p:spPr>
        <p:txBody>
          <a:bodyPr wrap="square" lIns="0" tIns="0" rIns="0" bIns="0" rtlCol="0" anchor="t"/>
          <a:lstStyle/>
          <a:p>
            <a:pPr algn="ctr" indent="0" marL="0">
              <a:buNone/>
            </a:pPr>
            <a:r>
              <a:rPr lang="en-US" sz="1200" dirty="0">
                <a:solidFill>
                  <a:schemeClr val="accent4"/>
                </a:solidFill>
              </a:rPr>
              <a:t>Một cuộc hội thoại dùng được cả hai</a:t>
            </a:r>
            <a:endParaRPr lang="en-US" sz="12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05 · SHONE MCP &amp; SHA MCP</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SHA MCP giải quyết bài toán gì?</a:t>
            </a:r>
            <a:endParaRPr lang="en-US" sz="3000" dirty="0"/>
          </a:p>
        </p:txBody>
      </p:sp>
      <p:sp>
        <p:nvSpPr>
          <p:cNvPr id="4" name="Shape 2"/>
          <p:cNvSpPr/>
          <p:nvPr/>
        </p:nvSpPr>
        <p:spPr>
          <a:xfrm>
            <a:off x="548640" y="1600200"/>
            <a:ext cx="5440680" cy="1783080"/>
          </a:xfrm>
          <a:prstGeom prst="roundRect">
            <a:avLst>
              <a:gd name="adj" fmla="val 6154"/>
            </a:avLst>
          </a:prstGeom>
          <a:solidFill>
            <a:schemeClr val="bg2"/>
          </a:solidFill>
          <a:ln/>
        </p:spPr>
      </p:sp>
      <p:sp>
        <p:nvSpPr>
          <p:cNvPr id="5" name="Text 3"/>
          <p:cNvSpPr txBox="1"/>
          <p:nvPr/>
        </p:nvSpPr>
        <p:spPr>
          <a:xfrm>
            <a:off x="822960" y="1783080"/>
            <a:ext cx="493776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BÀI TOÁN</a:t>
            </a:r>
            <a:endParaRPr lang="en-US" sz="1200" dirty="0"/>
          </a:p>
        </p:txBody>
      </p:sp>
      <p:sp>
        <p:nvSpPr>
          <p:cNvPr id="6" name="Text 4"/>
          <p:cNvSpPr txBox="1"/>
          <p:nvPr/>
        </p:nvSpPr>
        <p:spPr>
          <a:xfrm>
            <a:off x="822960" y="2103120"/>
            <a:ext cx="4937760" cy="1143000"/>
          </a:xfrm>
          <a:prstGeom prst="rect">
            <a:avLst/>
          </a:prstGeom>
          <a:noFill/>
          <a:ln/>
        </p:spPr>
        <p:txBody>
          <a:bodyPr wrap="square" lIns="0" tIns="0" rIns="0" bIns="0" rtlCol="0" anchor="t"/>
          <a:lstStyle/>
          <a:p>
            <a:pPr indent="0" marL="0">
              <a:buNone/>
            </a:pPr>
            <a:r>
              <a:rPr lang="en-US" sz="1600" dirty="0">
                <a:solidFill>
                  <a:schemeClr val="tx2"/>
                </a:solidFill>
              </a:rPr>
              <a:t>Thông tin khách hàng và nghiệp vụ nằm rải rác trên nhiều màn hình SHA; chuyên viên phải tra từng nơi rồi tự tổng hợp.</a:t>
            </a:r>
            <a:endParaRPr lang="en-US" sz="1600" dirty="0"/>
          </a:p>
        </p:txBody>
      </p:sp>
      <p:sp>
        <p:nvSpPr>
          <p:cNvPr id="7" name="Shape 5"/>
          <p:cNvSpPr/>
          <p:nvPr/>
        </p:nvSpPr>
        <p:spPr>
          <a:xfrm>
            <a:off x="6217920" y="1600200"/>
            <a:ext cx="5440680" cy="1783080"/>
          </a:xfrm>
          <a:prstGeom prst="roundRect">
            <a:avLst>
              <a:gd name="adj" fmla="val 6154"/>
            </a:avLst>
          </a:prstGeom>
          <a:solidFill>
            <a:schemeClr val="tx2"/>
          </a:solidFill>
          <a:ln/>
        </p:spPr>
      </p:sp>
      <p:sp>
        <p:nvSpPr>
          <p:cNvPr id="8" name="Text 6"/>
          <p:cNvSpPr txBox="1"/>
          <p:nvPr/>
        </p:nvSpPr>
        <p:spPr>
          <a:xfrm>
            <a:off x="6492240" y="1783080"/>
            <a:ext cx="4937760" cy="274320"/>
          </a:xfrm>
          <a:prstGeom prst="rect">
            <a:avLst/>
          </a:prstGeom>
          <a:noFill/>
          <a:ln/>
        </p:spPr>
        <p:txBody>
          <a:bodyPr wrap="square" lIns="0" tIns="0" rIns="0" bIns="0" rtlCol="0" anchor="t"/>
          <a:lstStyle/>
          <a:p>
            <a:pPr indent="0" marL="0">
              <a:buNone/>
            </a:pPr>
            <a:r>
              <a:rPr lang="en-US" sz="1200" b="1" spc="150" kern="0" dirty="0">
                <a:solidFill>
                  <a:schemeClr val="accent1"/>
                </a:solidFill>
              </a:rPr>
              <a:t>LỜI GIẢI</a:t>
            </a:r>
            <a:endParaRPr lang="en-US" sz="1200" dirty="0"/>
          </a:p>
        </p:txBody>
      </p:sp>
      <p:sp>
        <p:nvSpPr>
          <p:cNvPr id="9" name="Text 7"/>
          <p:cNvSpPr txBox="1"/>
          <p:nvPr/>
        </p:nvSpPr>
        <p:spPr>
          <a:xfrm>
            <a:off x="6492240" y="2103120"/>
            <a:ext cx="4937760" cy="1143000"/>
          </a:xfrm>
          <a:prstGeom prst="rect">
            <a:avLst/>
          </a:prstGeom>
          <a:noFill/>
          <a:ln/>
        </p:spPr>
        <p:txBody>
          <a:bodyPr wrap="square" lIns="0" tIns="0" rIns="0" bIns="0" rtlCol="0" anchor="t"/>
          <a:lstStyle/>
          <a:p>
            <a:pPr indent="0" marL="0">
              <a:buNone/>
            </a:pPr>
            <a:r>
              <a:rPr lang="en-US" sz="1600" dirty="0">
                <a:solidFill>
                  <a:schemeClr val="bg1"/>
                </a:solidFill>
              </a:rPr>
              <a:t>AI tra cứu thay và gộp nhiều nguồn vào một câu trả lời, trong đúng phạm vi quyền SHA của chính chuyên viên.</a:t>
            </a:r>
            <a:endParaRPr lang="en-US" sz="1600" dirty="0"/>
          </a:p>
        </p:txBody>
      </p:sp>
      <p:sp>
        <p:nvSpPr>
          <p:cNvPr id="10" name="Shape 8"/>
          <p:cNvSpPr/>
          <p:nvPr/>
        </p:nvSpPr>
        <p:spPr>
          <a:xfrm>
            <a:off x="548640" y="3657600"/>
            <a:ext cx="2606040" cy="2240280"/>
          </a:xfrm>
          <a:prstGeom prst="roundRect">
            <a:avLst>
              <a:gd name="adj" fmla="val 4898"/>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1" name="Text 9"/>
          <p:cNvSpPr txBox="1"/>
          <p:nvPr/>
        </p:nvSpPr>
        <p:spPr>
          <a:xfrm>
            <a:off x="822960" y="3886200"/>
            <a:ext cx="2103120" cy="914400"/>
          </a:xfrm>
          <a:prstGeom prst="rect">
            <a:avLst/>
          </a:prstGeom>
          <a:noFill/>
          <a:ln/>
        </p:spPr>
        <p:txBody>
          <a:bodyPr wrap="square" lIns="0" tIns="0" rIns="0" bIns="0" rtlCol="0" anchor="t"/>
          <a:lstStyle/>
          <a:p>
            <a:pPr indent="0" marL="0">
              <a:buNone/>
            </a:pPr>
            <a:r>
              <a:rPr lang="en-US" sz="5600" b="1" dirty="0">
                <a:solidFill>
                  <a:schemeClr val="accent1"/>
                </a:solidFill>
              </a:rPr>
              <a:t>39</a:t>
            </a:r>
            <a:endParaRPr lang="en-US" sz="5600" dirty="0"/>
          </a:p>
        </p:txBody>
      </p:sp>
      <p:sp>
        <p:nvSpPr>
          <p:cNvPr id="12" name="Text 10"/>
          <p:cNvSpPr txBox="1"/>
          <p:nvPr/>
        </p:nvSpPr>
        <p:spPr>
          <a:xfrm>
            <a:off x="822960" y="4846320"/>
            <a:ext cx="2103120" cy="914400"/>
          </a:xfrm>
          <a:prstGeom prst="rect">
            <a:avLst/>
          </a:prstGeom>
          <a:noFill/>
          <a:ln/>
        </p:spPr>
        <p:txBody>
          <a:bodyPr wrap="square" lIns="0" tIns="0" rIns="0" bIns="0" rtlCol="0" anchor="t"/>
          <a:lstStyle/>
          <a:p>
            <a:pPr indent="0" marL="0">
              <a:buNone/>
            </a:pPr>
            <a:r>
              <a:rPr lang="en-US" sz="1500" dirty="0">
                <a:solidFill>
                  <a:schemeClr val="tx1"/>
                </a:solidFill>
              </a:rPr>
              <a:t>operation đọc đã gọi thử trên dữ liệu thật</a:t>
            </a:r>
            <a:endParaRPr lang="en-US" sz="1500" dirty="0"/>
          </a:p>
        </p:txBody>
      </p:sp>
      <p:sp>
        <p:nvSpPr>
          <p:cNvPr id="13" name="Shape 11"/>
          <p:cNvSpPr/>
          <p:nvPr/>
        </p:nvSpPr>
        <p:spPr>
          <a:xfrm>
            <a:off x="3383280" y="3657600"/>
            <a:ext cx="2606040" cy="2240280"/>
          </a:xfrm>
          <a:prstGeom prst="roundRect">
            <a:avLst>
              <a:gd name="adj" fmla="val 4898"/>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4" name="Text 12"/>
          <p:cNvSpPr txBox="1"/>
          <p:nvPr/>
        </p:nvSpPr>
        <p:spPr>
          <a:xfrm>
            <a:off x="3657600" y="3886200"/>
            <a:ext cx="2103120" cy="914400"/>
          </a:xfrm>
          <a:prstGeom prst="rect">
            <a:avLst/>
          </a:prstGeom>
          <a:noFill/>
          <a:ln/>
        </p:spPr>
        <p:txBody>
          <a:bodyPr wrap="square" lIns="0" tIns="0" rIns="0" bIns="0" rtlCol="0" anchor="t"/>
          <a:lstStyle/>
          <a:p>
            <a:pPr indent="0" marL="0">
              <a:buNone/>
            </a:pPr>
            <a:r>
              <a:rPr lang="en-US" sz="5600" b="1" dirty="0">
                <a:solidFill>
                  <a:schemeClr val="accent1"/>
                </a:solidFill>
              </a:rPr>
              <a:t>18</a:t>
            </a:r>
            <a:endParaRPr lang="en-US" sz="5600" dirty="0"/>
          </a:p>
        </p:txBody>
      </p:sp>
      <p:sp>
        <p:nvSpPr>
          <p:cNvPr id="15" name="Text 13"/>
          <p:cNvSpPr txBox="1"/>
          <p:nvPr/>
        </p:nvSpPr>
        <p:spPr>
          <a:xfrm>
            <a:off x="3657600" y="4846320"/>
            <a:ext cx="2103120" cy="914400"/>
          </a:xfrm>
          <a:prstGeom prst="rect">
            <a:avLst/>
          </a:prstGeom>
          <a:noFill/>
          <a:ln/>
        </p:spPr>
        <p:txBody>
          <a:bodyPr wrap="square" lIns="0" tIns="0" rIns="0" bIns="0" rtlCol="0" anchor="t"/>
          <a:lstStyle/>
          <a:p>
            <a:pPr indent="0" marL="0">
              <a:buNone/>
            </a:pPr>
            <a:r>
              <a:rPr lang="en-US" sz="1500" dirty="0">
                <a:solidFill>
                  <a:schemeClr val="tx1"/>
                </a:solidFill>
              </a:rPr>
              <a:t>tool nghiệp vụ cho AI sử dụng</a:t>
            </a:r>
            <a:endParaRPr lang="en-US" sz="1500" dirty="0"/>
          </a:p>
        </p:txBody>
      </p:sp>
      <p:sp>
        <p:nvSpPr>
          <p:cNvPr id="16" name="Shape 14"/>
          <p:cNvSpPr/>
          <p:nvPr/>
        </p:nvSpPr>
        <p:spPr>
          <a:xfrm>
            <a:off x="6217920" y="3657600"/>
            <a:ext cx="2606040" cy="2240280"/>
          </a:xfrm>
          <a:prstGeom prst="roundRect">
            <a:avLst>
              <a:gd name="adj" fmla="val 4898"/>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7" name="Text 15"/>
          <p:cNvSpPr txBox="1"/>
          <p:nvPr/>
        </p:nvSpPr>
        <p:spPr>
          <a:xfrm>
            <a:off x="6492240" y="3886200"/>
            <a:ext cx="2103120" cy="914400"/>
          </a:xfrm>
          <a:prstGeom prst="rect">
            <a:avLst/>
          </a:prstGeom>
          <a:noFill/>
          <a:ln/>
        </p:spPr>
        <p:txBody>
          <a:bodyPr wrap="square" lIns="0" tIns="0" rIns="0" bIns="0" rtlCol="0" anchor="t"/>
          <a:lstStyle/>
          <a:p>
            <a:pPr indent="0" marL="0">
              <a:buNone/>
            </a:pPr>
            <a:r>
              <a:rPr lang="en-US" sz="5600" b="1" dirty="0">
                <a:solidFill>
                  <a:schemeClr val="accent5"/>
                </a:solidFill>
              </a:rPr>
              <a:t>0</a:t>
            </a:r>
            <a:endParaRPr lang="en-US" sz="5600" dirty="0"/>
          </a:p>
        </p:txBody>
      </p:sp>
      <p:sp>
        <p:nvSpPr>
          <p:cNvPr id="18" name="Text 16"/>
          <p:cNvSpPr txBox="1"/>
          <p:nvPr/>
        </p:nvSpPr>
        <p:spPr>
          <a:xfrm>
            <a:off x="6492240" y="4846320"/>
            <a:ext cx="2103120" cy="914400"/>
          </a:xfrm>
          <a:prstGeom prst="rect">
            <a:avLst/>
          </a:prstGeom>
          <a:noFill/>
          <a:ln/>
        </p:spPr>
        <p:txBody>
          <a:bodyPr wrap="square" lIns="0" tIns="0" rIns="0" bIns="0" rtlCol="0" anchor="t"/>
          <a:lstStyle/>
          <a:p>
            <a:pPr indent="0" marL="0">
              <a:buNone/>
            </a:pPr>
            <a:r>
              <a:rPr lang="en-US" sz="1500" dirty="0">
                <a:solidFill>
                  <a:schemeClr val="tx1"/>
                </a:solidFill>
              </a:rPr>
              <a:t>thao tác ghi: không lệnh, không chuyển tiền, không sửa hồ sơ</a:t>
            </a:r>
            <a:endParaRPr lang="en-US" sz="1500" dirty="0"/>
          </a:p>
        </p:txBody>
      </p:sp>
      <p:sp>
        <p:nvSpPr>
          <p:cNvPr id="19" name="Shape 17"/>
          <p:cNvSpPr/>
          <p:nvPr/>
        </p:nvSpPr>
        <p:spPr>
          <a:xfrm>
            <a:off x="9052560" y="3657600"/>
            <a:ext cx="2606040" cy="2240280"/>
          </a:xfrm>
          <a:prstGeom prst="roundRect">
            <a:avLst>
              <a:gd name="adj" fmla="val 4898"/>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20" name="Text 18"/>
          <p:cNvSpPr txBox="1"/>
          <p:nvPr/>
        </p:nvSpPr>
        <p:spPr>
          <a:xfrm>
            <a:off x="9326880" y="3886200"/>
            <a:ext cx="2103120" cy="914400"/>
          </a:xfrm>
          <a:prstGeom prst="rect">
            <a:avLst/>
          </a:prstGeom>
          <a:noFill/>
          <a:ln/>
        </p:spPr>
        <p:txBody>
          <a:bodyPr wrap="square" lIns="0" tIns="0" rIns="0" bIns="0" rtlCol="0" anchor="t"/>
          <a:lstStyle/>
          <a:p>
            <a:pPr indent="0" marL="0">
              <a:buNone/>
            </a:pPr>
            <a:r>
              <a:rPr lang="en-US" sz="5600" b="1" dirty="0">
                <a:solidFill>
                  <a:schemeClr val="accent1"/>
                </a:solidFill>
              </a:rPr>
              <a:t>2</a:t>
            </a:r>
            <a:endParaRPr lang="en-US" sz="5600" dirty="0"/>
          </a:p>
        </p:txBody>
      </p:sp>
      <p:sp>
        <p:nvSpPr>
          <p:cNvPr id="21" name="Text 19"/>
          <p:cNvSpPr txBox="1"/>
          <p:nvPr/>
        </p:nvSpPr>
        <p:spPr>
          <a:xfrm>
            <a:off x="9326880" y="4846320"/>
            <a:ext cx="2103120" cy="914400"/>
          </a:xfrm>
          <a:prstGeom prst="rect">
            <a:avLst/>
          </a:prstGeom>
          <a:noFill/>
          <a:ln/>
        </p:spPr>
        <p:txBody>
          <a:bodyPr wrap="square" lIns="0" tIns="0" rIns="0" bIns="0" rtlCol="0" anchor="t"/>
          <a:lstStyle/>
          <a:p>
            <a:pPr indent="0" marL="0">
              <a:buNone/>
            </a:pPr>
            <a:r>
              <a:rPr lang="en-US" sz="1500" dirty="0">
                <a:solidFill>
                  <a:schemeClr val="tx1"/>
                </a:solidFill>
              </a:rPr>
              <a:t>AI client đã kết nối: Claude và ChatGPT</a:t>
            </a:r>
            <a:endParaRPr lang="en-US" sz="15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06 · USE CASE</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Use case giá trị có thể áp dụng ngay</a:t>
            </a:r>
            <a:endParaRPr lang="en-US" sz="3000" dirty="0"/>
          </a:p>
        </p:txBody>
      </p:sp>
      <p:sp>
        <p:nvSpPr>
          <p:cNvPr id="4" name="Shape 2"/>
          <p:cNvSpPr/>
          <p:nvPr/>
        </p:nvSpPr>
        <p:spPr>
          <a:xfrm>
            <a:off x="548640" y="1600200"/>
            <a:ext cx="3520440" cy="2212848"/>
          </a:xfrm>
          <a:prstGeom prst="roundRect">
            <a:avLst>
              <a:gd name="adj" fmla="val 4959"/>
            </a:avLst>
          </a:prstGeom>
          <a:solidFill>
            <a:schemeClr val="bg2"/>
          </a:solidFill>
          <a:ln/>
        </p:spPr>
      </p:sp>
      <p:sp>
        <p:nvSpPr>
          <p:cNvPr id="5" name="Shape 3"/>
          <p:cNvSpPr/>
          <p:nvPr/>
        </p:nvSpPr>
        <p:spPr>
          <a:xfrm>
            <a:off x="777240" y="1828800"/>
            <a:ext cx="530352" cy="530352"/>
          </a:xfrm>
          <a:prstGeom prst="ellipse">
            <a:avLst/>
          </a:prstGeom>
          <a:solidFill>
            <a:schemeClr val="tx2"/>
          </a:solidFill>
          <a:ln/>
        </p:spPr>
      </p:sp>
      <p:pic>
        <p:nvPicPr>
          <p:cNvPr id="6" name="Image 0" descr="preencoded.png">    </p:cNvPr>
          <p:cNvPicPr>
            <a:picLocks noChangeAspect="1"/>
          </p:cNvPicPr>
          <p:nvPr/>
        </p:nvPicPr>
        <p:blipFill>
          <a:blip r:embed="rId1"/>
          <a:stretch>
            <a:fillRect/>
          </a:stretch>
        </p:blipFill>
        <p:spPr>
          <a:xfrm>
            <a:off x="909828" y="1961388"/>
            <a:ext cx="265176" cy="265176"/>
          </a:xfrm>
          <a:prstGeom prst="rect">
            <a:avLst/>
          </a:prstGeom>
        </p:spPr>
      </p:pic>
      <p:sp>
        <p:nvSpPr>
          <p:cNvPr id="7" name="Text 4"/>
          <p:cNvSpPr txBox="1"/>
          <p:nvPr/>
        </p:nvSpPr>
        <p:spPr>
          <a:xfrm>
            <a:off x="1463040" y="1801368"/>
            <a:ext cx="2468880" cy="594360"/>
          </a:xfrm>
          <a:prstGeom prst="rect">
            <a:avLst/>
          </a:prstGeom>
          <a:noFill/>
          <a:ln/>
        </p:spPr>
        <p:txBody>
          <a:bodyPr wrap="square" lIns="0" tIns="0" rIns="0" bIns="0" rtlCol="0" anchor="ctr"/>
          <a:lstStyle/>
          <a:p>
            <a:pPr indent="0" marL="0">
              <a:buNone/>
            </a:pPr>
            <a:r>
              <a:rPr lang="en-US" sz="1600" b="1" dirty="0">
                <a:solidFill>
                  <a:schemeClr val="tx2"/>
                </a:solidFill>
              </a:rPr>
              <a:t>Bản tin đầu ngày</a:t>
            </a:r>
            <a:endParaRPr lang="en-US" sz="1600" dirty="0"/>
          </a:p>
        </p:txBody>
      </p:sp>
      <p:sp>
        <p:nvSpPr>
          <p:cNvPr id="8" name="Text 5"/>
          <p:cNvSpPr txBox="1"/>
          <p:nvPr/>
        </p:nvSpPr>
        <p:spPr>
          <a:xfrm>
            <a:off x="777240" y="2496312"/>
            <a:ext cx="3108960" cy="868680"/>
          </a:xfrm>
          <a:prstGeom prst="rect">
            <a:avLst/>
          </a:prstGeom>
          <a:noFill/>
          <a:ln/>
        </p:spPr>
        <p:txBody>
          <a:bodyPr wrap="square" lIns="0" tIns="0" rIns="0" bIns="0" rtlCol="0" anchor="t"/>
          <a:lstStyle/>
          <a:p>
            <a:pPr indent="0" marL="0">
              <a:buNone/>
            </a:pPr>
            <a:r>
              <a:rPr lang="en-US" sz="1400" dirty="0">
                <a:solidFill>
                  <a:schemeClr val="tx1"/>
                </a:solidFill>
              </a:rPr>
              <a:t>Diễn biến thị trường, các mã trong danh mục KH bị ảnh hưởng, việc cần làm trong ngày.</a:t>
            </a:r>
            <a:endParaRPr lang="en-US" sz="1400" dirty="0"/>
          </a:p>
        </p:txBody>
      </p:sp>
      <p:sp>
        <p:nvSpPr>
          <p:cNvPr id="9" name="Text 6"/>
          <p:cNvSpPr txBox="1"/>
          <p:nvPr/>
        </p:nvSpPr>
        <p:spPr>
          <a:xfrm>
            <a:off x="777240" y="3410712"/>
            <a:ext cx="1005840" cy="256032"/>
          </a:xfrm>
          <a:prstGeom prst="roundRect">
            <a:avLst>
              <a:gd name="adj" fmla="val 28571"/>
            </a:avLst>
          </a:prstGeom>
          <a:solidFill>
            <a:schemeClr val="accent2"/>
          </a:solidFill>
          <a:ln/>
        </p:spPr>
        <p:txBody>
          <a:bodyPr wrap="square" lIns="0" tIns="0" rIns="0" bIns="0" rtlCol="0" anchor="ctr"/>
          <a:lstStyle/>
          <a:p>
            <a:pPr algn="ctr" indent="0" marL="0">
              <a:buNone/>
            </a:pPr>
            <a:r>
              <a:rPr lang="en-US" sz="1100" b="1" dirty="0">
                <a:solidFill>
                  <a:schemeClr val="bg1"/>
                </a:solidFill>
              </a:rPr>
              <a:t>SHOne MCP</a:t>
            </a:r>
            <a:endParaRPr lang="en-US" sz="1100" dirty="0"/>
          </a:p>
        </p:txBody>
      </p:sp>
      <p:sp>
        <p:nvSpPr>
          <p:cNvPr id="10" name="Text 7"/>
          <p:cNvSpPr txBox="1"/>
          <p:nvPr/>
        </p:nvSpPr>
        <p:spPr>
          <a:xfrm>
            <a:off x="1874520" y="3410712"/>
            <a:ext cx="1005840" cy="256032"/>
          </a:xfrm>
          <a:prstGeom prst="roundRect">
            <a:avLst>
              <a:gd name="adj" fmla="val 28571"/>
            </a:avLst>
          </a:prstGeom>
          <a:solidFill>
            <a:schemeClr val="accent1"/>
          </a:solidFill>
          <a:ln/>
        </p:spPr>
        <p:txBody>
          <a:bodyPr wrap="square" lIns="0" tIns="0" rIns="0" bIns="0" rtlCol="0" anchor="ctr"/>
          <a:lstStyle/>
          <a:p>
            <a:pPr algn="ctr" indent="0" marL="0">
              <a:buNone/>
            </a:pPr>
            <a:r>
              <a:rPr lang="en-US" sz="1100" b="1" dirty="0">
                <a:solidFill>
                  <a:schemeClr val="bg1"/>
                </a:solidFill>
              </a:rPr>
              <a:t>SHA MCP</a:t>
            </a:r>
            <a:endParaRPr lang="en-US" sz="1100" dirty="0"/>
          </a:p>
        </p:txBody>
      </p:sp>
      <p:sp>
        <p:nvSpPr>
          <p:cNvPr id="11" name="Shape 8"/>
          <p:cNvSpPr/>
          <p:nvPr/>
        </p:nvSpPr>
        <p:spPr>
          <a:xfrm>
            <a:off x="4343400" y="1600200"/>
            <a:ext cx="3520440" cy="2212848"/>
          </a:xfrm>
          <a:prstGeom prst="roundRect">
            <a:avLst>
              <a:gd name="adj" fmla="val 4959"/>
            </a:avLst>
          </a:prstGeom>
          <a:solidFill>
            <a:schemeClr val="bg2"/>
          </a:solidFill>
          <a:ln/>
        </p:spPr>
      </p:sp>
      <p:sp>
        <p:nvSpPr>
          <p:cNvPr id="12" name="Shape 9"/>
          <p:cNvSpPr/>
          <p:nvPr/>
        </p:nvSpPr>
        <p:spPr>
          <a:xfrm>
            <a:off x="4572000" y="1828800"/>
            <a:ext cx="530352" cy="530352"/>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4704588" y="1961388"/>
            <a:ext cx="265176" cy="265176"/>
          </a:xfrm>
          <a:prstGeom prst="rect">
            <a:avLst/>
          </a:prstGeom>
        </p:spPr>
      </p:pic>
      <p:sp>
        <p:nvSpPr>
          <p:cNvPr id="14" name="Text 10"/>
          <p:cNvSpPr txBox="1"/>
          <p:nvPr/>
        </p:nvSpPr>
        <p:spPr>
          <a:xfrm>
            <a:off x="5257800" y="1801368"/>
            <a:ext cx="2468880" cy="594360"/>
          </a:xfrm>
          <a:prstGeom prst="rect">
            <a:avLst/>
          </a:prstGeom>
          <a:noFill/>
          <a:ln/>
        </p:spPr>
        <p:txBody>
          <a:bodyPr wrap="square" lIns="0" tIns="0" rIns="0" bIns="0" rtlCol="0" anchor="ctr"/>
          <a:lstStyle/>
          <a:p>
            <a:pPr indent="0" marL="0">
              <a:buNone/>
            </a:pPr>
            <a:r>
              <a:rPr lang="en-US" sz="1600" b="1" dirty="0">
                <a:solidFill>
                  <a:schemeClr val="tx2"/>
                </a:solidFill>
              </a:rPr>
              <a:t>Cảnh báo ký quỹ, khoản vay</a:t>
            </a:r>
            <a:endParaRPr lang="en-US" sz="1600" dirty="0"/>
          </a:p>
        </p:txBody>
      </p:sp>
      <p:sp>
        <p:nvSpPr>
          <p:cNvPr id="15" name="Text 11"/>
          <p:cNvSpPr txBox="1"/>
          <p:nvPr/>
        </p:nvSpPr>
        <p:spPr>
          <a:xfrm>
            <a:off x="4572000" y="2496312"/>
            <a:ext cx="3108960" cy="868680"/>
          </a:xfrm>
          <a:prstGeom prst="rect">
            <a:avLst/>
          </a:prstGeom>
          <a:noFill/>
          <a:ln/>
        </p:spPr>
        <p:txBody>
          <a:bodyPr wrap="square" lIns="0" tIns="0" rIns="0" bIns="0" rtlCol="0" anchor="t"/>
          <a:lstStyle/>
          <a:p>
            <a:pPr indent="0" marL="0">
              <a:buNone/>
            </a:pPr>
            <a:r>
              <a:rPr lang="en-US" sz="1400" dirty="0">
                <a:solidFill>
                  <a:schemeClr val="tx1"/>
                </a:solidFill>
              </a:rPr>
              <a:t>Lọc tài khoản call, force sell, khoản vay đến hạn; gợi ý thứ tự liên hệ.</a:t>
            </a:r>
            <a:endParaRPr lang="en-US" sz="1400" dirty="0"/>
          </a:p>
        </p:txBody>
      </p:sp>
      <p:sp>
        <p:nvSpPr>
          <p:cNvPr id="16" name="Text 12"/>
          <p:cNvSpPr txBox="1"/>
          <p:nvPr/>
        </p:nvSpPr>
        <p:spPr>
          <a:xfrm>
            <a:off x="4572000" y="3410712"/>
            <a:ext cx="1005840" cy="256032"/>
          </a:xfrm>
          <a:prstGeom prst="roundRect">
            <a:avLst>
              <a:gd name="adj" fmla="val 28571"/>
            </a:avLst>
          </a:prstGeom>
          <a:solidFill>
            <a:schemeClr val="accent1"/>
          </a:solidFill>
          <a:ln/>
        </p:spPr>
        <p:txBody>
          <a:bodyPr wrap="square" lIns="0" tIns="0" rIns="0" bIns="0" rtlCol="0" anchor="ctr"/>
          <a:lstStyle/>
          <a:p>
            <a:pPr algn="ctr" indent="0" marL="0">
              <a:buNone/>
            </a:pPr>
            <a:r>
              <a:rPr lang="en-US" sz="1100" b="1" dirty="0">
                <a:solidFill>
                  <a:schemeClr val="bg1"/>
                </a:solidFill>
              </a:rPr>
              <a:t>SHA MCP</a:t>
            </a:r>
            <a:endParaRPr lang="en-US" sz="1100" dirty="0"/>
          </a:p>
        </p:txBody>
      </p:sp>
      <p:sp>
        <p:nvSpPr>
          <p:cNvPr id="17" name="Shape 13"/>
          <p:cNvSpPr/>
          <p:nvPr/>
        </p:nvSpPr>
        <p:spPr>
          <a:xfrm>
            <a:off x="8138160" y="1600200"/>
            <a:ext cx="3520440" cy="2212848"/>
          </a:xfrm>
          <a:prstGeom prst="roundRect">
            <a:avLst>
              <a:gd name="adj" fmla="val 4959"/>
            </a:avLst>
          </a:prstGeom>
          <a:solidFill>
            <a:schemeClr val="bg2"/>
          </a:solidFill>
          <a:ln/>
        </p:spPr>
      </p:sp>
      <p:sp>
        <p:nvSpPr>
          <p:cNvPr id="18" name="Shape 14"/>
          <p:cNvSpPr/>
          <p:nvPr/>
        </p:nvSpPr>
        <p:spPr>
          <a:xfrm>
            <a:off x="8366760" y="1828800"/>
            <a:ext cx="530352" cy="530352"/>
          </a:xfrm>
          <a:prstGeom prst="ellipse">
            <a:avLst/>
          </a:prstGeom>
          <a:solidFill>
            <a:schemeClr val="tx2"/>
          </a:solidFill>
          <a:ln/>
        </p:spPr>
      </p:sp>
      <p:pic>
        <p:nvPicPr>
          <p:cNvPr id="19" name="Image 2" descr="preencoded.png">    </p:cNvPr>
          <p:cNvPicPr>
            <a:picLocks noChangeAspect="1"/>
          </p:cNvPicPr>
          <p:nvPr/>
        </p:nvPicPr>
        <p:blipFill>
          <a:blip r:embed="rId3"/>
          <a:stretch>
            <a:fillRect/>
          </a:stretch>
        </p:blipFill>
        <p:spPr>
          <a:xfrm>
            <a:off x="8499348" y="1961388"/>
            <a:ext cx="265176" cy="265176"/>
          </a:xfrm>
          <a:prstGeom prst="rect">
            <a:avLst/>
          </a:prstGeom>
        </p:spPr>
      </p:pic>
      <p:sp>
        <p:nvSpPr>
          <p:cNvPr id="20" name="Text 15"/>
          <p:cNvSpPr txBox="1"/>
          <p:nvPr/>
        </p:nvSpPr>
        <p:spPr>
          <a:xfrm>
            <a:off x="9052560" y="1801368"/>
            <a:ext cx="2468880" cy="594360"/>
          </a:xfrm>
          <a:prstGeom prst="rect">
            <a:avLst/>
          </a:prstGeom>
          <a:noFill/>
          <a:ln/>
        </p:spPr>
        <p:txBody>
          <a:bodyPr wrap="square" lIns="0" tIns="0" rIns="0" bIns="0" rtlCol="0" anchor="ctr"/>
          <a:lstStyle/>
          <a:p>
            <a:pPr indent="0" marL="0">
              <a:buNone/>
            </a:pPr>
            <a:r>
              <a:rPr lang="en-US" sz="1600" b="1" dirty="0">
                <a:solidFill>
                  <a:schemeClr val="tx2"/>
                </a:solidFill>
              </a:rPr>
              <a:t>Chuẩn bị gặp khách hàng</a:t>
            </a:r>
            <a:endParaRPr lang="en-US" sz="1600" dirty="0"/>
          </a:p>
        </p:txBody>
      </p:sp>
      <p:sp>
        <p:nvSpPr>
          <p:cNvPr id="21" name="Text 16"/>
          <p:cNvSpPr txBox="1"/>
          <p:nvPr/>
        </p:nvSpPr>
        <p:spPr>
          <a:xfrm>
            <a:off x="8366760" y="2496312"/>
            <a:ext cx="3108960" cy="868680"/>
          </a:xfrm>
          <a:prstGeom prst="rect">
            <a:avLst/>
          </a:prstGeom>
          <a:noFill/>
          <a:ln/>
        </p:spPr>
        <p:txBody>
          <a:bodyPr wrap="square" lIns="0" tIns="0" rIns="0" bIns="0" rtlCol="0" anchor="t"/>
          <a:lstStyle/>
          <a:p>
            <a:pPr indent="0" marL="0">
              <a:buNone/>
            </a:pPr>
            <a:r>
              <a:rPr lang="en-US" sz="1400" dirty="0">
                <a:solidFill>
                  <a:schemeClr val="tx1"/>
                </a:solidFill>
              </a:rPr>
              <a:t>Hồ sơ, tài sản, danh mục, lịch sử lệnh, dòng tiền gom trong một trang.</a:t>
            </a:r>
            <a:endParaRPr lang="en-US" sz="1400" dirty="0"/>
          </a:p>
        </p:txBody>
      </p:sp>
      <p:sp>
        <p:nvSpPr>
          <p:cNvPr id="22" name="Text 17"/>
          <p:cNvSpPr txBox="1"/>
          <p:nvPr/>
        </p:nvSpPr>
        <p:spPr>
          <a:xfrm>
            <a:off x="8366760" y="3410712"/>
            <a:ext cx="1005840" cy="256032"/>
          </a:xfrm>
          <a:prstGeom prst="roundRect">
            <a:avLst>
              <a:gd name="adj" fmla="val 28571"/>
            </a:avLst>
          </a:prstGeom>
          <a:solidFill>
            <a:schemeClr val="accent1"/>
          </a:solidFill>
          <a:ln/>
        </p:spPr>
        <p:txBody>
          <a:bodyPr wrap="square" lIns="0" tIns="0" rIns="0" bIns="0" rtlCol="0" anchor="ctr"/>
          <a:lstStyle/>
          <a:p>
            <a:pPr algn="ctr" indent="0" marL="0">
              <a:buNone/>
            </a:pPr>
            <a:r>
              <a:rPr lang="en-US" sz="1100" b="1" dirty="0">
                <a:solidFill>
                  <a:schemeClr val="bg1"/>
                </a:solidFill>
              </a:rPr>
              <a:t>SHA MCP</a:t>
            </a:r>
            <a:endParaRPr lang="en-US" sz="1100" dirty="0"/>
          </a:p>
        </p:txBody>
      </p:sp>
      <p:sp>
        <p:nvSpPr>
          <p:cNvPr id="23" name="Shape 18"/>
          <p:cNvSpPr/>
          <p:nvPr/>
        </p:nvSpPr>
        <p:spPr>
          <a:xfrm>
            <a:off x="548640" y="3931920"/>
            <a:ext cx="3520440" cy="2212848"/>
          </a:xfrm>
          <a:prstGeom prst="roundRect">
            <a:avLst>
              <a:gd name="adj" fmla="val 4959"/>
            </a:avLst>
          </a:prstGeom>
          <a:solidFill>
            <a:schemeClr val="bg2"/>
          </a:solidFill>
          <a:ln/>
        </p:spPr>
      </p:sp>
      <p:sp>
        <p:nvSpPr>
          <p:cNvPr id="24" name="Shape 19"/>
          <p:cNvSpPr/>
          <p:nvPr/>
        </p:nvSpPr>
        <p:spPr>
          <a:xfrm>
            <a:off x="777240" y="4160520"/>
            <a:ext cx="530352" cy="530352"/>
          </a:xfrm>
          <a:prstGeom prst="ellipse">
            <a:avLst/>
          </a:prstGeom>
          <a:solidFill>
            <a:schemeClr val="tx2"/>
          </a:solidFill>
          <a:ln/>
        </p:spPr>
      </p:sp>
      <p:pic>
        <p:nvPicPr>
          <p:cNvPr id="25" name="Image 3" descr="preencoded.png">    </p:cNvPr>
          <p:cNvPicPr>
            <a:picLocks noChangeAspect="1"/>
          </p:cNvPicPr>
          <p:nvPr/>
        </p:nvPicPr>
        <p:blipFill>
          <a:blip r:embed="rId4"/>
          <a:stretch>
            <a:fillRect/>
          </a:stretch>
        </p:blipFill>
        <p:spPr>
          <a:xfrm>
            <a:off x="909828" y="4293108"/>
            <a:ext cx="265176" cy="265176"/>
          </a:xfrm>
          <a:prstGeom prst="rect">
            <a:avLst/>
          </a:prstGeom>
        </p:spPr>
      </p:pic>
      <p:sp>
        <p:nvSpPr>
          <p:cNvPr id="26" name="Text 20"/>
          <p:cNvSpPr txBox="1"/>
          <p:nvPr/>
        </p:nvSpPr>
        <p:spPr>
          <a:xfrm>
            <a:off x="1463040" y="4133088"/>
            <a:ext cx="2468880" cy="594360"/>
          </a:xfrm>
          <a:prstGeom prst="rect">
            <a:avLst/>
          </a:prstGeom>
          <a:noFill/>
          <a:ln/>
        </p:spPr>
        <p:txBody>
          <a:bodyPr wrap="square" lIns="0" tIns="0" rIns="0" bIns="0" rtlCol="0" anchor="ctr"/>
          <a:lstStyle/>
          <a:p>
            <a:pPr indent="0" marL="0">
              <a:buNone/>
            </a:pPr>
            <a:r>
              <a:rPr lang="en-US" sz="1600" b="1" dirty="0">
                <a:solidFill>
                  <a:schemeClr val="tx2"/>
                </a:solidFill>
              </a:rPr>
              <a:t>Phân tích mã trong danh mục</a:t>
            </a:r>
            <a:endParaRPr lang="en-US" sz="1600" dirty="0"/>
          </a:p>
        </p:txBody>
      </p:sp>
      <p:sp>
        <p:nvSpPr>
          <p:cNvPr id="27" name="Text 21"/>
          <p:cNvSpPr txBox="1"/>
          <p:nvPr/>
        </p:nvSpPr>
        <p:spPr>
          <a:xfrm>
            <a:off x="777240" y="4828032"/>
            <a:ext cx="3108960" cy="868680"/>
          </a:xfrm>
          <a:prstGeom prst="rect">
            <a:avLst/>
          </a:prstGeom>
          <a:noFill/>
          <a:ln/>
        </p:spPr>
        <p:txBody>
          <a:bodyPr wrap="square" lIns="0" tIns="0" rIns="0" bIns="0" rtlCol="0" anchor="t"/>
          <a:lstStyle/>
          <a:p>
            <a:pPr indent="0" marL="0">
              <a:buNone/>
            </a:pPr>
            <a:r>
              <a:rPr lang="en-US" sz="1400" dirty="0">
                <a:solidFill>
                  <a:schemeClr val="tx1"/>
                </a:solidFill>
              </a:rPr>
              <a:t>BCTC, kỹ thuật, tin tức, sự kiện cổ tức cho đúng các mã KH đang nắm.</a:t>
            </a:r>
            <a:endParaRPr lang="en-US" sz="1400" dirty="0"/>
          </a:p>
        </p:txBody>
      </p:sp>
      <p:sp>
        <p:nvSpPr>
          <p:cNvPr id="28" name="Text 22"/>
          <p:cNvSpPr txBox="1"/>
          <p:nvPr/>
        </p:nvSpPr>
        <p:spPr>
          <a:xfrm>
            <a:off x="777240" y="5742432"/>
            <a:ext cx="1005840" cy="256032"/>
          </a:xfrm>
          <a:prstGeom prst="roundRect">
            <a:avLst>
              <a:gd name="adj" fmla="val 28571"/>
            </a:avLst>
          </a:prstGeom>
          <a:solidFill>
            <a:schemeClr val="accent2"/>
          </a:solidFill>
          <a:ln/>
        </p:spPr>
        <p:txBody>
          <a:bodyPr wrap="square" lIns="0" tIns="0" rIns="0" bIns="0" rtlCol="0" anchor="ctr"/>
          <a:lstStyle/>
          <a:p>
            <a:pPr algn="ctr" indent="0" marL="0">
              <a:buNone/>
            </a:pPr>
            <a:r>
              <a:rPr lang="en-US" sz="1100" b="1" dirty="0">
                <a:solidFill>
                  <a:schemeClr val="bg1"/>
                </a:solidFill>
              </a:rPr>
              <a:t>SHOne MCP</a:t>
            </a:r>
            <a:endParaRPr lang="en-US" sz="1100" dirty="0"/>
          </a:p>
        </p:txBody>
      </p:sp>
      <p:sp>
        <p:nvSpPr>
          <p:cNvPr id="29" name="Text 23"/>
          <p:cNvSpPr txBox="1"/>
          <p:nvPr/>
        </p:nvSpPr>
        <p:spPr>
          <a:xfrm>
            <a:off x="1874520" y="5742432"/>
            <a:ext cx="1005840" cy="256032"/>
          </a:xfrm>
          <a:prstGeom prst="roundRect">
            <a:avLst>
              <a:gd name="adj" fmla="val 28571"/>
            </a:avLst>
          </a:prstGeom>
          <a:solidFill>
            <a:schemeClr val="accent1"/>
          </a:solidFill>
          <a:ln/>
        </p:spPr>
        <p:txBody>
          <a:bodyPr wrap="square" lIns="0" tIns="0" rIns="0" bIns="0" rtlCol="0" anchor="ctr"/>
          <a:lstStyle/>
          <a:p>
            <a:pPr algn="ctr" indent="0" marL="0">
              <a:buNone/>
            </a:pPr>
            <a:r>
              <a:rPr lang="en-US" sz="1100" b="1" dirty="0">
                <a:solidFill>
                  <a:schemeClr val="bg1"/>
                </a:solidFill>
              </a:rPr>
              <a:t>SHA MCP</a:t>
            </a:r>
            <a:endParaRPr lang="en-US" sz="1100" dirty="0"/>
          </a:p>
        </p:txBody>
      </p:sp>
      <p:sp>
        <p:nvSpPr>
          <p:cNvPr id="30" name="Shape 24"/>
          <p:cNvSpPr/>
          <p:nvPr/>
        </p:nvSpPr>
        <p:spPr>
          <a:xfrm>
            <a:off x="4343400" y="3931920"/>
            <a:ext cx="3520440" cy="2212848"/>
          </a:xfrm>
          <a:prstGeom prst="roundRect">
            <a:avLst>
              <a:gd name="adj" fmla="val 4959"/>
            </a:avLst>
          </a:prstGeom>
          <a:solidFill>
            <a:schemeClr val="bg2"/>
          </a:solidFill>
          <a:ln/>
        </p:spPr>
      </p:sp>
      <p:sp>
        <p:nvSpPr>
          <p:cNvPr id="31" name="Shape 25"/>
          <p:cNvSpPr/>
          <p:nvPr/>
        </p:nvSpPr>
        <p:spPr>
          <a:xfrm>
            <a:off x="4572000" y="4160520"/>
            <a:ext cx="530352" cy="530352"/>
          </a:xfrm>
          <a:prstGeom prst="ellipse">
            <a:avLst/>
          </a:prstGeom>
          <a:solidFill>
            <a:schemeClr val="tx2"/>
          </a:solidFill>
          <a:ln/>
        </p:spPr>
      </p:sp>
      <p:pic>
        <p:nvPicPr>
          <p:cNvPr id="32" name="Image 4" descr="preencoded.png">    </p:cNvPr>
          <p:cNvPicPr>
            <a:picLocks noChangeAspect="1"/>
          </p:cNvPicPr>
          <p:nvPr/>
        </p:nvPicPr>
        <p:blipFill>
          <a:blip r:embed="rId5"/>
          <a:stretch>
            <a:fillRect/>
          </a:stretch>
        </p:blipFill>
        <p:spPr>
          <a:xfrm>
            <a:off x="4704588" y="4293108"/>
            <a:ext cx="265176" cy="265176"/>
          </a:xfrm>
          <a:prstGeom prst="rect">
            <a:avLst/>
          </a:prstGeom>
        </p:spPr>
      </p:pic>
      <p:sp>
        <p:nvSpPr>
          <p:cNvPr id="33" name="Text 26"/>
          <p:cNvSpPr txBox="1"/>
          <p:nvPr/>
        </p:nvSpPr>
        <p:spPr>
          <a:xfrm>
            <a:off x="5257800" y="4133088"/>
            <a:ext cx="2468880" cy="594360"/>
          </a:xfrm>
          <a:prstGeom prst="rect">
            <a:avLst/>
          </a:prstGeom>
          <a:noFill/>
          <a:ln/>
        </p:spPr>
        <p:txBody>
          <a:bodyPr wrap="square" lIns="0" tIns="0" rIns="0" bIns="0" rtlCol="0" anchor="ctr"/>
          <a:lstStyle/>
          <a:p>
            <a:pPr indent="0" marL="0">
              <a:buNone/>
            </a:pPr>
            <a:r>
              <a:rPr lang="en-US" sz="1600" b="1" dirty="0">
                <a:solidFill>
                  <a:schemeClr val="tx2"/>
                </a:solidFill>
              </a:rPr>
              <a:t>Hỏi đáp tri thức nội bộ</a:t>
            </a:r>
            <a:endParaRPr lang="en-US" sz="1600" dirty="0"/>
          </a:p>
        </p:txBody>
      </p:sp>
      <p:sp>
        <p:nvSpPr>
          <p:cNvPr id="34" name="Text 27"/>
          <p:cNvSpPr txBox="1"/>
          <p:nvPr/>
        </p:nvSpPr>
        <p:spPr>
          <a:xfrm>
            <a:off x="4572000" y="4828032"/>
            <a:ext cx="3108960" cy="868680"/>
          </a:xfrm>
          <a:prstGeom prst="rect">
            <a:avLst/>
          </a:prstGeom>
          <a:noFill/>
          <a:ln/>
        </p:spPr>
        <p:txBody>
          <a:bodyPr wrap="square" lIns="0" tIns="0" rIns="0" bIns="0" rtlCol="0" anchor="t"/>
          <a:lstStyle/>
          <a:p>
            <a:pPr indent="0" marL="0">
              <a:buNone/>
            </a:pPr>
            <a:r>
              <a:rPr lang="en-US" sz="1400" dirty="0">
                <a:solidFill>
                  <a:schemeClr val="tx1"/>
                </a:solidFill>
              </a:rPr>
              <a:t>Tra thư viện KMS về sản phẩm, quy trình, quy định; trả lời kèm nguồn bài viết.</a:t>
            </a:r>
            <a:endParaRPr lang="en-US" sz="1400" dirty="0"/>
          </a:p>
        </p:txBody>
      </p:sp>
      <p:sp>
        <p:nvSpPr>
          <p:cNvPr id="35" name="Text 28"/>
          <p:cNvSpPr txBox="1"/>
          <p:nvPr/>
        </p:nvSpPr>
        <p:spPr>
          <a:xfrm>
            <a:off x="4572000" y="5742432"/>
            <a:ext cx="1005840" cy="256032"/>
          </a:xfrm>
          <a:prstGeom prst="roundRect">
            <a:avLst>
              <a:gd name="adj" fmla="val 28571"/>
            </a:avLst>
          </a:prstGeom>
          <a:solidFill>
            <a:schemeClr val="accent1"/>
          </a:solidFill>
          <a:ln/>
        </p:spPr>
        <p:txBody>
          <a:bodyPr wrap="square" lIns="0" tIns="0" rIns="0" bIns="0" rtlCol="0" anchor="ctr"/>
          <a:lstStyle/>
          <a:p>
            <a:pPr algn="ctr" indent="0" marL="0">
              <a:buNone/>
            </a:pPr>
            <a:r>
              <a:rPr lang="en-US" sz="1100" b="1" dirty="0">
                <a:solidFill>
                  <a:schemeClr val="bg1"/>
                </a:solidFill>
              </a:rPr>
              <a:t>SHA MCP</a:t>
            </a:r>
            <a:endParaRPr lang="en-US" sz="1100" dirty="0"/>
          </a:p>
        </p:txBody>
      </p:sp>
      <p:sp>
        <p:nvSpPr>
          <p:cNvPr id="36" name="Shape 29"/>
          <p:cNvSpPr/>
          <p:nvPr/>
        </p:nvSpPr>
        <p:spPr>
          <a:xfrm>
            <a:off x="8138160" y="3931920"/>
            <a:ext cx="3520440" cy="2212848"/>
          </a:xfrm>
          <a:prstGeom prst="roundRect">
            <a:avLst>
              <a:gd name="adj" fmla="val 4959"/>
            </a:avLst>
          </a:prstGeom>
          <a:solidFill>
            <a:schemeClr val="bg2"/>
          </a:solidFill>
          <a:ln/>
        </p:spPr>
      </p:sp>
      <p:sp>
        <p:nvSpPr>
          <p:cNvPr id="37" name="Shape 30"/>
          <p:cNvSpPr/>
          <p:nvPr/>
        </p:nvSpPr>
        <p:spPr>
          <a:xfrm>
            <a:off x="8366760" y="4160520"/>
            <a:ext cx="530352" cy="530352"/>
          </a:xfrm>
          <a:prstGeom prst="ellipse">
            <a:avLst/>
          </a:prstGeom>
          <a:solidFill>
            <a:schemeClr val="tx2"/>
          </a:solidFill>
          <a:ln/>
        </p:spPr>
      </p:sp>
      <p:pic>
        <p:nvPicPr>
          <p:cNvPr id="38" name="Image 5" descr="preencoded.png">    </p:cNvPr>
          <p:cNvPicPr>
            <a:picLocks noChangeAspect="1"/>
          </p:cNvPicPr>
          <p:nvPr/>
        </p:nvPicPr>
        <p:blipFill>
          <a:blip r:embed="rId6"/>
          <a:stretch>
            <a:fillRect/>
          </a:stretch>
        </p:blipFill>
        <p:spPr>
          <a:xfrm>
            <a:off x="8499348" y="4293108"/>
            <a:ext cx="265176" cy="265176"/>
          </a:xfrm>
          <a:prstGeom prst="rect">
            <a:avLst/>
          </a:prstGeom>
        </p:spPr>
      </p:pic>
      <p:sp>
        <p:nvSpPr>
          <p:cNvPr id="39" name="Text 31"/>
          <p:cNvSpPr txBox="1"/>
          <p:nvPr/>
        </p:nvSpPr>
        <p:spPr>
          <a:xfrm>
            <a:off x="9052560" y="4133088"/>
            <a:ext cx="2468880" cy="594360"/>
          </a:xfrm>
          <a:prstGeom prst="rect">
            <a:avLst/>
          </a:prstGeom>
          <a:noFill/>
          <a:ln/>
        </p:spPr>
        <p:txBody>
          <a:bodyPr wrap="square" lIns="0" tIns="0" rIns="0" bIns="0" rtlCol="0" anchor="ctr"/>
          <a:lstStyle/>
          <a:p>
            <a:pPr indent="0" marL="0">
              <a:buNone/>
            </a:pPr>
            <a:r>
              <a:rPr lang="en-US" sz="1600" b="1" dirty="0">
                <a:solidFill>
                  <a:schemeClr val="tx2"/>
                </a:solidFill>
              </a:rPr>
              <a:t>Báo cáo quản lý</a:t>
            </a:r>
            <a:endParaRPr lang="en-US" sz="1600" dirty="0"/>
          </a:p>
        </p:txBody>
      </p:sp>
      <p:sp>
        <p:nvSpPr>
          <p:cNvPr id="40" name="Text 32"/>
          <p:cNvSpPr txBox="1"/>
          <p:nvPr/>
        </p:nvSpPr>
        <p:spPr>
          <a:xfrm>
            <a:off x="8366760" y="4828032"/>
            <a:ext cx="3108960" cy="868680"/>
          </a:xfrm>
          <a:prstGeom prst="rect">
            <a:avLst/>
          </a:prstGeom>
          <a:noFill/>
          <a:ln/>
        </p:spPr>
        <p:txBody>
          <a:bodyPr wrap="square" lIns="0" tIns="0" rIns="0" bIns="0" rtlCol="0" anchor="t"/>
          <a:lstStyle/>
          <a:p>
            <a:pPr indent="0" marL="0">
              <a:buNone/>
            </a:pPr>
            <a:r>
              <a:rPr lang="en-US" sz="1400" dirty="0">
                <a:solidFill>
                  <a:schemeClr val="tx1"/>
                </a:solidFill>
              </a:rPr>
              <a:t>Tài sản theo môi giới, lệnh chưa xác nhận, TK mở mới, phí giao dịch trong ngày.</a:t>
            </a:r>
            <a:endParaRPr lang="en-US" sz="1400" dirty="0"/>
          </a:p>
        </p:txBody>
      </p:sp>
      <p:sp>
        <p:nvSpPr>
          <p:cNvPr id="41" name="Text 33"/>
          <p:cNvSpPr txBox="1"/>
          <p:nvPr/>
        </p:nvSpPr>
        <p:spPr>
          <a:xfrm>
            <a:off x="8366760" y="5742432"/>
            <a:ext cx="1005840" cy="256032"/>
          </a:xfrm>
          <a:prstGeom prst="roundRect">
            <a:avLst>
              <a:gd name="adj" fmla="val 28571"/>
            </a:avLst>
          </a:prstGeom>
          <a:solidFill>
            <a:schemeClr val="accent1"/>
          </a:solidFill>
          <a:ln/>
        </p:spPr>
        <p:txBody>
          <a:bodyPr wrap="square" lIns="0" tIns="0" rIns="0" bIns="0" rtlCol="0" anchor="ctr"/>
          <a:lstStyle/>
          <a:p>
            <a:pPr algn="ctr" indent="0" marL="0">
              <a:buNone/>
            </a:pPr>
            <a:r>
              <a:rPr lang="en-US" sz="1100" b="1" dirty="0">
                <a:solidFill>
                  <a:schemeClr val="bg1"/>
                </a:solidFill>
              </a:rPr>
              <a:t>SHA MCP</a:t>
            </a:r>
            <a:endParaRPr lang="en-US" sz="11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06 · USE CASE</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Một ngày làm việc cùng trợ lý AI</a:t>
            </a:r>
            <a:endParaRPr lang="en-US" sz="3000" dirty="0"/>
          </a:p>
        </p:txBody>
      </p:sp>
      <p:pic>
        <p:nvPicPr>
          <p:cNvPr id="4" name="Image 0" descr="Chuyên viên tư vấn trao đổi với khách hàng bằng máy tính bảng">    </p:cNvPr>
          <p:cNvPicPr>
            <a:picLocks noChangeAspect="1"/>
          </p:cNvPicPr>
          <p:nvPr/>
        </p:nvPicPr>
        <p:blipFill>
          <a:blip r:embed="rId1"/>
          <a:stretch>
            <a:fillRect/>
          </a:stretch>
        </p:blipFill>
        <p:spPr>
          <a:xfrm>
            <a:off x="548640" y="1600200"/>
            <a:ext cx="4206240" cy="4526280"/>
          </a:xfrm>
          <a:prstGeom prst="rect">
            <a:avLst/>
          </a:prstGeom>
        </p:spPr>
      </p:pic>
      <p:sp>
        <p:nvSpPr>
          <p:cNvPr id="5" name="Shape 2"/>
          <p:cNvSpPr/>
          <p:nvPr/>
        </p:nvSpPr>
        <p:spPr>
          <a:xfrm>
            <a:off x="5358384" y="1828800"/>
            <a:ext cx="0" cy="3977640"/>
          </a:xfrm>
          <a:prstGeom prst="line">
            <a:avLst/>
          </a:prstGeom>
          <a:noFill/>
          <a:ln w="25400">
            <a:solidFill>
              <a:schemeClr val="accent3"/>
            </a:solidFill>
            <a:prstDash val="solid"/>
          </a:ln>
        </p:spPr>
      </p:sp>
      <p:sp>
        <p:nvSpPr>
          <p:cNvPr id="6" name="Shape 3"/>
          <p:cNvSpPr/>
          <p:nvPr/>
        </p:nvSpPr>
        <p:spPr>
          <a:xfrm>
            <a:off x="5257800" y="1783080"/>
            <a:ext cx="201168" cy="201168"/>
          </a:xfrm>
          <a:prstGeom prst="ellipse">
            <a:avLst/>
          </a:prstGeom>
          <a:solidFill>
            <a:schemeClr val="accent1"/>
          </a:solidFill>
          <a:ln w="25400">
            <a:solidFill>
              <a:schemeClr val="bg1"/>
            </a:solidFill>
            <a:prstDash val="solid"/>
          </a:ln>
        </p:spPr>
      </p:sp>
      <p:sp>
        <p:nvSpPr>
          <p:cNvPr id="7" name="Text 4"/>
          <p:cNvSpPr txBox="1"/>
          <p:nvPr/>
        </p:nvSpPr>
        <p:spPr>
          <a:xfrm>
            <a:off x="5669280" y="1709928"/>
            <a:ext cx="868680" cy="365760"/>
          </a:xfrm>
          <a:prstGeom prst="rect">
            <a:avLst/>
          </a:prstGeom>
          <a:noFill/>
          <a:ln/>
        </p:spPr>
        <p:txBody>
          <a:bodyPr wrap="square" lIns="0" tIns="0" rIns="0" bIns="0" rtlCol="0" anchor="t"/>
          <a:lstStyle/>
          <a:p>
            <a:pPr indent="0" marL="0">
              <a:buNone/>
            </a:pPr>
            <a:r>
              <a:rPr lang="en-US" sz="1600" b="1" dirty="0">
                <a:solidFill>
                  <a:schemeClr val="accent1"/>
                </a:solidFill>
              </a:rPr>
              <a:t>08:00</a:t>
            </a:r>
            <a:endParaRPr lang="en-US" sz="1600" dirty="0"/>
          </a:p>
        </p:txBody>
      </p:sp>
      <p:sp>
        <p:nvSpPr>
          <p:cNvPr id="8" name="Text 5"/>
          <p:cNvSpPr txBox="1"/>
          <p:nvPr/>
        </p:nvSpPr>
        <p:spPr>
          <a:xfrm>
            <a:off x="6583680" y="1709928"/>
            <a:ext cx="5074920" cy="594360"/>
          </a:xfrm>
          <a:prstGeom prst="rect">
            <a:avLst/>
          </a:prstGeom>
          <a:noFill/>
          <a:ln/>
        </p:spPr>
        <p:txBody>
          <a:bodyPr wrap="square" lIns="0" tIns="0" rIns="0" bIns="0" rtlCol="0" anchor="t"/>
          <a:lstStyle/>
          <a:p>
            <a:pPr indent="0" marL="0">
              <a:buNone/>
            </a:pPr>
            <a:r>
              <a:rPr lang="en-US" sz="1500" dirty="0">
                <a:solidFill>
                  <a:schemeClr val="tx2"/>
                </a:solidFill>
              </a:rPr>
              <a:t>Bản tin sáng: thị trường và danh mục khách hàng</a:t>
            </a:r>
            <a:endParaRPr lang="en-US" sz="1500" dirty="0"/>
          </a:p>
        </p:txBody>
      </p:sp>
      <p:sp>
        <p:nvSpPr>
          <p:cNvPr id="9" name="Shape 6"/>
          <p:cNvSpPr/>
          <p:nvPr/>
        </p:nvSpPr>
        <p:spPr>
          <a:xfrm>
            <a:off x="5257800" y="2514600"/>
            <a:ext cx="201168" cy="201168"/>
          </a:xfrm>
          <a:prstGeom prst="ellipse">
            <a:avLst/>
          </a:prstGeom>
          <a:solidFill>
            <a:schemeClr val="accent1"/>
          </a:solidFill>
          <a:ln w="25400">
            <a:solidFill>
              <a:schemeClr val="bg1"/>
            </a:solidFill>
            <a:prstDash val="solid"/>
          </a:ln>
        </p:spPr>
      </p:sp>
      <p:sp>
        <p:nvSpPr>
          <p:cNvPr id="10" name="Text 7"/>
          <p:cNvSpPr txBox="1"/>
          <p:nvPr/>
        </p:nvSpPr>
        <p:spPr>
          <a:xfrm>
            <a:off x="5669280" y="2441448"/>
            <a:ext cx="868680" cy="365760"/>
          </a:xfrm>
          <a:prstGeom prst="rect">
            <a:avLst/>
          </a:prstGeom>
          <a:noFill/>
          <a:ln/>
        </p:spPr>
        <p:txBody>
          <a:bodyPr wrap="square" lIns="0" tIns="0" rIns="0" bIns="0" rtlCol="0" anchor="t"/>
          <a:lstStyle/>
          <a:p>
            <a:pPr indent="0" marL="0">
              <a:buNone/>
            </a:pPr>
            <a:r>
              <a:rPr lang="en-US" sz="1600" b="1" dirty="0">
                <a:solidFill>
                  <a:schemeClr val="accent1"/>
                </a:solidFill>
              </a:rPr>
              <a:t>09:30</a:t>
            </a:r>
            <a:endParaRPr lang="en-US" sz="1600" dirty="0"/>
          </a:p>
        </p:txBody>
      </p:sp>
      <p:sp>
        <p:nvSpPr>
          <p:cNvPr id="11" name="Text 8"/>
          <p:cNvSpPr txBox="1"/>
          <p:nvPr/>
        </p:nvSpPr>
        <p:spPr>
          <a:xfrm>
            <a:off x="6583680" y="2441448"/>
            <a:ext cx="5074920" cy="594360"/>
          </a:xfrm>
          <a:prstGeom prst="rect">
            <a:avLst/>
          </a:prstGeom>
          <a:noFill/>
          <a:ln/>
        </p:spPr>
        <p:txBody>
          <a:bodyPr wrap="square" lIns="0" tIns="0" rIns="0" bIns="0" rtlCol="0" anchor="t"/>
          <a:lstStyle/>
          <a:p>
            <a:pPr indent="0" marL="0">
              <a:buNone/>
            </a:pPr>
            <a:r>
              <a:rPr lang="en-US" sz="1500" dirty="0">
                <a:solidFill>
                  <a:schemeClr val="tx2"/>
                </a:solidFill>
              </a:rPr>
              <a:t>Cảnh báo tài khoản call margin, đề xuất thứ tự gọi</a:t>
            </a:r>
            <a:endParaRPr lang="en-US" sz="1500" dirty="0"/>
          </a:p>
        </p:txBody>
      </p:sp>
      <p:sp>
        <p:nvSpPr>
          <p:cNvPr id="12" name="Shape 9"/>
          <p:cNvSpPr/>
          <p:nvPr/>
        </p:nvSpPr>
        <p:spPr>
          <a:xfrm>
            <a:off x="5257800" y="3246120"/>
            <a:ext cx="201168" cy="201168"/>
          </a:xfrm>
          <a:prstGeom prst="ellipse">
            <a:avLst/>
          </a:prstGeom>
          <a:solidFill>
            <a:schemeClr val="accent1"/>
          </a:solidFill>
          <a:ln w="25400">
            <a:solidFill>
              <a:schemeClr val="bg1"/>
            </a:solidFill>
            <a:prstDash val="solid"/>
          </a:ln>
        </p:spPr>
      </p:sp>
      <p:sp>
        <p:nvSpPr>
          <p:cNvPr id="13" name="Text 10"/>
          <p:cNvSpPr txBox="1"/>
          <p:nvPr/>
        </p:nvSpPr>
        <p:spPr>
          <a:xfrm>
            <a:off x="5669280" y="3172968"/>
            <a:ext cx="868680" cy="365760"/>
          </a:xfrm>
          <a:prstGeom prst="rect">
            <a:avLst/>
          </a:prstGeom>
          <a:noFill/>
          <a:ln/>
        </p:spPr>
        <p:txBody>
          <a:bodyPr wrap="square" lIns="0" tIns="0" rIns="0" bIns="0" rtlCol="0" anchor="t"/>
          <a:lstStyle/>
          <a:p>
            <a:pPr indent="0" marL="0">
              <a:buNone/>
            </a:pPr>
            <a:r>
              <a:rPr lang="en-US" sz="1600" b="1" dirty="0">
                <a:solidFill>
                  <a:schemeClr val="accent1"/>
                </a:solidFill>
              </a:rPr>
              <a:t>11:00</a:t>
            </a:r>
            <a:endParaRPr lang="en-US" sz="1600" dirty="0"/>
          </a:p>
        </p:txBody>
      </p:sp>
      <p:sp>
        <p:nvSpPr>
          <p:cNvPr id="14" name="Text 11"/>
          <p:cNvSpPr txBox="1"/>
          <p:nvPr/>
        </p:nvSpPr>
        <p:spPr>
          <a:xfrm>
            <a:off x="6583680" y="3172968"/>
            <a:ext cx="5074920" cy="594360"/>
          </a:xfrm>
          <a:prstGeom prst="rect">
            <a:avLst/>
          </a:prstGeom>
          <a:noFill/>
          <a:ln/>
        </p:spPr>
        <p:txBody>
          <a:bodyPr wrap="square" lIns="0" tIns="0" rIns="0" bIns="0" rtlCol="0" anchor="t"/>
          <a:lstStyle/>
          <a:p>
            <a:pPr indent="0" marL="0">
              <a:buNone/>
            </a:pPr>
            <a:r>
              <a:rPr lang="en-US" sz="1500" dirty="0">
                <a:solidFill>
                  <a:schemeClr val="tx2"/>
                </a:solidFill>
              </a:rPr>
              <a:t>Hồ sơ một trang trước buổi gặp khách hàng</a:t>
            </a:r>
            <a:endParaRPr lang="en-US" sz="1500" dirty="0"/>
          </a:p>
        </p:txBody>
      </p:sp>
      <p:sp>
        <p:nvSpPr>
          <p:cNvPr id="15" name="Shape 12"/>
          <p:cNvSpPr/>
          <p:nvPr/>
        </p:nvSpPr>
        <p:spPr>
          <a:xfrm>
            <a:off x="5257800" y="3977640"/>
            <a:ext cx="201168" cy="201168"/>
          </a:xfrm>
          <a:prstGeom prst="ellipse">
            <a:avLst/>
          </a:prstGeom>
          <a:solidFill>
            <a:schemeClr val="accent1"/>
          </a:solidFill>
          <a:ln w="25400">
            <a:solidFill>
              <a:schemeClr val="bg1"/>
            </a:solidFill>
            <a:prstDash val="solid"/>
          </a:ln>
        </p:spPr>
      </p:sp>
      <p:sp>
        <p:nvSpPr>
          <p:cNvPr id="16" name="Text 13"/>
          <p:cNvSpPr txBox="1"/>
          <p:nvPr/>
        </p:nvSpPr>
        <p:spPr>
          <a:xfrm>
            <a:off x="5669280" y="3904488"/>
            <a:ext cx="868680" cy="365760"/>
          </a:xfrm>
          <a:prstGeom prst="rect">
            <a:avLst/>
          </a:prstGeom>
          <a:noFill/>
          <a:ln/>
        </p:spPr>
        <p:txBody>
          <a:bodyPr wrap="square" lIns="0" tIns="0" rIns="0" bIns="0" rtlCol="0" anchor="t"/>
          <a:lstStyle/>
          <a:p>
            <a:pPr indent="0" marL="0">
              <a:buNone/>
            </a:pPr>
            <a:r>
              <a:rPr lang="en-US" sz="1600" b="1" dirty="0">
                <a:solidFill>
                  <a:schemeClr val="accent1"/>
                </a:solidFill>
              </a:rPr>
              <a:t>14:00</a:t>
            </a:r>
            <a:endParaRPr lang="en-US" sz="1600" dirty="0"/>
          </a:p>
        </p:txBody>
      </p:sp>
      <p:sp>
        <p:nvSpPr>
          <p:cNvPr id="17" name="Text 14"/>
          <p:cNvSpPr txBox="1"/>
          <p:nvPr/>
        </p:nvSpPr>
        <p:spPr>
          <a:xfrm>
            <a:off x="6583680" y="3904488"/>
            <a:ext cx="5074920" cy="594360"/>
          </a:xfrm>
          <a:prstGeom prst="rect">
            <a:avLst/>
          </a:prstGeom>
          <a:noFill/>
          <a:ln/>
        </p:spPr>
        <p:txBody>
          <a:bodyPr wrap="square" lIns="0" tIns="0" rIns="0" bIns="0" rtlCol="0" anchor="t"/>
          <a:lstStyle/>
          <a:p>
            <a:pPr indent="0" marL="0">
              <a:buNone/>
            </a:pPr>
            <a:r>
              <a:rPr lang="en-US" sz="1500" dirty="0">
                <a:solidFill>
                  <a:schemeClr val="tx2"/>
                </a:solidFill>
              </a:rPr>
              <a:t>Phân tích nhanh mã khách hỏi: BCTC, kỹ thuật, tin tức</a:t>
            </a:r>
            <a:endParaRPr lang="en-US" sz="1500" dirty="0"/>
          </a:p>
        </p:txBody>
      </p:sp>
      <p:sp>
        <p:nvSpPr>
          <p:cNvPr id="18" name="Shape 15"/>
          <p:cNvSpPr/>
          <p:nvPr/>
        </p:nvSpPr>
        <p:spPr>
          <a:xfrm>
            <a:off x="5257800" y="4709160"/>
            <a:ext cx="201168" cy="201168"/>
          </a:xfrm>
          <a:prstGeom prst="ellipse">
            <a:avLst/>
          </a:prstGeom>
          <a:solidFill>
            <a:schemeClr val="accent1"/>
          </a:solidFill>
          <a:ln w="25400">
            <a:solidFill>
              <a:schemeClr val="bg1"/>
            </a:solidFill>
            <a:prstDash val="solid"/>
          </a:ln>
        </p:spPr>
      </p:sp>
      <p:sp>
        <p:nvSpPr>
          <p:cNvPr id="19" name="Text 16"/>
          <p:cNvSpPr txBox="1"/>
          <p:nvPr/>
        </p:nvSpPr>
        <p:spPr>
          <a:xfrm>
            <a:off x="5669280" y="4636008"/>
            <a:ext cx="868680" cy="365760"/>
          </a:xfrm>
          <a:prstGeom prst="rect">
            <a:avLst/>
          </a:prstGeom>
          <a:noFill/>
          <a:ln/>
        </p:spPr>
        <p:txBody>
          <a:bodyPr wrap="square" lIns="0" tIns="0" rIns="0" bIns="0" rtlCol="0" anchor="t"/>
          <a:lstStyle/>
          <a:p>
            <a:pPr indent="0" marL="0">
              <a:buNone/>
            </a:pPr>
            <a:r>
              <a:rPr lang="en-US" sz="1600" b="1" dirty="0">
                <a:solidFill>
                  <a:schemeClr val="accent1"/>
                </a:solidFill>
              </a:rPr>
              <a:t>14:45</a:t>
            </a:r>
            <a:endParaRPr lang="en-US" sz="1600" dirty="0"/>
          </a:p>
        </p:txBody>
      </p:sp>
      <p:sp>
        <p:nvSpPr>
          <p:cNvPr id="20" name="Text 17"/>
          <p:cNvSpPr txBox="1"/>
          <p:nvPr/>
        </p:nvSpPr>
        <p:spPr>
          <a:xfrm>
            <a:off x="6583680" y="4636008"/>
            <a:ext cx="5074920" cy="594360"/>
          </a:xfrm>
          <a:prstGeom prst="rect">
            <a:avLst/>
          </a:prstGeom>
          <a:noFill/>
          <a:ln/>
        </p:spPr>
        <p:txBody>
          <a:bodyPr wrap="square" lIns="0" tIns="0" rIns="0" bIns="0" rtlCol="0" anchor="t"/>
          <a:lstStyle/>
          <a:p>
            <a:pPr indent="0" marL="0">
              <a:buNone/>
            </a:pPr>
            <a:r>
              <a:rPr lang="en-US" sz="1500" dirty="0">
                <a:solidFill>
                  <a:schemeClr val="tx2"/>
                </a:solidFill>
              </a:rPr>
              <a:t>Nhắc khách xác nhận các lệnh còn tồn</a:t>
            </a:r>
            <a:endParaRPr lang="en-US" sz="1500" dirty="0"/>
          </a:p>
        </p:txBody>
      </p:sp>
      <p:sp>
        <p:nvSpPr>
          <p:cNvPr id="21" name="Shape 18"/>
          <p:cNvSpPr/>
          <p:nvPr/>
        </p:nvSpPr>
        <p:spPr>
          <a:xfrm>
            <a:off x="5257800" y="5440680"/>
            <a:ext cx="201168" cy="201168"/>
          </a:xfrm>
          <a:prstGeom prst="ellipse">
            <a:avLst/>
          </a:prstGeom>
          <a:solidFill>
            <a:schemeClr val="accent1"/>
          </a:solidFill>
          <a:ln w="25400">
            <a:solidFill>
              <a:schemeClr val="bg1"/>
            </a:solidFill>
            <a:prstDash val="solid"/>
          </a:ln>
        </p:spPr>
      </p:sp>
      <p:sp>
        <p:nvSpPr>
          <p:cNvPr id="22" name="Text 19"/>
          <p:cNvSpPr txBox="1"/>
          <p:nvPr/>
        </p:nvSpPr>
        <p:spPr>
          <a:xfrm>
            <a:off x="5669280" y="5367528"/>
            <a:ext cx="868680" cy="365760"/>
          </a:xfrm>
          <a:prstGeom prst="rect">
            <a:avLst/>
          </a:prstGeom>
          <a:noFill/>
          <a:ln/>
        </p:spPr>
        <p:txBody>
          <a:bodyPr wrap="square" lIns="0" tIns="0" rIns="0" bIns="0" rtlCol="0" anchor="t"/>
          <a:lstStyle/>
          <a:p>
            <a:pPr indent="0" marL="0">
              <a:buNone/>
            </a:pPr>
            <a:r>
              <a:rPr lang="en-US" sz="1600" b="1" dirty="0">
                <a:solidFill>
                  <a:schemeClr val="accent1"/>
                </a:solidFill>
              </a:rPr>
              <a:t>16:00</a:t>
            </a:r>
            <a:endParaRPr lang="en-US" sz="1600" dirty="0"/>
          </a:p>
        </p:txBody>
      </p:sp>
      <p:sp>
        <p:nvSpPr>
          <p:cNvPr id="23" name="Text 20"/>
          <p:cNvSpPr txBox="1"/>
          <p:nvPr/>
        </p:nvSpPr>
        <p:spPr>
          <a:xfrm>
            <a:off x="6583680" y="5367528"/>
            <a:ext cx="5074920" cy="594360"/>
          </a:xfrm>
          <a:prstGeom prst="rect">
            <a:avLst/>
          </a:prstGeom>
          <a:noFill/>
          <a:ln/>
        </p:spPr>
        <p:txBody>
          <a:bodyPr wrap="square" lIns="0" tIns="0" rIns="0" bIns="0" rtlCol="0" anchor="t"/>
          <a:lstStyle/>
          <a:p>
            <a:pPr indent="0" marL="0">
              <a:buNone/>
            </a:pPr>
            <a:r>
              <a:rPr lang="en-US" sz="1500" dirty="0">
                <a:solidFill>
                  <a:schemeClr val="tx2"/>
                </a:solidFill>
              </a:rPr>
              <a:t>Tóm tắt cuối ngày gửi trưởng nhóm</a:t>
            </a:r>
            <a:endParaRPr lang="en-US" sz="15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07 · LỘ TRÌNH</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Đã sẵn sàng để thử nghiệm chính thức</a:t>
            </a:r>
            <a:endParaRPr lang="en-US" sz="3000" dirty="0"/>
          </a:p>
        </p:txBody>
      </p:sp>
      <p:sp>
        <p:nvSpPr>
          <p:cNvPr id="4" name="Shape 2"/>
          <p:cNvSpPr/>
          <p:nvPr/>
        </p:nvSpPr>
        <p:spPr>
          <a:xfrm>
            <a:off x="548640" y="1600200"/>
            <a:ext cx="6492240" cy="4526280"/>
          </a:xfrm>
          <a:prstGeom prst="roundRect">
            <a:avLst>
              <a:gd name="adj" fmla="val 2424"/>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5" name="Shape 3"/>
          <p:cNvSpPr/>
          <p:nvPr/>
        </p:nvSpPr>
        <p:spPr>
          <a:xfrm>
            <a:off x="822960" y="1828800"/>
            <a:ext cx="502920" cy="502920"/>
          </a:xfrm>
          <a:prstGeom prst="ellipse">
            <a:avLst/>
          </a:prstGeom>
          <a:solidFill>
            <a:schemeClr val="accent5"/>
          </a:solidFill>
          <a:ln/>
        </p:spPr>
      </p:sp>
      <p:pic>
        <p:nvPicPr>
          <p:cNvPr id="6" name="Image 0" descr="preencoded.png">    </p:cNvPr>
          <p:cNvPicPr>
            <a:picLocks noChangeAspect="1"/>
          </p:cNvPicPr>
          <p:nvPr/>
        </p:nvPicPr>
        <p:blipFill>
          <a:blip r:embed="rId1"/>
          <a:stretch>
            <a:fillRect/>
          </a:stretch>
        </p:blipFill>
        <p:spPr>
          <a:xfrm>
            <a:off x="948690" y="1954530"/>
            <a:ext cx="251460" cy="251460"/>
          </a:xfrm>
          <a:prstGeom prst="rect">
            <a:avLst/>
          </a:prstGeom>
        </p:spPr>
      </p:pic>
      <p:sp>
        <p:nvSpPr>
          <p:cNvPr id="7" name="Text 4"/>
          <p:cNvSpPr txBox="1"/>
          <p:nvPr/>
        </p:nvSpPr>
        <p:spPr>
          <a:xfrm>
            <a:off x="1463040" y="1874520"/>
            <a:ext cx="5303520" cy="411480"/>
          </a:xfrm>
          <a:prstGeom prst="rect">
            <a:avLst/>
          </a:prstGeom>
          <a:noFill/>
          <a:ln/>
        </p:spPr>
        <p:txBody>
          <a:bodyPr wrap="square" lIns="0" tIns="0" rIns="0" bIns="0" rtlCol="0" anchor="t"/>
          <a:lstStyle/>
          <a:p>
            <a:pPr indent="0" marL="0">
              <a:buNone/>
            </a:pPr>
            <a:r>
              <a:rPr lang="en-US" sz="1800" b="1" dirty="0">
                <a:solidFill>
                  <a:schemeClr val="tx2"/>
                </a:solidFill>
              </a:rPr>
              <a:t>Đã hoàn thành</a:t>
            </a:r>
            <a:endParaRPr lang="en-US" sz="1800" dirty="0"/>
          </a:p>
        </p:txBody>
      </p:sp>
      <p:pic>
        <p:nvPicPr>
          <p:cNvPr id="8" name="Image 1" descr="preencoded.png">    </p:cNvPr>
          <p:cNvPicPr>
            <a:picLocks noChangeAspect="1"/>
          </p:cNvPicPr>
          <p:nvPr/>
        </p:nvPicPr>
        <p:blipFill>
          <a:blip r:embed="rId2"/>
          <a:stretch>
            <a:fillRect/>
          </a:stretch>
        </p:blipFill>
        <p:spPr>
          <a:xfrm>
            <a:off x="868680" y="2596896"/>
            <a:ext cx="219456" cy="219456"/>
          </a:xfrm>
          <a:prstGeom prst="rect">
            <a:avLst/>
          </a:prstGeom>
        </p:spPr>
      </p:pic>
      <p:sp>
        <p:nvSpPr>
          <p:cNvPr id="9" name="Text 5"/>
          <p:cNvSpPr txBox="1"/>
          <p:nvPr/>
        </p:nvSpPr>
        <p:spPr>
          <a:xfrm>
            <a:off x="1280160" y="2560320"/>
            <a:ext cx="5577840" cy="457200"/>
          </a:xfrm>
          <a:prstGeom prst="rect">
            <a:avLst/>
          </a:prstGeom>
          <a:noFill/>
          <a:ln/>
        </p:spPr>
        <p:txBody>
          <a:bodyPr wrap="square" lIns="0" tIns="0" rIns="0" bIns="0" rtlCol="0" anchor="t"/>
          <a:lstStyle/>
          <a:p>
            <a:pPr indent="0" marL="0">
              <a:buNone/>
            </a:pPr>
            <a:r>
              <a:rPr lang="en-US" sz="1400" dirty="0">
                <a:solidFill>
                  <a:schemeClr val="tx1"/>
                </a:solidFill>
              </a:rPr>
              <a:t>SHA MCP chạy production, đăng nhập SHA thật (ID, mật khẩu, OTP)</a:t>
            </a:r>
            <a:endParaRPr lang="en-US" sz="1400" dirty="0"/>
          </a:p>
        </p:txBody>
      </p:sp>
      <p:pic>
        <p:nvPicPr>
          <p:cNvPr id="10" name="Image 2" descr="preencoded.png">    </p:cNvPr>
          <p:cNvPicPr>
            <a:picLocks noChangeAspect="1"/>
          </p:cNvPicPr>
          <p:nvPr/>
        </p:nvPicPr>
        <p:blipFill>
          <a:blip r:embed="rId3"/>
          <a:stretch>
            <a:fillRect/>
          </a:stretch>
        </p:blipFill>
        <p:spPr>
          <a:xfrm>
            <a:off x="868680" y="3163824"/>
            <a:ext cx="219456" cy="219456"/>
          </a:xfrm>
          <a:prstGeom prst="rect">
            <a:avLst/>
          </a:prstGeom>
        </p:spPr>
      </p:pic>
      <p:sp>
        <p:nvSpPr>
          <p:cNvPr id="11" name="Text 6"/>
          <p:cNvSpPr txBox="1"/>
          <p:nvPr/>
        </p:nvSpPr>
        <p:spPr>
          <a:xfrm>
            <a:off x="1280160" y="3127248"/>
            <a:ext cx="5577840" cy="457200"/>
          </a:xfrm>
          <a:prstGeom prst="rect">
            <a:avLst/>
          </a:prstGeom>
          <a:noFill/>
          <a:ln/>
        </p:spPr>
        <p:txBody>
          <a:bodyPr wrap="square" lIns="0" tIns="0" rIns="0" bIns="0" rtlCol="0" anchor="t"/>
          <a:lstStyle/>
          <a:p>
            <a:pPr indent="0" marL="0">
              <a:buNone/>
            </a:pPr>
            <a:r>
              <a:rPr lang="en-US" sz="1400" dirty="0">
                <a:solidFill>
                  <a:schemeClr val="tx1"/>
                </a:solidFill>
              </a:rPr>
              <a:t>39 operation đọc đã gọi thử trên dữ liệu thật qua Claude</a:t>
            </a:r>
            <a:endParaRPr lang="en-US" sz="1400" dirty="0"/>
          </a:p>
        </p:txBody>
      </p:sp>
      <p:pic>
        <p:nvPicPr>
          <p:cNvPr id="12" name="Image 3" descr="preencoded.png">    </p:cNvPr>
          <p:cNvPicPr>
            <a:picLocks noChangeAspect="1"/>
          </p:cNvPicPr>
          <p:nvPr/>
        </p:nvPicPr>
        <p:blipFill>
          <a:blip r:embed="rId4"/>
          <a:stretch>
            <a:fillRect/>
          </a:stretch>
        </p:blipFill>
        <p:spPr>
          <a:xfrm>
            <a:off x="868680" y="3730752"/>
            <a:ext cx="219456" cy="219456"/>
          </a:xfrm>
          <a:prstGeom prst="rect">
            <a:avLst/>
          </a:prstGeom>
        </p:spPr>
      </p:pic>
      <p:sp>
        <p:nvSpPr>
          <p:cNvPr id="13" name="Text 7"/>
          <p:cNvSpPr txBox="1"/>
          <p:nvPr/>
        </p:nvSpPr>
        <p:spPr>
          <a:xfrm>
            <a:off x="1280160" y="3694176"/>
            <a:ext cx="5577840" cy="457200"/>
          </a:xfrm>
          <a:prstGeom prst="rect">
            <a:avLst/>
          </a:prstGeom>
          <a:noFill/>
          <a:ln/>
        </p:spPr>
        <p:txBody>
          <a:bodyPr wrap="square" lIns="0" tIns="0" rIns="0" bIns="0" rtlCol="0" anchor="t"/>
          <a:lstStyle/>
          <a:p>
            <a:pPr indent="0" marL="0">
              <a:buNone/>
            </a:pPr>
            <a:r>
              <a:rPr lang="en-US" sz="1400" dirty="0">
                <a:solidFill>
                  <a:schemeClr val="tx1"/>
                </a:solidFill>
              </a:rPr>
              <a:t>Đã kết nối trên Claude (máy tính, Android) và ChatGPT</a:t>
            </a:r>
            <a:endParaRPr lang="en-US" sz="1400" dirty="0"/>
          </a:p>
        </p:txBody>
      </p:sp>
      <p:pic>
        <p:nvPicPr>
          <p:cNvPr id="14" name="Image 4" descr="preencoded.png">    </p:cNvPr>
          <p:cNvPicPr>
            <a:picLocks noChangeAspect="1"/>
          </p:cNvPicPr>
          <p:nvPr/>
        </p:nvPicPr>
        <p:blipFill>
          <a:blip r:embed="rId5"/>
          <a:stretch>
            <a:fillRect/>
          </a:stretch>
        </p:blipFill>
        <p:spPr>
          <a:xfrm>
            <a:off x="868680" y="4297680"/>
            <a:ext cx="219456" cy="219456"/>
          </a:xfrm>
          <a:prstGeom prst="rect">
            <a:avLst/>
          </a:prstGeom>
        </p:spPr>
      </p:pic>
      <p:sp>
        <p:nvSpPr>
          <p:cNvPr id="15" name="Text 8"/>
          <p:cNvSpPr txBox="1"/>
          <p:nvPr/>
        </p:nvSpPr>
        <p:spPr>
          <a:xfrm>
            <a:off x="1280160" y="4261104"/>
            <a:ext cx="5577840" cy="457200"/>
          </a:xfrm>
          <a:prstGeom prst="rect">
            <a:avLst/>
          </a:prstGeom>
          <a:noFill/>
          <a:ln/>
        </p:spPr>
        <p:txBody>
          <a:bodyPr wrap="square" lIns="0" tIns="0" rIns="0" bIns="0" rtlCol="0" anchor="t"/>
          <a:lstStyle/>
          <a:p>
            <a:pPr indent="0" marL="0">
              <a:buNone/>
            </a:pPr>
            <a:r>
              <a:rPr lang="en-US" sz="1400" dirty="0">
                <a:solidFill>
                  <a:schemeClr val="tx1"/>
                </a:solidFill>
              </a:rPr>
              <a:t>77 kiểm thử tự động, không dùng dữ liệu thật</a:t>
            </a:r>
            <a:endParaRPr lang="en-US" sz="1400" dirty="0"/>
          </a:p>
        </p:txBody>
      </p:sp>
      <p:pic>
        <p:nvPicPr>
          <p:cNvPr id="16" name="Image 5" descr="preencoded.png">    </p:cNvPr>
          <p:cNvPicPr>
            <a:picLocks noChangeAspect="1"/>
          </p:cNvPicPr>
          <p:nvPr/>
        </p:nvPicPr>
        <p:blipFill>
          <a:blip r:embed="rId6"/>
          <a:stretch>
            <a:fillRect/>
          </a:stretch>
        </p:blipFill>
        <p:spPr>
          <a:xfrm>
            <a:off x="868680" y="4864608"/>
            <a:ext cx="219456" cy="219456"/>
          </a:xfrm>
          <a:prstGeom prst="rect">
            <a:avLst/>
          </a:prstGeom>
        </p:spPr>
      </p:pic>
      <p:sp>
        <p:nvSpPr>
          <p:cNvPr id="17" name="Text 9"/>
          <p:cNvSpPr txBox="1"/>
          <p:nvPr/>
        </p:nvSpPr>
        <p:spPr>
          <a:xfrm>
            <a:off x="1280160" y="4828032"/>
            <a:ext cx="5577840" cy="457200"/>
          </a:xfrm>
          <a:prstGeom prst="rect">
            <a:avLst/>
          </a:prstGeom>
          <a:noFill/>
          <a:ln/>
        </p:spPr>
        <p:txBody>
          <a:bodyPr wrap="square" lIns="0" tIns="0" rIns="0" bIns="0" rtlCol="0" anchor="t"/>
          <a:lstStyle/>
          <a:p>
            <a:pPr indent="0" marL="0">
              <a:buNone/>
            </a:pPr>
            <a:r>
              <a:rPr lang="en-US" sz="1400" dirty="0">
                <a:solidFill>
                  <a:schemeClr val="tx1"/>
                </a:solidFill>
              </a:rPr>
              <a:t>SHOne MCP hoạt động, phục vụ dữ liệu thị trường</a:t>
            </a:r>
            <a:endParaRPr lang="en-US" sz="1400" dirty="0"/>
          </a:p>
        </p:txBody>
      </p:sp>
      <p:pic>
        <p:nvPicPr>
          <p:cNvPr id="18" name="Image 6" descr="preencoded.png">    </p:cNvPr>
          <p:cNvPicPr>
            <a:picLocks noChangeAspect="1"/>
          </p:cNvPicPr>
          <p:nvPr/>
        </p:nvPicPr>
        <p:blipFill>
          <a:blip r:embed="rId7"/>
          <a:stretch>
            <a:fillRect/>
          </a:stretch>
        </p:blipFill>
        <p:spPr>
          <a:xfrm>
            <a:off x="868680" y="5431536"/>
            <a:ext cx="219456" cy="219456"/>
          </a:xfrm>
          <a:prstGeom prst="rect">
            <a:avLst/>
          </a:prstGeom>
        </p:spPr>
      </p:pic>
      <p:sp>
        <p:nvSpPr>
          <p:cNvPr id="19" name="Text 10"/>
          <p:cNvSpPr txBox="1"/>
          <p:nvPr/>
        </p:nvSpPr>
        <p:spPr>
          <a:xfrm>
            <a:off x="1280160" y="5394960"/>
            <a:ext cx="5577840" cy="457200"/>
          </a:xfrm>
          <a:prstGeom prst="rect">
            <a:avLst/>
          </a:prstGeom>
          <a:noFill/>
          <a:ln/>
        </p:spPr>
        <p:txBody>
          <a:bodyPr wrap="square" lIns="0" tIns="0" rIns="0" bIns="0" rtlCol="0" anchor="t"/>
          <a:lstStyle/>
          <a:p>
            <a:pPr indent="0" marL="0">
              <a:buNone/>
            </a:pPr>
            <a:r>
              <a:rPr lang="en-US" sz="1400" dirty="0">
                <a:solidFill>
                  <a:schemeClr val="tx1"/>
                </a:solidFill>
              </a:rPr>
              <a:t>Hướng dẫn sử dụng cho Claude, ChatGPT và tài liệu vận hành</a:t>
            </a:r>
            <a:endParaRPr lang="en-US" sz="1400" dirty="0"/>
          </a:p>
        </p:txBody>
      </p:sp>
      <p:sp>
        <p:nvSpPr>
          <p:cNvPr id="20" name="Shape 11"/>
          <p:cNvSpPr/>
          <p:nvPr/>
        </p:nvSpPr>
        <p:spPr>
          <a:xfrm>
            <a:off x="7269480" y="1600200"/>
            <a:ext cx="4389120" cy="4526280"/>
          </a:xfrm>
          <a:prstGeom prst="roundRect">
            <a:avLst>
              <a:gd name="adj" fmla="val 2500"/>
            </a:avLst>
          </a:prstGeom>
          <a:solidFill>
            <a:schemeClr val="bg2"/>
          </a:solidFill>
          <a:ln/>
        </p:spPr>
      </p:sp>
      <p:sp>
        <p:nvSpPr>
          <p:cNvPr id="21" name="Shape 12"/>
          <p:cNvSpPr/>
          <p:nvPr/>
        </p:nvSpPr>
        <p:spPr>
          <a:xfrm>
            <a:off x="7543800" y="1828800"/>
            <a:ext cx="502920" cy="502920"/>
          </a:xfrm>
          <a:prstGeom prst="ellipse">
            <a:avLst/>
          </a:prstGeom>
          <a:solidFill>
            <a:schemeClr val="accent1"/>
          </a:solidFill>
          <a:ln/>
        </p:spPr>
      </p:sp>
      <p:pic>
        <p:nvPicPr>
          <p:cNvPr id="22" name="Image 7" descr="preencoded.png">    </p:cNvPr>
          <p:cNvPicPr>
            <a:picLocks noChangeAspect="1"/>
          </p:cNvPicPr>
          <p:nvPr/>
        </p:nvPicPr>
        <p:blipFill>
          <a:blip r:embed="rId8"/>
          <a:stretch>
            <a:fillRect/>
          </a:stretch>
        </p:blipFill>
        <p:spPr>
          <a:xfrm>
            <a:off x="7669530" y="1954530"/>
            <a:ext cx="251460" cy="251460"/>
          </a:xfrm>
          <a:prstGeom prst="rect">
            <a:avLst/>
          </a:prstGeom>
        </p:spPr>
      </p:pic>
      <p:sp>
        <p:nvSpPr>
          <p:cNvPr id="23" name="Text 13"/>
          <p:cNvSpPr txBox="1"/>
          <p:nvPr/>
        </p:nvSpPr>
        <p:spPr>
          <a:xfrm>
            <a:off x="8183880" y="1874520"/>
            <a:ext cx="3291840" cy="411480"/>
          </a:xfrm>
          <a:prstGeom prst="rect">
            <a:avLst/>
          </a:prstGeom>
          <a:noFill/>
          <a:ln/>
        </p:spPr>
        <p:txBody>
          <a:bodyPr wrap="square" lIns="0" tIns="0" rIns="0" bIns="0" rtlCol="0" anchor="t"/>
          <a:lstStyle/>
          <a:p>
            <a:pPr indent="0" marL="0">
              <a:buNone/>
            </a:pPr>
            <a:r>
              <a:rPr lang="en-US" sz="1800" b="1" dirty="0">
                <a:solidFill>
                  <a:schemeClr val="tx2"/>
                </a:solidFill>
              </a:rPr>
              <a:t>Đang hoàn thiện</a:t>
            </a:r>
            <a:endParaRPr lang="en-US" sz="1800" dirty="0"/>
          </a:p>
        </p:txBody>
      </p:sp>
      <p:pic>
        <p:nvPicPr>
          <p:cNvPr id="24" name="Image 8" descr="preencoded.png">    </p:cNvPr>
          <p:cNvPicPr>
            <a:picLocks noChangeAspect="1"/>
          </p:cNvPicPr>
          <p:nvPr/>
        </p:nvPicPr>
        <p:blipFill>
          <a:blip r:embed="rId9"/>
          <a:stretch>
            <a:fillRect/>
          </a:stretch>
        </p:blipFill>
        <p:spPr>
          <a:xfrm>
            <a:off x="7589520" y="2596896"/>
            <a:ext cx="219456" cy="219456"/>
          </a:xfrm>
          <a:prstGeom prst="rect">
            <a:avLst/>
          </a:prstGeom>
        </p:spPr>
      </p:pic>
      <p:sp>
        <p:nvSpPr>
          <p:cNvPr id="25" name="Text 14"/>
          <p:cNvSpPr txBox="1"/>
          <p:nvPr/>
        </p:nvSpPr>
        <p:spPr>
          <a:xfrm>
            <a:off x="8001000" y="2560320"/>
            <a:ext cx="3474720" cy="548640"/>
          </a:xfrm>
          <a:prstGeom prst="rect">
            <a:avLst/>
          </a:prstGeom>
          <a:noFill/>
          <a:ln/>
        </p:spPr>
        <p:txBody>
          <a:bodyPr wrap="square" lIns="0" tIns="0" rIns="0" bIns="0" rtlCol="0" anchor="t"/>
          <a:lstStyle/>
          <a:p>
            <a:pPr indent="0" marL="0">
              <a:buNone/>
            </a:pPr>
            <a:r>
              <a:rPr lang="en-US" sz="1400" dirty="0">
                <a:solidFill>
                  <a:schemeClr val="tx1"/>
                </a:solidFill>
              </a:rPr>
              <a:t>Xác minh đơn vị cho một số trường số liệu</a:t>
            </a:r>
            <a:endParaRPr lang="en-US" sz="1400" dirty="0"/>
          </a:p>
        </p:txBody>
      </p:sp>
      <p:pic>
        <p:nvPicPr>
          <p:cNvPr id="26" name="Image 9" descr="preencoded.png">    </p:cNvPr>
          <p:cNvPicPr>
            <a:picLocks noChangeAspect="1"/>
          </p:cNvPicPr>
          <p:nvPr/>
        </p:nvPicPr>
        <p:blipFill>
          <a:blip r:embed="rId10"/>
          <a:stretch>
            <a:fillRect/>
          </a:stretch>
        </p:blipFill>
        <p:spPr>
          <a:xfrm>
            <a:off x="7589520" y="3255264"/>
            <a:ext cx="219456" cy="219456"/>
          </a:xfrm>
          <a:prstGeom prst="rect">
            <a:avLst/>
          </a:prstGeom>
        </p:spPr>
      </p:pic>
      <p:sp>
        <p:nvSpPr>
          <p:cNvPr id="27" name="Text 15"/>
          <p:cNvSpPr txBox="1"/>
          <p:nvPr/>
        </p:nvSpPr>
        <p:spPr>
          <a:xfrm>
            <a:off x="8001000" y="3218688"/>
            <a:ext cx="3474720" cy="548640"/>
          </a:xfrm>
          <a:prstGeom prst="rect">
            <a:avLst/>
          </a:prstGeom>
          <a:noFill/>
          <a:ln/>
        </p:spPr>
        <p:txBody>
          <a:bodyPr wrap="square" lIns="0" tIns="0" rIns="0" bIns="0" rtlCol="0" anchor="t"/>
          <a:lstStyle/>
          <a:p>
            <a:pPr indent="0" marL="0">
              <a:buNone/>
            </a:pPr>
            <a:r>
              <a:rPr lang="en-US" sz="1400" dirty="0">
                <a:solidFill>
                  <a:schemeClr val="tx1"/>
                </a:solidFill>
              </a:rPr>
              <a:t>Nghiệm thu thêm nghiệp vụ trên ChatGPT</a:t>
            </a:r>
            <a:endParaRPr lang="en-US" sz="1400" dirty="0"/>
          </a:p>
        </p:txBody>
      </p:sp>
      <p:pic>
        <p:nvPicPr>
          <p:cNvPr id="28" name="Image 10" descr="preencoded.png">    </p:cNvPr>
          <p:cNvPicPr>
            <a:picLocks noChangeAspect="1"/>
          </p:cNvPicPr>
          <p:nvPr/>
        </p:nvPicPr>
        <p:blipFill>
          <a:blip r:embed="rId11"/>
          <a:stretch>
            <a:fillRect/>
          </a:stretch>
        </p:blipFill>
        <p:spPr>
          <a:xfrm>
            <a:off x="7589520" y="3913632"/>
            <a:ext cx="219456" cy="219456"/>
          </a:xfrm>
          <a:prstGeom prst="rect">
            <a:avLst/>
          </a:prstGeom>
        </p:spPr>
      </p:pic>
      <p:sp>
        <p:nvSpPr>
          <p:cNvPr id="29" name="Text 16"/>
          <p:cNvSpPr txBox="1"/>
          <p:nvPr/>
        </p:nvSpPr>
        <p:spPr>
          <a:xfrm>
            <a:off x="8001000" y="3877056"/>
            <a:ext cx="3474720" cy="548640"/>
          </a:xfrm>
          <a:prstGeom prst="rect">
            <a:avLst/>
          </a:prstGeom>
          <a:noFill/>
          <a:ln/>
        </p:spPr>
        <p:txBody>
          <a:bodyPr wrap="square" lIns="0" tIns="0" rIns="0" bIns="0" rtlCol="0" anchor="t"/>
          <a:lstStyle/>
          <a:p>
            <a:pPr indent="0" marL="0">
              <a:buNone/>
            </a:pPr>
            <a:r>
              <a:rPr lang="en-US" sz="1400" dirty="0">
                <a:solidFill>
                  <a:schemeClr val="tx1"/>
                </a:solidFill>
              </a:rPr>
              <a:t>Nghiệm thu dữ liệu SHOne MCP theo nhóm</a:t>
            </a:r>
            <a:endParaRPr lang="en-US" sz="1400" dirty="0"/>
          </a:p>
        </p:txBody>
      </p:sp>
      <p:pic>
        <p:nvPicPr>
          <p:cNvPr id="30" name="Image 11" descr="preencoded.png">    </p:cNvPr>
          <p:cNvPicPr>
            <a:picLocks noChangeAspect="1"/>
          </p:cNvPicPr>
          <p:nvPr/>
        </p:nvPicPr>
        <p:blipFill>
          <a:blip r:embed="rId12"/>
          <a:stretch>
            <a:fillRect/>
          </a:stretch>
        </p:blipFill>
        <p:spPr>
          <a:xfrm>
            <a:off x="7589520" y="4572000"/>
            <a:ext cx="219456" cy="219456"/>
          </a:xfrm>
          <a:prstGeom prst="rect">
            <a:avLst/>
          </a:prstGeom>
        </p:spPr>
      </p:pic>
      <p:sp>
        <p:nvSpPr>
          <p:cNvPr id="31" name="Text 17"/>
          <p:cNvSpPr txBox="1"/>
          <p:nvPr/>
        </p:nvSpPr>
        <p:spPr>
          <a:xfrm>
            <a:off x="8001000" y="4535424"/>
            <a:ext cx="3474720" cy="548640"/>
          </a:xfrm>
          <a:prstGeom prst="rect">
            <a:avLst/>
          </a:prstGeom>
          <a:noFill/>
          <a:ln/>
        </p:spPr>
        <p:txBody>
          <a:bodyPr wrap="square" lIns="0" tIns="0" rIns="0" bIns="0" rtlCol="0" anchor="t"/>
          <a:lstStyle/>
          <a:p>
            <a:pPr indent="0" marL="0">
              <a:buNone/>
            </a:pPr>
            <a:r>
              <a:rPr lang="en-US" sz="1400" dirty="0">
                <a:solidFill>
                  <a:schemeClr val="tx1"/>
                </a:solidFill>
              </a:rPr>
              <a:t>3 operation chờ xác minh hợp đồng API</a:t>
            </a:r>
            <a:endParaRPr lang="en-US" sz="1400" dirty="0"/>
          </a:p>
        </p:txBody>
      </p:sp>
      <p:pic>
        <p:nvPicPr>
          <p:cNvPr id="32" name="Image 12" descr="preencoded.png">    </p:cNvPr>
          <p:cNvPicPr>
            <a:picLocks noChangeAspect="1"/>
          </p:cNvPicPr>
          <p:nvPr/>
        </p:nvPicPr>
        <p:blipFill>
          <a:blip r:embed="rId13"/>
          <a:stretch>
            <a:fillRect/>
          </a:stretch>
        </p:blipFill>
        <p:spPr>
          <a:xfrm>
            <a:off x="7589520" y="5230368"/>
            <a:ext cx="219456" cy="219456"/>
          </a:xfrm>
          <a:prstGeom prst="rect">
            <a:avLst/>
          </a:prstGeom>
        </p:spPr>
      </p:pic>
      <p:sp>
        <p:nvSpPr>
          <p:cNvPr id="33" name="Text 18"/>
          <p:cNvSpPr txBox="1"/>
          <p:nvPr/>
        </p:nvSpPr>
        <p:spPr>
          <a:xfrm>
            <a:off x="8001000" y="5193792"/>
            <a:ext cx="3474720" cy="548640"/>
          </a:xfrm>
          <a:prstGeom prst="rect">
            <a:avLst/>
          </a:prstGeom>
          <a:noFill/>
          <a:ln/>
        </p:spPr>
        <p:txBody>
          <a:bodyPr wrap="square" lIns="0" tIns="0" rIns="0" bIns="0" rtlCol="0" anchor="t"/>
          <a:lstStyle/>
          <a:p>
            <a:pPr indent="0" marL="0">
              <a:buNone/>
            </a:pPr>
            <a:r>
              <a:rPr lang="en-US" sz="1400" dirty="0">
                <a:solidFill>
                  <a:schemeClr val="tx1"/>
                </a:solidFill>
              </a:rPr>
              <a:t>Quy trình cấp quyền người dùng</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t"/>
          <a:lstStyle/>
          <a:p>
            <a:pPr algn="l" indent="0" marL="0">
              <a:buNone/>
            </a:pPr>
            <a:r>
              <a:rPr lang="en-US" sz="1200" b="1" spc="150" kern="0" dirty="0">
                <a:solidFill>
                  <a:schemeClr val="accent1"/>
                </a:solidFill>
              </a:rPr>
              <a:t>07 · LỘ TRÌNH</a:t>
            </a:r>
            <a:endParaRPr lang="en-US" sz="1200" dirty="0"/>
          </a:p>
        </p:txBody>
      </p:sp>
      <p:sp>
        <p:nvSpPr>
          <p:cNvPr id="3" name="Text 0"/>
          <p:cNvSpPr/>
          <p:nvPr>
            <p:ph idx="101" type="title" hasCustomPrompt="1"/>
          </p:nvPr>
        </p:nvSpPr>
        <p:spPr>
          <a:xfrm>
            <a:off x="548640" y="658368"/>
            <a:ext cx="11109960" cy="685800"/>
          </a:xfrm>
          <a:prstGeom prst="rect">
            <a:avLst/>
          </a:prstGeom>
          <a:noFill/>
          <a:ln/>
        </p:spPr>
        <p:txBody>
          <a:bodyPr wrap="square" lIns="0" tIns="0" rIns="0" bIns="0" rtlCol="0" anchor="t"/>
          <a:lstStyle/>
          <a:p>
            <a:pPr algn="l" indent="0" marL="0">
              <a:buNone/>
            </a:pPr>
            <a:r>
              <a:rPr lang="en-US" sz="3000" b="1" dirty="0">
                <a:solidFill>
                  <a:schemeClr val="tx2"/>
                </a:solidFill>
              </a:rPr>
              <a:t>Lộ trình đề xuất và các quyết định cần phê duyệt</a:t>
            </a:r>
            <a:endParaRPr lang="en-US" sz="3000" dirty="0"/>
          </a:p>
        </p:txBody>
      </p:sp>
      <p:sp>
        <p:nvSpPr>
          <p:cNvPr id="4" name="phase1"/>
          <p:cNvSpPr/>
          <p:nvPr/>
        </p:nvSpPr>
        <p:spPr>
          <a:xfrm>
            <a:off x="548640" y="1600200"/>
            <a:ext cx="3794760" cy="1874520"/>
          </a:xfrm>
          <a:prstGeom prst="homePlate">
            <a:avLst/>
          </a:prstGeom>
          <a:solidFill>
            <a:schemeClr val="accent1"/>
          </a:solidFill>
          <a:ln/>
        </p:spPr>
      </p:sp>
      <p:sp>
        <p:nvSpPr>
          <p:cNvPr id="5" name="Text 3"/>
          <p:cNvSpPr txBox="1"/>
          <p:nvPr/>
        </p:nvSpPr>
        <p:spPr>
          <a:xfrm>
            <a:off x="822960" y="1755648"/>
            <a:ext cx="2697480" cy="256032"/>
          </a:xfrm>
          <a:prstGeom prst="rect">
            <a:avLst/>
          </a:prstGeom>
          <a:noFill/>
          <a:ln/>
        </p:spPr>
        <p:txBody>
          <a:bodyPr wrap="square" lIns="0" tIns="0" rIns="0" bIns="0" rtlCol="0" anchor="t"/>
          <a:lstStyle/>
          <a:p>
            <a:pPr indent="0" marL="0">
              <a:buNone/>
            </a:pPr>
            <a:r>
              <a:rPr lang="en-US" sz="1200" b="1" spc="150" kern="0" dirty="0">
                <a:solidFill>
                  <a:schemeClr val="bg1"/>
                </a:solidFill>
              </a:rPr>
              <a:t>GIAI ĐOẠN 1</a:t>
            </a:r>
            <a:endParaRPr lang="en-US" sz="1200" dirty="0"/>
          </a:p>
        </p:txBody>
      </p:sp>
      <p:sp>
        <p:nvSpPr>
          <p:cNvPr id="6" name="Text 4"/>
          <p:cNvSpPr txBox="1"/>
          <p:nvPr/>
        </p:nvSpPr>
        <p:spPr>
          <a:xfrm>
            <a:off x="822960" y="2011680"/>
            <a:ext cx="2697480" cy="384048"/>
          </a:xfrm>
          <a:prstGeom prst="rect">
            <a:avLst/>
          </a:prstGeom>
          <a:noFill/>
          <a:ln/>
        </p:spPr>
        <p:txBody>
          <a:bodyPr wrap="square" lIns="0" tIns="0" rIns="0" bIns="0" rtlCol="0" anchor="t"/>
          <a:lstStyle/>
          <a:p>
            <a:pPr indent="0" marL="0">
              <a:buNone/>
            </a:pPr>
            <a:r>
              <a:rPr lang="en-US" sz="1900" b="1" dirty="0">
                <a:solidFill>
                  <a:schemeClr val="bg1"/>
                </a:solidFill>
              </a:rPr>
              <a:t>Thí điểm</a:t>
            </a:r>
            <a:endParaRPr lang="en-US" sz="1900" dirty="0"/>
          </a:p>
        </p:txBody>
      </p:sp>
      <p:sp>
        <p:nvSpPr>
          <p:cNvPr id="7" name="Text 5"/>
          <p:cNvSpPr txBox="1"/>
          <p:nvPr/>
        </p:nvSpPr>
        <p:spPr>
          <a:xfrm>
            <a:off x="822960" y="2450592"/>
            <a:ext cx="2606040" cy="960120"/>
          </a:xfrm>
          <a:prstGeom prst="rect">
            <a:avLst/>
          </a:prstGeom>
          <a:noFill/>
          <a:ln/>
        </p:spPr>
        <p:txBody>
          <a:bodyPr wrap="square" lIns="0" tIns="0" rIns="0" bIns="0" rtlCol="0" anchor="t"/>
          <a:lstStyle/>
          <a:p>
            <a:pPr indent="0" marL="0">
              <a:buNone/>
            </a:pPr>
            <a:r>
              <a:rPr lang="en-US" sz="1400" dirty="0">
                <a:solidFill>
                  <a:schemeClr val="bg1"/>
                </a:solidFill>
              </a:rPr>
              <a:t>Nhóm chuyên viên tư vấn tiêu biểu; đo thời gian tiết kiệm; thu thập use case</a:t>
            </a:r>
            <a:endParaRPr lang="en-US" sz="1400" dirty="0"/>
          </a:p>
        </p:txBody>
      </p:sp>
      <p:sp>
        <p:nvSpPr>
          <p:cNvPr id="8" name="phase2"/>
          <p:cNvSpPr/>
          <p:nvPr/>
        </p:nvSpPr>
        <p:spPr>
          <a:xfrm>
            <a:off x="4251960" y="1600200"/>
            <a:ext cx="3794760" cy="1874520"/>
          </a:xfrm>
          <a:prstGeom prst="chevron">
            <a:avLst/>
          </a:prstGeom>
          <a:solidFill>
            <a:schemeClr val="accent2"/>
          </a:solidFill>
          <a:ln/>
        </p:spPr>
      </p:sp>
      <p:sp>
        <p:nvSpPr>
          <p:cNvPr id="9" name="Text 7"/>
          <p:cNvSpPr txBox="1"/>
          <p:nvPr/>
        </p:nvSpPr>
        <p:spPr>
          <a:xfrm>
            <a:off x="5303520" y="1755648"/>
            <a:ext cx="2697480" cy="256032"/>
          </a:xfrm>
          <a:prstGeom prst="rect">
            <a:avLst/>
          </a:prstGeom>
          <a:noFill/>
          <a:ln/>
        </p:spPr>
        <p:txBody>
          <a:bodyPr wrap="square" lIns="0" tIns="0" rIns="0" bIns="0" rtlCol="0" anchor="t"/>
          <a:lstStyle/>
          <a:p>
            <a:pPr indent="0" marL="0">
              <a:buNone/>
            </a:pPr>
            <a:r>
              <a:rPr lang="en-US" sz="1200" b="1" spc="150" kern="0" dirty="0">
                <a:solidFill>
                  <a:schemeClr val="bg1"/>
                </a:solidFill>
              </a:rPr>
              <a:t>GIAI ĐOẠN 2</a:t>
            </a:r>
            <a:endParaRPr lang="en-US" sz="1200" dirty="0"/>
          </a:p>
        </p:txBody>
      </p:sp>
      <p:sp>
        <p:nvSpPr>
          <p:cNvPr id="10" name="Text 8"/>
          <p:cNvSpPr txBox="1"/>
          <p:nvPr/>
        </p:nvSpPr>
        <p:spPr>
          <a:xfrm>
            <a:off x="5303520" y="2011680"/>
            <a:ext cx="2697480" cy="384048"/>
          </a:xfrm>
          <a:prstGeom prst="rect">
            <a:avLst/>
          </a:prstGeom>
          <a:noFill/>
          <a:ln/>
        </p:spPr>
        <p:txBody>
          <a:bodyPr wrap="square" lIns="0" tIns="0" rIns="0" bIns="0" rtlCol="0" anchor="t"/>
          <a:lstStyle/>
          <a:p>
            <a:pPr indent="0" marL="0">
              <a:buNone/>
            </a:pPr>
            <a:r>
              <a:rPr lang="en-US" sz="1900" b="1" dirty="0">
                <a:solidFill>
                  <a:schemeClr val="bg1"/>
                </a:solidFill>
              </a:rPr>
              <a:t>Chuẩn hóa</a:t>
            </a:r>
            <a:endParaRPr lang="en-US" sz="1900" dirty="0"/>
          </a:p>
        </p:txBody>
      </p:sp>
      <p:sp>
        <p:nvSpPr>
          <p:cNvPr id="11" name="Text 9"/>
          <p:cNvSpPr txBox="1"/>
          <p:nvPr/>
        </p:nvSpPr>
        <p:spPr>
          <a:xfrm>
            <a:off x="5303520" y="2450592"/>
            <a:ext cx="2240280" cy="960120"/>
          </a:xfrm>
          <a:prstGeom prst="rect">
            <a:avLst/>
          </a:prstGeom>
          <a:noFill/>
          <a:ln/>
        </p:spPr>
        <p:txBody>
          <a:bodyPr wrap="square" lIns="0" tIns="0" rIns="0" bIns="0" rtlCol="0" anchor="t"/>
          <a:lstStyle/>
          <a:p>
            <a:pPr indent="0" marL="0">
              <a:buNone/>
            </a:pPr>
            <a:r>
              <a:rPr lang="en-US" sz="1400" dirty="0">
                <a:solidFill>
                  <a:schemeClr val="bg1"/>
                </a:solidFill>
              </a:rPr>
              <a:t>Quy chế dùng AI và dữ liệu; bộ chỉ dẫn, Skill chuẩn SHS; đào tạo</a:t>
            </a:r>
            <a:endParaRPr lang="en-US" sz="1400" dirty="0"/>
          </a:p>
        </p:txBody>
      </p:sp>
      <p:sp>
        <p:nvSpPr>
          <p:cNvPr id="12" name="phase3"/>
          <p:cNvSpPr/>
          <p:nvPr/>
        </p:nvSpPr>
        <p:spPr>
          <a:xfrm>
            <a:off x="7955280" y="1600200"/>
            <a:ext cx="3794760" cy="1874520"/>
          </a:xfrm>
          <a:prstGeom prst="chevron">
            <a:avLst/>
          </a:prstGeom>
          <a:solidFill>
            <a:schemeClr val="tx2"/>
          </a:solidFill>
          <a:ln/>
        </p:spPr>
      </p:sp>
      <p:sp>
        <p:nvSpPr>
          <p:cNvPr id="13" name="Text 11"/>
          <p:cNvSpPr txBox="1"/>
          <p:nvPr/>
        </p:nvSpPr>
        <p:spPr>
          <a:xfrm>
            <a:off x="9006840" y="1755648"/>
            <a:ext cx="2697480" cy="256032"/>
          </a:xfrm>
          <a:prstGeom prst="rect">
            <a:avLst/>
          </a:prstGeom>
          <a:noFill/>
          <a:ln/>
        </p:spPr>
        <p:txBody>
          <a:bodyPr wrap="square" lIns="0" tIns="0" rIns="0" bIns="0" rtlCol="0" anchor="t"/>
          <a:lstStyle/>
          <a:p>
            <a:pPr indent="0" marL="0">
              <a:buNone/>
            </a:pPr>
            <a:r>
              <a:rPr lang="en-US" sz="1200" b="1" spc="150" kern="0" dirty="0">
                <a:solidFill>
                  <a:schemeClr val="bg1"/>
                </a:solidFill>
              </a:rPr>
              <a:t>GIAI ĐOẠN 3</a:t>
            </a:r>
            <a:endParaRPr lang="en-US" sz="1200" dirty="0"/>
          </a:p>
        </p:txBody>
      </p:sp>
      <p:sp>
        <p:nvSpPr>
          <p:cNvPr id="14" name="Text 12"/>
          <p:cNvSpPr txBox="1"/>
          <p:nvPr/>
        </p:nvSpPr>
        <p:spPr>
          <a:xfrm>
            <a:off x="9006840" y="2011680"/>
            <a:ext cx="2697480" cy="384048"/>
          </a:xfrm>
          <a:prstGeom prst="rect">
            <a:avLst/>
          </a:prstGeom>
          <a:noFill/>
          <a:ln/>
        </p:spPr>
        <p:txBody>
          <a:bodyPr wrap="square" lIns="0" tIns="0" rIns="0" bIns="0" rtlCol="0" anchor="t"/>
          <a:lstStyle/>
          <a:p>
            <a:pPr indent="0" marL="0">
              <a:buNone/>
            </a:pPr>
            <a:r>
              <a:rPr lang="en-US" sz="1900" b="1" dirty="0">
                <a:solidFill>
                  <a:schemeClr val="bg1"/>
                </a:solidFill>
              </a:rPr>
              <a:t>Mở rộng</a:t>
            </a:r>
            <a:endParaRPr lang="en-US" sz="1900" dirty="0"/>
          </a:p>
        </p:txBody>
      </p:sp>
      <p:sp>
        <p:nvSpPr>
          <p:cNvPr id="15" name="Text 13"/>
          <p:cNvSpPr txBox="1"/>
          <p:nvPr/>
        </p:nvSpPr>
        <p:spPr>
          <a:xfrm>
            <a:off x="9006840" y="2450592"/>
            <a:ext cx="2240280" cy="960120"/>
          </a:xfrm>
          <a:prstGeom prst="rect">
            <a:avLst/>
          </a:prstGeom>
          <a:noFill/>
          <a:ln/>
        </p:spPr>
        <p:txBody>
          <a:bodyPr wrap="square" lIns="0" tIns="0" rIns="0" bIns="0" rtlCol="0" anchor="t"/>
          <a:lstStyle/>
          <a:p>
            <a:pPr indent="0" marL="0">
              <a:buNone/>
            </a:pPr>
            <a:r>
              <a:rPr lang="en-US" sz="1400" dirty="0">
                <a:solidFill>
                  <a:schemeClr val="bg1"/>
                </a:solidFill>
              </a:rPr>
              <a:t>Toàn khối tư vấn và các khối khác; thêm MCP cho hệ thống nội bộ</a:t>
            </a:r>
            <a:endParaRPr lang="en-US" sz="1400" dirty="0"/>
          </a:p>
        </p:txBody>
      </p:sp>
      <p:sp>
        <p:nvSpPr>
          <p:cNvPr id="16" name="Text 14"/>
          <p:cNvSpPr txBox="1"/>
          <p:nvPr/>
        </p:nvSpPr>
        <p:spPr>
          <a:xfrm>
            <a:off x="548640" y="3749040"/>
            <a:ext cx="5486400" cy="365760"/>
          </a:xfrm>
          <a:prstGeom prst="rect">
            <a:avLst/>
          </a:prstGeom>
          <a:noFill/>
          <a:ln/>
        </p:spPr>
        <p:txBody>
          <a:bodyPr wrap="square" lIns="0" tIns="0" rIns="0" bIns="0" rtlCol="0" anchor="t"/>
          <a:lstStyle/>
          <a:p>
            <a:pPr indent="0" marL="0">
              <a:buNone/>
            </a:pPr>
            <a:r>
              <a:rPr lang="en-US" sz="1800" b="1" dirty="0">
                <a:solidFill>
                  <a:schemeClr val="tx2"/>
                </a:solidFill>
              </a:rPr>
              <a:t>Đề xuất phê duyệt</a:t>
            </a:r>
            <a:endParaRPr lang="en-US" sz="1800" dirty="0"/>
          </a:p>
        </p:txBody>
      </p:sp>
      <p:sp>
        <p:nvSpPr>
          <p:cNvPr id="17" name="Shape 15"/>
          <p:cNvSpPr/>
          <p:nvPr/>
        </p:nvSpPr>
        <p:spPr>
          <a:xfrm>
            <a:off x="548640" y="4251960"/>
            <a:ext cx="2606040" cy="1783080"/>
          </a:xfrm>
          <a:prstGeom prst="roundRect">
            <a:avLst>
              <a:gd name="adj" fmla="val 6154"/>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18" name="Text 16"/>
          <p:cNvSpPr txBox="1"/>
          <p:nvPr/>
        </p:nvSpPr>
        <p:spPr>
          <a:xfrm>
            <a:off x="777240" y="446227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9" name="Text 17"/>
          <p:cNvSpPr txBox="1"/>
          <p:nvPr/>
        </p:nvSpPr>
        <p:spPr>
          <a:xfrm>
            <a:off x="777240" y="5074920"/>
            <a:ext cx="2194560" cy="868680"/>
          </a:xfrm>
          <a:prstGeom prst="rect">
            <a:avLst/>
          </a:prstGeom>
          <a:noFill/>
          <a:ln/>
        </p:spPr>
        <p:txBody>
          <a:bodyPr wrap="square" lIns="0" tIns="0" rIns="0" bIns="0" rtlCol="0" anchor="t"/>
          <a:lstStyle/>
          <a:p>
            <a:pPr indent="0" marL="0">
              <a:buNone/>
            </a:pPr>
            <a:r>
              <a:rPr lang="en-US" sz="1400" b="1" dirty="0">
                <a:solidFill>
                  <a:schemeClr val="tx2"/>
                </a:solidFill>
              </a:rPr>
              <a:t>Thí điểm chính thức SHA MCP và SHOne MCP</a:t>
            </a:r>
            <a:endParaRPr lang="en-US" sz="1400" dirty="0"/>
          </a:p>
        </p:txBody>
      </p:sp>
      <p:sp>
        <p:nvSpPr>
          <p:cNvPr id="20" name="Shape 18"/>
          <p:cNvSpPr/>
          <p:nvPr/>
        </p:nvSpPr>
        <p:spPr>
          <a:xfrm>
            <a:off x="3383280" y="4251960"/>
            <a:ext cx="2606040" cy="1783080"/>
          </a:xfrm>
          <a:prstGeom prst="roundRect">
            <a:avLst>
              <a:gd name="adj" fmla="val 6154"/>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21" name="Text 19"/>
          <p:cNvSpPr txBox="1"/>
          <p:nvPr/>
        </p:nvSpPr>
        <p:spPr>
          <a:xfrm>
            <a:off x="3611880" y="446227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2" name="Text 20"/>
          <p:cNvSpPr txBox="1"/>
          <p:nvPr/>
        </p:nvSpPr>
        <p:spPr>
          <a:xfrm>
            <a:off x="3611880" y="5074920"/>
            <a:ext cx="2194560" cy="868680"/>
          </a:xfrm>
          <a:prstGeom prst="rect">
            <a:avLst/>
          </a:prstGeom>
          <a:noFill/>
          <a:ln/>
        </p:spPr>
        <p:txBody>
          <a:bodyPr wrap="square" lIns="0" tIns="0" rIns="0" bIns="0" rtlCol="0" anchor="t"/>
          <a:lstStyle/>
          <a:p>
            <a:pPr indent="0" marL="0">
              <a:buNone/>
            </a:pPr>
            <a:r>
              <a:rPr lang="en-US" sz="1400" b="1" dirty="0">
                <a:solidFill>
                  <a:schemeClr val="tx2"/>
                </a:solidFill>
              </a:rPr>
              <a:t>Chọn gói AI doanh nghiệp (Claude hoặc ChatGPT)</a:t>
            </a:r>
            <a:endParaRPr lang="en-US" sz="1400" dirty="0"/>
          </a:p>
        </p:txBody>
      </p:sp>
      <p:sp>
        <p:nvSpPr>
          <p:cNvPr id="23" name="Shape 21"/>
          <p:cNvSpPr/>
          <p:nvPr/>
        </p:nvSpPr>
        <p:spPr>
          <a:xfrm>
            <a:off x="6217920" y="4251960"/>
            <a:ext cx="2606040" cy="1783080"/>
          </a:xfrm>
          <a:prstGeom prst="roundRect">
            <a:avLst>
              <a:gd name="adj" fmla="val 6154"/>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24" name="Text 22"/>
          <p:cNvSpPr txBox="1"/>
          <p:nvPr/>
        </p:nvSpPr>
        <p:spPr>
          <a:xfrm>
            <a:off x="6446520" y="446227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 23"/>
          <p:cNvSpPr txBox="1"/>
          <p:nvPr/>
        </p:nvSpPr>
        <p:spPr>
          <a:xfrm>
            <a:off x="6446520" y="5074920"/>
            <a:ext cx="2194560" cy="868680"/>
          </a:xfrm>
          <a:prstGeom prst="rect">
            <a:avLst/>
          </a:prstGeom>
          <a:noFill/>
          <a:ln/>
        </p:spPr>
        <p:txBody>
          <a:bodyPr wrap="square" lIns="0" tIns="0" rIns="0" bIns="0" rtlCol="0" anchor="t"/>
          <a:lstStyle/>
          <a:p>
            <a:pPr indent="0" marL="0">
              <a:buNone/>
            </a:pPr>
            <a:r>
              <a:rPr lang="en-US" sz="1400" b="1" dirty="0">
                <a:solidFill>
                  <a:schemeClr val="tx2"/>
                </a:solidFill>
              </a:rPr>
              <a:t>Ban hành chính sách dùng AI và dữ liệu khách hàng</a:t>
            </a:r>
            <a:endParaRPr lang="en-US" sz="1400" dirty="0"/>
          </a:p>
        </p:txBody>
      </p:sp>
      <p:sp>
        <p:nvSpPr>
          <p:cNvPr id="26" name="Shape 24"/>
          <p:cNvSpPr/>
          <p:nvPr/>
        </p:nvSpPr>
        <p:spPr>
          <a:xfrm>
            <a:off x="9052560" y="4251960"/>
            <a:ext cx="2606040" cy="1783080"/>
          </a:xfrm>
          <a:prstGeom prst="roundRect">
            <a:avLst>
              <a:gd name="adj" fmla="val 6154"/>
            </a:avLst>
          </a:prstGeom>
          <a:solidFill>
            <a:schemeClr val="bg1"/>
          </a:solidFill>
          <a:ln w="9525">
            <a:solidFill>
              <a:srgbClr val="DCE3EF"/>
            </a:solidFill>
            <a:prstDash val="solid"/>
          </a:ln>
          <a:effectLst>
            <a:outerShdw sx="100000" sy="100000" kx="0" ky="0" algn="bl" rotWithShape="0" blurRad="127000" dist="38100" dir="5400000">
              <a:srgbClr val="0A2762">
                <a:alpha val="13000"/>
              </a:srgbClr>
            </a:outerShdw>
          </a:effectLst>
        </p:spPr>
      </p:sp>
      <p:sp>
        <p:nvSpPr>
          <p:cNvPr id="27" name="Text 25"/>
          <p:cNvSpPr txBox="1"/>
          <p:nvPr/>
        </p:nvSpPr>
        <p:spPr>
          <a:xfrm>
            <a:off x="9281160" y="446227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 26"/>
          <p:cNvSpPr txBox="1"/>
          <p:nvPr/>
        </p:nvSpPr>
        <p:spPr>
          <a:xfrm>
            <a:off x="9281160" y="5074920"/>
            <a:ext cx="2194560" cy="868680"/>
          </a:xfrm>
          <a:prstGeom prst="rect">
            <a:avLst/>
          </a:prstGeom>
          <a:noFill/>
          <a:ln/>
        </p:spPr>
        <p:txBody>
          <a:bodyPr wrap="square" lIns="0" tIns="0" rIns="0" bIns="0" rtlCol="0" anchor="t"/>
          <a:lstStyle/>
          <a:p>
            <a:pPr indent="0" marL="0">
              <a:buNone/>
            </a:pPr>
            <a:r>
              <a:rPr lang="en-US" sz="1400" b="1" dirty="0">
                <a:solidFill>
                  <a:schemeClr val="tx2"/>
                </a:solidFill>
              </a:rPr>
              <a:t>Cử đầu mối CNTT, bảo mật đồng hành vận hành</a:t>
            </a:r>
            <a:endParaRPr lang="en-US" sz="1400" dirty="0"/>
          </a:p>
        </p:txBody>
      </p:sp>
      <p:sp>
        <p:nvSpPr>
          <p:cNvPr id="25" name="Slide Number Placeholder 0"/>
          <p:cNvSpPr>
            <a:spLocks noGrp="1"/>
          </p:cNvSpPr>
          <p:nvPr>
            <p:ph type="sldNum" sz="quarter" idx="4294967295"/>
          </p:nvPr>
        </p:nvSpPr>
        <p:spPr>
          <a:xfrm>
            <a:off x="104241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Lõi AI kết nối dữ liệu thị trườ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C:\Users\admin\AppData\Local\Temp\claude\D--Dev-profileMCP\5a03ee1e-f0a1-44f1-924e-793f8dbaefc0\scratchpad\deck\img\overlay-full.png">    </p:cNvPr>
          <p:cNvPicPr>
            <a:picLocks noChangeAspect="1"/>
          </p:cNvPicPr>
          <p:nvPr/>
        </p:nvPicPr>
        <p:blipFill>
          <a:blip r:embed="rId2"/>
          <a:stretch>
            <a:fillRect/>
          </a:stretch>
        </p:blipFill>
        <p:spPr>
          <a:xfrm>
            <a:off x="0" y="0"/>
            <a:ext cx="12191695" cy="6858000"/>
          </a:xfrm>
          <a:prstGeom prst="rect">
            <a:avLst/>
          </a:prstGeom>
        </p:spPr>
      </p:pic>
      <p:pic>
        <p:nvPicPr>
          <p:cNvPr id="4" name="Image 2" descr="SHS">    </p:cNvPr>
          <p:cNvPicPr>
            <a:picLocks noChangeAspect="1"/>
          </p:cNvPicPr>
          <p:nvPr/>
        </p:nvPicPr>
        <p:blipFill>
          <a:blip r:embed="rId3"/>
          <a:stretch>
            <a:fillRect/>
          </a:stretch>
        </p:blipFill>
        <p:spPr>
          <a:xfrm>
            <a:off x="640080" y="548640"/>
            <a:ext cx="868680" cy="484632"/>
          </a:xfrm>
          <a:prstGeom prst="rect">
            <a:avLst/>
          </a:prstGeom>
        </p:spPr>
      </p:pic>
      <p:sp>
        <p:nvSpPr>
          <p:cNvPr id="5" name="Text 0"/>
          <p:cNvSpPr txBox="1"/>
          <p:nvPr/>
        </p:nvSpPr>
        <p:spPr>
          <a:xfrm>
            <a:off x="640080" y="1828800"/>
            <a:ext cx="64008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TIẾP THEO</a:t>
            </a:r>
            <a:endParaRPr lang="en-US" sz="1300" dirty="0"/>
          </a:p>
        </p:txBody>
      </p:sp>
      <p:sp>
        <p:nvSpPr>
          <p:cNvPr id="6" name="Text 0"/>
          <p:cNvSpPr/>
          <p:nvPr>
            <p:ph idx="100" type="title" hasCustomPrompt="1"/>
          </p:nvPr>
        </p:nvSpPr>
        <p:spPr>
          <a:xfrm>
            <a:off x="640080" y="2286000"/>
            <a:ext cx="6309360" cy="1600200"/>
          </a:xfrm>
          <a:prstGeom prst="rect">
            <a:avLst/>
          </a:prstGeom>
          <a:noFill/>
          <a:ln/>
        </p:spPr>
        <p:txBody>
          <a:bodyPr wrap="square" lIns="0" tIns="0" rIns="0" bIns="0" rtlCol="0" anchor="t"/>
          <a:lstStyle/>
          <a:p>
            <a:pPr algn="l" indent="0" marL="0">
              <a:buNone/>
            </a:pPr>
            <a:r>
              <a:rPr lang="en-US" sz="4400" b="1" dirty="0">
                <a:solidFill>
                  <a:schemeClr val="bg1"/>
                </a:solidFill>
              </a:rPr>
              <a:t>Demo và thảo luận</a:t>
            </a:r>
            <a:endParaRPr lang="en-US" sz="4400" dirty="0"/>
          </a:p>
        </p:txBody>
      </p:sp>
      <p:sp>
        <p:nvSpPr>
          <p:cNvPr id="7" name="Text 0"/>
          <p:cNvSpPr/>
          <p:nvPr>
            <p:ph idx="101" type="body" hasCustomPrompt="1"/>
          </p:nvPr>
        </p:nvSpPr>
        <p:spPr>
          <a:xfrm>
            <a:off x="640080" y="3977640"/>
            <a:ext cx="5760720" cy="914400"/>
          </a:xfrm>
          <a:prstGeom prst="rect">
            <a:avLst/>
          </a:prstGeom>
          <a:noFill/>
          <a:ln/>
        </p:spPr>
        <p:txBody>
          <a:bodyPr wrap="square" lIns="0" tIns="0" rIns="0" bIns="0" rtlCol="0" anchor="t"/>
          <a:lstStyle/>
          <a:p>
            <a:pPr algn="l" indent="0" marL="0">
              <a:buNone/>
            </a:pPr>
            <a:r>
              <a:rPr lang="en-US" sz="2000" dirty="0">
                <a:solidFill>
                  <a:schemeClr val="bg2"/>
                </a:solidFill>
              </a:rPr>
              <a:t>Trải nghiệm trực tiếp: hỏi AI về khách hàng và thị trường, với dữ liệu thật, đúng quyền, chỉ đọc.</a:t>
            </a:r>
            <a:endParaRPr lang="en-US" sz="2000" dirty="0"/>
          </a:p>
        </p:txBody>
      </p:sp>
    </p:spTree>
  </p:cSld>
  <p:clrMapOvr>
    <a:masterClrMapping/>
  </p:clrMapOvr>
</p:sld>
</file>

<file path=ppt/theme/theme1.xml><?xml version="1.0" encoding="utf-8"?>
<a:theme xmlns:a="http://schemas.openxmlformats.org/drawingml/2006/main" name="SHS MCP">
  <a:themeElements>
    <a:clrScheme name="SHS MCP">
      <a:dk1>
        <a:srgbClr val="1B2335"/>
      </a:dk1>
      <a:lt1>
        <a:srgbClr val="FFFFFF"/>
      </a:lt1>
      <a:dk2>
        <a:srgbClr val="0A2762"/>
      </a:dk2>
      <a:lt2>
        <a:srgbClr val="EEF3FB"/>
      </a:lt2>
      <a:accent1>
        <a:srgbClr val="F35700"/>
      </a:accent1>
      <a:accent2>
        <a:srgbClr val="1F56C3"/>
      </a:accent2>
      <a:accent3>
        <a:srgbClr val="FFB27A"/>
      </a:accent3>
      <a:accent4>
        <a:srgbClr val="5C6B89"/>
      </a:accent4>
      <a:accent5>
        <a:srgbClr val="1E9E6A"/>
      </a:accent5>
      <a:accent6>
        <a:srgbClr val="D43D2A"/>
      </a:accent6>
      <a:hlink>
        <a:srgbClr val="1F56C3"/>
      </a:hlink>
      <a:folHlink>
        <a:srgbClr val="5C6B89"/>
      </a:folHlink>
    </a:clrScheme>
    <a:fontScheme name="SHS MC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Ứng dụng AI qua MCP tại SHS</dc:title>
  <dc:subject>SHOne MCP và SHA MCP</dc:subject>
  <dc:creator>SHS</dc:creator>
  <cp:lastModifiedBy>SHS</cp:lastModifiedBy>
  <cp:revision>1</cp:revision>
  <dcterms:created xsi:type="dcterms:W3CDTF">2026-10-15T15:02:18Z</dcterms:created>
  <dcterms:modified xsi:type="dcterms:W3CDTF">2026-10-15T15:02:18Z</dcterms:modified>
</cp:coreProperties>
</file>